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3152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777240" y="7315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783080" y="8412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ZION QUALITY PLATFORM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01368" y="12070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AI Agent System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PROPOSAL TO LEADERSHIP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Software</a:t>
            </a:r>
            <a:endParaRPr lang="en-US" sz="4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 Architecture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manual, fragmented QA to autonomous, predictive quality across every memory product — NVMe · SATA · eMMC · UFS · uSD · PSSD.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2880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31720" y="5943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26080" y="59893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B95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Zion · 4 Architecture Layers · 10 STLC Phases · 15 AI Components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Proposal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leadership to approve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600200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AI-powered, multi-layer quality platform on top of Zion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automates the full software testing lifecycle for memory products — delivered in </a:t>
            </a:r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with a 3-year research horizon beyond.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3063240"/>
            <a:ext cx="6492240" cy="297180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5943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~12-FTE senior, cross-functional team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focused 12-month build.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sponsorship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unblock lab/data access and drive adoption.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pilot product line first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scale across all six.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60920" y="160020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06640" y="176479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mo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470648" y="2441448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full platform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710928" y="160020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756648" y="176479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90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9820656" y="2441448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working MVP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60920" y="315468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06640" y="331927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~12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470648" y="3995928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core team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710928" y="3154680"/>
            <a:ext cx="22402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756648" y="331927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84%+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9820656" y="3995928"/>
            <a:ext cx="20208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60920" y="4709160"/>
            <a:ext cx="459028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06640" y="4873752"/>
            <a:ext cx="44988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product lines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7470648" y="5550408"/>
            <a:ext cx="4370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· one knowledge base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We Are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 this program is built to change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37944"/>
            <a:ext cx="548640" cy="548640"/>
          </a:xfrm>
          <a:prstGeom prst="ellipse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8379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54480" y="1746504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&amp; fragmented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46320" y="1719072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is largely manual and tool-fragmented. Knowledge lives in people, not systems — slow to onboard, hard to repeat.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2752344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90088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2990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54480" y="2898648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&amp; costly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46320" y="2871216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test cycles delay releases; defects that escape to the field drive RMA and warranty cost and erode customer trust.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04488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142232"/>
            <a:ext cx="548640" cy="54864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4142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⤢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54480" y="405079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Doesn't scale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4023360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product lines (NVMe · SATA · eMMC · UFS · uSD · PSSD) each re-invent test assets instead of sharing one quality engine.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056632"/>
            <a:ext cx="11064240" cy="1024128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294376"/>
            <a:ext cx="548640" cy="54864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7240" y="5294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54480" y="5202936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Zion has reach, not intelligence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5175504"/>
            <a:ext cx="6583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already automates labs, infra and execution (UTH · LaaS · DSA · Robotics) — but it has no reasoning or learning layer.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 — the Inflection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Gen-AI agents, MCP and Skills collapse what used to be a multi-year build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6459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TIME FOR A PLATFORM LIKE THIS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7680960" cy="868680"/>
          </a:xfrm>
          <a:prstGeom prst="roundRect">
            <a:avLst>
              <a:gd name="adj" fmla="val 6316"/>
            </a:avLst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0312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build  ·  ~3 years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3200400"/>
            <a:ext cx="2560320" cy="868680"/>
          </a:xfrm>
          <a:prstGeom prst="roundRect">
            <a:avLst>
              <a:gd name="adj" fmla="val 6316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320040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months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291840" y="32004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AI-accelerated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4343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software is no longer the bottleneck.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dashboards, MCP connectors and RAG pipelines are now built in days-to-weeks.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549640" y="1783080"/>
            <a:ext cx="3063240" cy="4160520"/>
          </a:xfrm>
          <a:prstGeom prst="roundRect">
            <a:avLst>
              <a:gd name="adj" fmla="val 2985"/>
            </a:avLst>
          </a:prstGeom>
          <a:solidFill>
            <a:srgbClr val="1B173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78240" y="20116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 what sets the pace now?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0" y="2743200"/>
            <a:ext cx="2697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coding — but the things AI can't collapse: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device integration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 trust (AI gates shadow humans first)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evidence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compliance sign-off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Vision — A Four-Layer AI Agent System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a clear job; together they turn testing from a manual craft into an intelligent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109728" cy="9601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92808"/>
            <a:ext cx="548640" cy="548640"/>
          </a:xfrm>
          <a:prstGeom prst="ellipse">
            <a:avLst/>
          </a:prstGeom>
          <a:solidFill>
            <a:srgbClr val="6366F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892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45920" y="1819656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L1 · Work Process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(Biz Process)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49240" y="1801368"/>
            <a:ext cx="6080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QA workflows, quality gates &amp; human-in-the-loop approvals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2770632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770632"/>
            <a:ext cx="109728" cy="9601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2971800"/>
            <a:ext cx="548640" cy="548640"/>
          </a:xfrm>
          <a:prstGeom prst="ellipse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289864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 · Application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(Viewer)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49240" y="2880360"/>
            <a:ext cx="6080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UI — dashboards, consoles &amp; chatbot. Input / output only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849624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66928" y="3849624"/>
            <a:ext cx="109728" cy="9601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4050792"/>
            <a:ext cx="548640" cy="548640"/>
          </a:xfrm>
          <a:prstGeom prst="ellipse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40507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45920" y="39776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L3 · Agent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(Controller)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3959352"/>
            <a:ext cx="6080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agents, ML models &amp; heuristics that do the actual testing work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928616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4928616"/>
            <a:ext cx="109728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Shape 22"/>
          <p:cNvSpPr/>
          <p:nvPr/>
        </p:nvSpPr>
        <p:spPr>
          <a:xfrm>
            <a:off x="868680" y="5129784"/>
            <a:ext cx="548640" cy="548640"/>
          </a:xfrm>
          <a:prstGeom prst="ellipse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129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45920" y="5056632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L4 · Data  </a:t>
            </a:r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(Model)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49240" y="5038344"/>
            <a:ext cx="6080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DB, RAG knowledge mesh &amp; ML registry that grounds every agent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6928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as 15 Zion AI components, operating across all 10 software-testing-lifecycle phases.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 — Lifecycle × Layers × Zion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layers run beneath every phase of the testing lifecycle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830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Requirements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79776" y="178308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79776" y="17830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Planning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992624" y="178308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92624" y="17830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Test Design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205472" y="178308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8B5C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05472" y="17830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Env Setup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418320" y="178308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418320" y="178308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Execution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242316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10B98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6928" y="24231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Defect Mgmt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79776" y="242316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779776" y="24231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Reporting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992624" y="242316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92624" y="24231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Closure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205472" y="242316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05472" y="24231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Release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418320" y="2423160"/>
            <a:ext cx="2121408" cy="502920"/>
          </a:xfrm>
          <a:prstGeom prst="roundRect">
            <a:avLst>
              <a:gd name="adj" fmla="val 10909"/>
            </a:avLst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418320" y="2423160"/>
            <a:ext cx="212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Post-Release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3154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STLC PHASES  →  REQUIREMENTS THROUGH POST-RELEASE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65760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65760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⬡ L1 Work Process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3355848" y="365760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365760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EA5E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◈ L2 Application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44768" y="365760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44768" y="365760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◐ L3 Agent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933688" y="3657600"/>
            <a:ext cx="267004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33688" y="3657600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◎ L4 Data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66928" y="45720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2648" y="473659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676656" y="541324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STLC phases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355848" y="45720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401568" y="473659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400" dirty="0"/>
          </a:p>
        </p:txBody>
      </p:sp>
      <p:sp>
        <p:nvSpPr>
          <p:cNvPr id="38" name="Text 36"/>
          <p:cNvSpPr/>
          <p:nvPr/>
        </p:nvSpPr>
        <p:spPr>
          <a:xfrm>
            <a:off x="3465576" y="541324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layers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44768" y="457200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90488" y="473659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3400" dirty="0"/>
          </a:p>
        </p:txBody>
      </p:sp>
      <p:sp>
        <p:nvSpPr>
          <p:cNvPr id="41" name="Text 39"/>
          <p:cNvSpPr/>
          <p:nvPr/>
        </p:nvSpPr>
        <p:spPr>
          <a:xfrm>
            <a:off x="6254496" y="541324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AI components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933688" y="457200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979408" y="473659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</a:t>
            </a:r>
            <a:endParaRPr lang="en-US" sz="3400" dirty="0"/>
          </a:p>
        </p:txBody>
      </p:sp>
      <p:sp>
        <p:nvSpPr>
          <p:cNvPr id="44" name="Text 42"/>
          <p:cNvSpPr/>
          <p:nvPr/>
        </p:nvSpPr>
        <p:spPr>
          <a:xfrm>
            <a:off x="9043416" y="5413248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automatable activities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12-Month Realization Roadmap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horizons — build the spine, automate the core loop, then close the loop &amp; scale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916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240280"/>
            <a:ext cx="352044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1783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21396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95528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&amp; First Agents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95528" y="33375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live (Nexus · Prism · Vault · Bridge); requirements, planning &amp; test-design agents.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5528" y="4892040"/>
            <a:ext cx="3063240" cy="384048"/>
          </a:xfrm>
          <a:prstGeom prst="roundRect">
            <a:avLst>
              <a:gd name="adj" fmla="val 11905"/>
            </a:avLst>
          </a:prstGeom>
          <a:solidFill>
            <a:srgbClr val="F0F4F9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" y="48920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◗ MVP by Day 90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95528" y="5349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40% AI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88536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88536" y="16916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0B981"/>
          </a:solidFill>
          <a:ln/>
        </p:spPr>
      </p:sp>
      <p:sp>
        <p:nvSpPr>
          <p:cNvPr id="16" name="Shape 14"/>
          <p:cNvSpPr/>
          <p:nvPr/>
        </p:nvSpPr>
        <p:spPr>
          <a:xfrm>
            <a:off x="4288536" y="2240280"/>
            <a:ext cx="3520440" cy="320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4517136" y="1783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17136" y="21396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5–8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17136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Execution &amp; Intelligence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17136" y="33375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execution, AI defect intelligence, predictive reporting. Parallel-run begins.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17136" y="4892040"/>
            <a:ext cx="3063240" cy="384048"/>
          </a:xfrm>
          <a:prstGeom prst="roundRect">
            <a:avLst>
              <a:gd name="adj" fmla="val 11905"/>
            </a:avLst>
          </a:prstGeom>
          <a:solidFill>
            <a:srgbClr val="F0F4F9"/>
          </a:solidFill>
          <a:ln/>
        </p:spPr>
      </p:sp>
      <p:sp>
        <p:nvSpPr>
          <p:cNvPr id="22" name="Text 20"/>
          <p:cNvSpPr/>
          <p:nvPr/>
        </p:nvSpPr>
        <p:spPr>
          <a:xfrm>
            <a:off x="4517136" y="48920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◗ Trust shadow-mode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17136" y="5349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70% AI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10144" y="1691640"/>
            <a:ext cx="3520440" cy="416052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10144" y="169164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F97316"/>
          </a:solidFill>
          <a:ln/>
        </p:spPr>
      </p:sp>
      <p:sp>
        <p:nvSpPr>
          <p:cNvPr id="26" name="Shape 24"/>
          <p:cNvSpPr/>
          <p:nvPr/>
        </p:nvSpPr>
        <p:spPr>
          <a:xfrm>
            <a:off x="8010144" y="2240280"/>
            <a:ext cx="352044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8238744" y="17830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HORIZON 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38744" y="2139696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38744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Release, Ops &amp; Scale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38744" y="333756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release gating, production monitoring, closed loop, rollout to all six products.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238744" y="4892040"/>
            <a:ext cx="3063240" cy="384048"/>
          </a:xfrm>
          <a:prstGeom prst="roundRect">
            <a:avLst>
              <a:gd name="adj" fmla="val 11905"/>
            </a:avLst>
          </a:prstGeom>
          <a:solidFill>
            <a:srgbClr val="F0F4F9"/>
          </a:solidFill>
          <a:ln/>
        </p:spPr>
      </p:sp>
      <p:sp>
        <p:nvSpPr>
          <p:cNvPr id="32" name="Text 30"/>
          <p:cNvSpPr/>
          <p:nvPr/>
        </p:nvSpPr>
        <p:spPr>
          <a:xfrm>
            <a:off x="8238744" y="48920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◗ Closed loop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38744" y="53492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84%+ AI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66928" y="6080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Sequenced for ROI: front-load low-risk, high-value automation; promote AI to autonomous only after it proves parity with human judgment.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Takes — Team &amp; Investment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Expertise-dense, not headcount-heavy: a small, senior pod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12648" y="181051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76656" y="248716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core team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55848" y="16459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81051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13–14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65576" y="248716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(Horizon 2)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44768" y="1645920"/>
            <a:ext cx="2670048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90488" y="1810512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54496" y="248716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roles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33688" y="16459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79408" y="1810512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~1.5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043416" y="2487168"/>
            <a:ext cx="2478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 specialists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POD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61188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76732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3611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 / Tech Lead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99048" y="361188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3767328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6556248" y="3611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Agent Engineers (2–3)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6928" y="4178808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4334256"/>
            <a:ext cx="146304" cy="14630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" y="4178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/ Frontend (2)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099048" y="4178808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4334256"/>
            <a:ext cx="146304" cy="146304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6556248" y="41788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Platform (1.5)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66928" y="4745736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31520" y="4901184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1024128" y="47457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 Engineer (1.5)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099048" y="4745736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4901184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6556248" y="474573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Domain SME / Lead SDET (2)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66928" y="5312664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31520" y="5468112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1024128" y="53126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Lab Infra (1)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099048" y="5312664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63640" y="5468112"/>
            <a:ext cx="146304" cy="14630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40" name="Text 38"/>
          <p:cNvSpPr/>
          <p:nvPr/>
        </p:nvSpPr>
        <p:spPr>
          <a:xfrm>
            <a:off x="6556248" y="531266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 / Delivery (1)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66928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binding constraint isn't developers — it's QA domain experts, lab integrators and trust-validation owners. </a:t>
            </a:r>
            <a:pPr indent="0" marL="0">
              <a:lnSpc>
                <a:spcPct val="105000"/>
              </a:lnSpc>
              <a:buNone/>
            </a:pPr>
            <a:r>
              <a:rPr lang="en-US" sz="1200" b="1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Fewer, stronger people beat a large junior team when AI does the heavy lifting.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Investment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Value — Expected Outcomes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pays back: faster, cheaper, higher-quality, and finally scalable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84248"/>
            <a:ext cx="640080" cy="64008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84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64208" y="1965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64208" y="22585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cycles compressed dramatically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59536" y="3063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execution &amp; AI test generation cut cycle time and shorten time-to-release.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17336" y="169164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91656" y="1984248"/>
            <a:ext cx="640080" cy="640080"/>
          </a:xfrm>
          <a:prstGeom prst="ellipse">
            <a:avLst/>
          </a:prstGeom>
          <a:solidFill>
            <a:srgbClr val="16A3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91656" y="198424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14616" y="19659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214616" y="225856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Fewer field escapes &amp; RMAs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09944" y="3063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defect &amp; reliability models catch failures before customers do.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8862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" y="4178808"/>
            <a:ext cx="640080" cy="640080"/>
          </a:xfrm>
          <a:prstGeom prst="ellipse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41248" y="4178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64208" y="4160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64208" y="44531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84%+ of the lifecycle AI-driven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59536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move from running tests to improving products.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17336" y="388620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91656" y="4178808"/>
            <a:ext cx="640080" cy="640080"/>
          </a:xfrm>
          <a:prstGeom prst="ellipse">
            <a:avLst/>
          </a:prstGeom>
          <a:solidFill>
            <a:srgbClr val="F9731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91656" y="4178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⤢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214616" y="4160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214616" y="445312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5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platform for all 6 products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09944" y="5257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quality engine &amp; knowledge base instead of six siloed efforts.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Beyond Year 1 — 3-Year Research Horizon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platform is trusted, the team advances the frontier — building a durable moat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737360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RL for Adaptive Testing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0" y="1938528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F0F4F9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193852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Reinforcement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0" y="17373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learn which tests find the most defects per hour.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87752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7063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706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633472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Quality &amp; Reliability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0" y="2834640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F0F4F9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28346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E74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498080" y="263347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field failures &amp; endurance before they happen.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" y="3483864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3666744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71600" y="3529584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Lights-Out Quality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0" y="3730752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F0F4F9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37307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98080" y="3529584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Self-driving labs; field anomaly → repro → fix → validate.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4379976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4562856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4562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4425696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 Models &amp; Causal RCA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669280" y="4626864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F0F4F9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0" y="46268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AI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98080" y="4425696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Memory-product-aware models; cause, not just correlation.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5276088"/>
            <a:ext cx="11064240" cy="786384"/>
          </a:xfrm>
          <a:prstGeom prst="roundRect">
            <a:avLst>
              <a:gd name="adj" fmla="val 8140"/>
            </a:avLst>
          </a:prstGeom>
          <a:solidFill>
            <a:srgbClr val="1B1736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7240" y="545896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6A34A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458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371600" y="5321808"/>
            <a:ext cx="4297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Trust, Assurance &amp; ModelOps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5669280" y="5522976"/>
            <a:ext cx="1691640" cy="310896"/>
          </a:xfrm>
          <a:prstGeom prst="roundRect">
            <a:avLst>
              <a:gd name="adj" fmla="val 14706"/>
            </a:avLst>
          </a:prstGeom>
          <a:solidFill>
            <a:srgbClr val="2A2150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0" y="552297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Enabler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498080" y="532180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governed AI — the key to adopting all of the above.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Horizon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Risks &amp; How We De-Risk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major risk has a designed-in mitigation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0" y="1417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DE-RISK IT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1737360"/>
            <a:ext cx="109728" cy="9601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82880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Trusting AI on quality decisions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Parallel-run / shadow mode — AI gates log decisions beside humans and are promoted only on proven parity.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8346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" y="2834640"/>
            <a:ext cx="109728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2608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 &amp; hardware integration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029200" y="29260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MCP-based integration with existing Zion labs; one pilot line before scaling.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9319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6928" y="3931920"/>
            <a:ext cx="109728" cy="960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2336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Adoption &amp; change resistance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0" y="402336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of Excellence, executive sponsorship and human-in-the-loop keep people in control.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50292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5029200"/>
            <a:ext cx="109728" cy="9601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51206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reliability &amp; drift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5029200" y="51206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ModelOps with continuous evaluation, guardrails and stage-gates before anything goes autonomous.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777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B277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DECISION WE'RE ASKING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49808" y="12344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Approve a 12-month program to build the</a:t>
            </a:r>
            <a:endParaRPr lang="en-US" sz="3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Software Quality Platform.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971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2A21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~12 FTE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639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cross-functional pod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34840" y="2971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2A21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 sponsor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3639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unblock &amp; drive adoption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2971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2A215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83880" y="31089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5B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pilot line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0" y="363931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scale to all six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B95C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FIRST 90 DAYS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77240" y="4937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0–30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5303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pod · connect Zion APIs &amp; data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34840" y="4937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30–60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34840" y="5303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agents: requirements, planning, test design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4937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60–90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92440" y="5303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Demoable MVP on the pilot product line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635508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Zion Quality Platform  ·  AI-Powered Software Quality Architecture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Software Quality Architecture — Leadership Proposal</dc:title>
  <dc:subject>PptxGenJS Presentation</dc:subject>
  <dc:creator>Software Engineering &amp; AI Solutions Architect</dc:creator>
  <cp:lastModifiedBy>Software Engineering &amp; AI Solutions Architect</cp:lastModifiedBy>
  <cp:revision>1</cp:revision>
  <dcterms:created xsi:type="dcterms:W3CDTF">2026-05-26T07:25:33Z</dcterms:created>
  <dcterms:modified xsi:type="dcterms:W3CDTF">2026-05-26T07:25:33Z</dcterms:modified>
</cp:coreProperties>
</file>