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7240" y="731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8308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 QUALITY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01368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AI Agent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 TO LEADERSHIP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Software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Architecture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manual, fragmented QA to autonomous, predictive quality across every memory product — NVMe · SATA · eMMC · UFS · uSD · PSSD.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3172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5989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Zion · 4 Architecture Layers · 10 STLC Phases · 15 AI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Proposal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leadership to approve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AI-powered, multi-layer quality platform on top of Zion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automates the full software testing lifecycle for memory products — delivered in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3-year research horizon beyond.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64922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5943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~12-FTE senior, cross-functional team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focused 12-month build.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unblock lab/data access and drive adoption.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product line first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 across all six.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7647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70648" y="244144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platform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710928" y="16002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56648" y="17647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90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820656" y="244144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3154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3319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70648" y="399592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core team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10928" y="3154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56648" y="3319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820656" y="399592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4709160"/>
            <a:ext cx="459028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4873752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product lines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70648" y="555040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one knowledge 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this program is built to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46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&amp; fragmented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19072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is largely manual and tool-fragmented. Knowledge lives in people, not systems — slow to onboard, hard to repeat.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52344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8986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&amp; costly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71216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test cycles delay releases; defects that escape to the field drive RMA and warranty cost and erode customer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Doesn't 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 lines (NVMe · SATA · eMMC · UFS · uSD · PSSD) each re-invent test assets instead of sharing one quality engine.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05663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94376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520293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 has reach, not 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5175504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already automates labs, infra and execution (UTH · LaaS · DSA · Robotics) — but it has no reasoning or learning layer.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— the Inflection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agents, MCP and Skills collapse what used to be a multi-year build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TIME FOR A PLATFORM LIKE THIS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build  ·  ~3 years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months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AI-accelerated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software is no longer the bottleneck.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dashboards, MCP connectors and RAG pipelines are now built in days-to-weeks.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49640" y="1783080"/>
            <a:ext cx="3063240" cy="4160520"/>
          </a:xfrm>
          <a:prstGeom prst="roundRect">
            <a:avLst>
              <a:gd name="adj" fmla="val 2985"/>
            </a:avLst>
          </a:prstGeom>
          <a:solidFill>
            <a:srgbClr val="1B17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what sets the pace now?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274320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coding — but the things AI can't collapse: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device integration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trust (AI gates shadow humans first)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evidence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compliance sign-off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 — A Four-Layer AI Agent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clear job; together they turn testing from a manual craft into an intelligent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09728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92808"/>
            <a:ext cx="548640" cy="54864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8196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· Work Process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(Biz Process)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801368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QA workflows, quality gates &amp; human-in-the-loop approvals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770632"/>
            <a:ext cx="109728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8986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· Application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(Viewer)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880360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UI — dashboards, consoles &amp; chatbot. Input / output 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84962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849624"/>
            <a:ext cx="109728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9776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· Agent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(Controller)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3959352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ML models &amp; heuristics that do the actual testing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92861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4928616"/>
            <a:ext cx="10972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129784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50566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· Data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(Model)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5038344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RAG knowledge mesh &amp; ML registry that grounds every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as 15 Zion AI components, operating across all 10 software-testing-lifecycle phases.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Lifecycle × Layers × Zion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 run beneath every phase of the testing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Requirements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79776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9776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Planning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92624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2624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Test 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05472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05472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Env Setup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0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0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Execution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Defect Mgmt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79776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79776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Reporting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92624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Closure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05472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Release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18320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18320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Post-Release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STLC PHASES  →  REQUIREMENTS THROUGH POST-RELEASE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⬡ L1 Work Process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5584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◈ L2 Application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4476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 L3 Agent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3368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◎ L4 Data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264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7665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phases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5584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0156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346557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4476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9048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625449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AI components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933688" y="45720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979408" y="47365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9043416" y="541324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 activities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Realization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horizons — build the spine, automate the core loop, then close the loop &amp;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40280"/>
            <a:ext cx="35204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&amp; First Agents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live (Nexus · Prism · Vault · Bridge); requirements, planning &amp; test-design agents.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MVP by Day 90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40% 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88536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88536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288536" y="2240280"/>
            <a:ext cx="3520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7136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17136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&amp; Intelligence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17136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execution, AI defect intelligence, predictive reporting. Parallel-run begins.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17136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Trust shadow-mode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17136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70% 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0144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0144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8010144" y="2240280"/>
            <a:ext cx="35204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744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38744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8744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Release, Ops &amp; 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38744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release gating, production monitoring, closed loop, rollout to all six products.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38744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Closed loop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38744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84%+ 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for ROI: front-load low-risk, high-value automation; promote AI to autonomous only after it proves parity with human judgment.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Takes — Team &amp; Investment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Expertise-dense, not headcount-heavy: a small, senior pod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core team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13–14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6557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(Horizon 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5449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33688" y="16459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9408" y="18105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3416" y="2487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specialists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611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6732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 / Tech Lead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9048" y="3611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767328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Engineers (2–3)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178808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33425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Frontend (2)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9048" y="4178808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334256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Platform (1.5)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745736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90118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4745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Engineer (1.5)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99048" y="4745736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490118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4745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Domain SME / Lead SDET (2)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5312664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46811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24128" y="5312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Lab Infra (1)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99048" y="5312664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546811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5312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Delivery (1)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isn't developers — it's QA domain experts, lab integrators and trust-validation owners. </a:t>
            </a:r>
            <a:pPr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stronger people beat a large junior team when AI does the heavy lifting.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Investment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— Expected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pays back: faster, cheaper, higher-quality, and finally scalable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2258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cycles compressed dramatically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9536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execution &amp; AI test generation cut cycle time and shorten time-to-release.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17336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91656" y="1984248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1656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14616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14616" y="2258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field escapes &amp; RMAs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9944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defect &amp; reliability models catch failures before customers 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178808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64208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4453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84%+ of the lifecycle AI-driven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9536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move from running tests to improving products.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17336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91656" y="4178808"/>
            <a:ext cx="640080" cy="64008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1656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14616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14616" y="4453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 for all 6 products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9944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quality engine &amp; knowledge base instead of six siloed efforts.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Year 1 — 3-Year Research Horizon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platform is trusted, the team advances the frontier — building a durable moat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for Adaptive Testing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93852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7373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which tests find the most defects per hour.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877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706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3347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Quality &amp; Reliability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0" y="283464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0" y="26334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field failures &amp; endurance before they happen.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48386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666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Lights-Out Quality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3730752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730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35295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labs; field anomaly → repro → fix → validate.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3799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5628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42569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 &amp; Causal RCA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4626864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6268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442569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Memory-product-aware models; cause, not just correlation.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27608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B173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4589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32180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Trust, Assurance &amp; ModelOps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0" y="5522976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2A2150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55229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53218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governed AI — the key to adopting all of the above.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Horizon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3-Year Master Roadmap — Build × Research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realizes the platform; Years 2–3 advance the AI frontier. Numbered markers = high-level milestones.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63240" y="1554480"/>
            <a:ext cx="2834640" cy="3108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3063240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 · Platform Realization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52744" y="1554480"/>
            <a:ext cx="2834640" cy="3108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5952744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 · Applied 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42248" y="1554480"/>
            <a:ext cx="2834640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8842248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 · Frontier &amp;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85616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3" name="Text 11"/>
          <p:cNvSpPr/>
          <p:nvPr/>
        </p:nvSpPr>
        <p:spPr>
          <a:xfrm>
            <a:off x="3785616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07992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0368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7" name="Text 15"/>
          <p:cNvSpPr/>
          <p:nvPr/>
        </p:nvSpPr>
        <p:spPr>
          <a:xfrm>
            <a:off x="5230368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52744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19" name="Text 17"/>
          <p:cNvSpPr/>
          <p:nvPr/>
        </p:nvSpPr>
        <p:spPr>
          <a:xfrm>
            <a:off x="5952744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97496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23" name="Text 21"/>
          <p:cNvSpPr/>
          <p:nvPr/>
        </p:nvSpPr>
        <p:spPr>
          <a:xfrm>
            <a:off x="7397496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19872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42248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27" name="Text 25"/>
          <p:cNvSpPr/>
          <p:nvPr/>
        </p:nvSpPr>
        <p:spPr>
          <a:xfrm>
            <a:off x="8842248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64624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29" name="Text 27"/>
          <p:cNvSpPr/>
          <p:nvPr/>
        </p:nvSpPr>
        <p:spPr>
          <a:xfrm>
            <a:off x="9564624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87000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009376" y="1901952"/>
            <a:ext cx="694944" cy="256032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33" name="Text 31"/>
          <p:cNvSpPr/>
          <p:nvPr/>
        </p:nvSpPr>
        <p:spPr>
          <a:xfrm>
            <a:off x="11009376" y="19019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63240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85616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52744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97496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42248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64624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87000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09376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31752" y="2432304"/>
            <a:ext cx="0" cy="28986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5786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Realization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 build · 3 horizons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90672" y="2642616"/>
            <a:ext cx="2816352" cy="292608"/>
          </a:xfrm>
          <a:prstGeom prst="roundRect">
            <a:avLst>
              <a:gd name="adj" fmla="val 15625"/>
            </a:avLst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304495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Quality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failures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80176" y="3108960"/>
            <a:ext cx="4261104" cy="292608"/>
          </a:xfrm>
          <a:prstGeom prst="roundRect">
            <a:avLst>
              <a:gd name="adj" fmla="val 15625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8640" y="351129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Adaptive Testing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80176" y="3575304"/>
            <a:ext cx="4983480" cy="292608"/>
          </a:xfrm>
          <a:prstGeom prst="roundRect">
            <a:avLst>
              <a:gd name="adj" fmla="val 15625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397764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ModelOps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enabler · continuous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80176" y="4041648"/>
            <a:ext cx="5705856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48640" y="444398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Lights-Out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self-driving QA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24928" y="4507992"/>
            <a:ext cx="4261104" cy="292608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48640" y="49103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 &amp; Causal RCA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AI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4974336"/>
            <a:ext cx="2816352" cy="292608"/>
          </a:xfrm>
          <a:prstGeom prst="roundRect">
            <a:avLst>
              <a:gd name="adj" fmla="val 1562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300984" y="2665476"/>
            <a:ext cx="246888" cy="246888"/>
          </a:xfrm>
          <a:prstGeom prst="ellipse">
            <a:avLst/>
          </a:prstGeom>
          <a:solidFill>
            <a:srgbClr val="DB277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300984" y="26654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29300" y="2665476"/>
            <a:ext cx="246888" cy="246888"/>
          </a:xfrm>
          <a:prstGeom prst="ellipse">
            <a:avLst/>
          </a:prstGeom>
          <a:solidFill>
            <a:srgbClr val="DB277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829300" y="26654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02368" y="3131820"/>
            <a:ext cx="246888" cy="246888"/>
          </a:xfrm>
          <a:prstGeom prst="ellipse">
            <a:avLst/>
          </a:prstGeom>
          <a:solidFill>
            <a:srgbClr val="DB277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802368" y="31318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247120" y="4530852"/>
            <a:ext cx="246888" cy="246888"/>
          </a:xfrm>
          <a:prstGeom prst="ellipse">
            <a:avLst/>
          </a:prstGeom>
          <a:solidFill>
            <a:srgbClr val="DB277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1247120" y="45308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5468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MILESTONES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5797296"/>
            <a:ext cx="219456" cy="219456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5797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86968" y="5769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Day-90 MVP demoable (pilot line)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263640" y="5797296"/>
            <a:ext cx="219456" cy="219456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72" name="Text 70"/>
          <p:cNvSpPr/>
          <p:nvPr/>
        </p:nvSpPr>
        <p:spPr>
          <a:xfrm>
            <a:off x="6263640" y="5797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601968" y="5769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· 84% AI coverage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48640" y="6199632"/>
            <a:ext cx="219456" cy="219456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" y="6199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86968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 in production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263640" y="6199632"/>
            <a:ext cx="219456" cy="219456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78" name="Text 76"/>
          <p:cNvSpPr/>
          <p:nvPr/>
        </p:nvSpPr>
        <p:spPr>
          <a:xfrm>
            <a:off x="6263640" y="6199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601968" y="6172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autonomous release gate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Master Plan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How We De-Risk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risk has a designed-in mitigation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DE-RISK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37360"/>
            <a:ext cx="109728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Trusting AI on quality decisions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/ shadow mode — AI gates log decisions beside humans and are promoted only on proven parity.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34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834640"/>
            <a:ext cx="10972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26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&amp; hardware integration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0" y="2926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MCP-based integration with existing Zion labs; one pilot line before scaling.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31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931920"/>
            <a:ext cx="109728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change resistance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Excellence, executive sponsorship and human-in-the-loop keep people in control.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5029200"/>
            <a:ext cx="109728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reliability &amp; drift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0" y="5120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ModelOps with continuous evaluation, guardrails and stage-gates before anything goes autonomous.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WE'RE ASKING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a 12-month program to build the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Software Quality Platform.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 FTE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cross-functional pod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 sponsor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unblock &amp; drive adoption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pilot line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 to all six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90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0–30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pod · connect Zion APIs &amp;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30–60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agents: requirements, planning, test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60–90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924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 MVP on the pilot product 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Quality Platform  ·  AI-Powered Software Quality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Software Quality Architecture — Leadership Proposal</dc:title>
  <dc:subject>PptxGenJS Presentation</dc:subject>
  <dc:creator>Software Engineering &amp; AI Solutions Architect</dc:creator>
  <cp:lastModifiedBy>Software Engineering &amp; AI Solutions Architect</cp:lastModifiedBy>
  <cp:revision>1</cp:revision>
  <dcterms:created xsi:type="dcterms:W3CDTF">2026-05-27T02:11:58Z</dcterms:created>
  <dcterms:modified xsi:type="dcterms:W3CDTF">2026-05-27T02:11:58Z</dcterms:modified>
</cp:coreProperties>
</file>