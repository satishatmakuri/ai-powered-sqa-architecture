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value-creation view of Sol PE's AI work. Read it bottom-up. Three stages of the Solution PE lifecycle each use a chain of AI tools (cards at the bottom), and each stage pushes one business outcome up: design and planning drives productivity, execution and coverage drives quality, analysis and resolution drives velocity. Quality is priority 1, so all three stages feed it — Review Shield and CoverSight from stage A, combinatorial coverage from stage B, and the end of 'cannot reproduce' customer claims from stage C. Numbers: Review Shield's ~2 min vs 11–62 min per review is measured (7-day dashboard, Sep 2026). The ~40% and ~30–50% effort reductions are planning estimates — be ready with the baseline behind them. Bracketed values are Y2026 actuals to fill. Alternative title if a more operational tone fits the room: 'AI-Driven Validation Ecosystem: Accelerating Quality and Operational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one slide for the whole year. Read it as three questions VPs ask about any AI programme. Efficiency — is it saving time? Productivity — does each engineer get more done? Quality — are the results better? Each column leads with one portfolio number and three proof points from the solutions that drive it. The only measured results so far are Review Shield's (7-day dashboard, Sep 2026: about 2 minutes per AI review vs 11–62 minutes manual, 97.7% review effort saved, 50 engineer-hours saved in 7 days, 11 of 58 repositories onboarded). Every bracketed value is a Y2026 actual to be filled by the solution owners before the visit. The 8-spec / 7-cluster pairwise model is a scope fact, not a measured outcome. Close with the bridge to Y2027: these functions move onto one Sol PE AI work platform where engineers find, use and reuse them, and every one is certified on the L3 benchmark. Backup slides follow with the per-solution detail and how each number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One row per solution, one cell per parameter, so any VP question about a specific solution has an answer on one page. Review Shield (highlighted) is the only row with measured values: 7-day dashboard, Sep 2026 — 97.7% review effort saved, about 2 minutes per AI review vs 11–62 minutes manual, 50 engineer-hours saved in 7 days, 11 of 58 repositories onboarded. The 8-spec pairwise model is a scope fact. All bracketed values are Y2026 actuals to collect from solution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This is how the numbers on the summary slide are defined, and what we commit to for Y2027. Efficiency = time and effort saved; productivity = output per engineer; quality = coverage, defect detection and correct diagnosis. Y2027 targets are the Tier-1 values in the Sol PE L3 Agent benchmark, so the same yardstick works for Sol PE, the three groups and, if HQ agrees, for HQ solutions too. Be direct about the gap: Review Shield's defect-catch rate is not yet measured because the seeded-defect golden set does not exist yet; building golden sets is a Y2027 deliverable for every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Sol PE now runs ten AI solutions that cover memory V&amp;V end to end. Read the slide left to right: A designs the right tests (SpecSpark, Combinatorial Testing, CoverSight), B builds and runs them with little human effort (Review Shield, KAIzen, UFS Forge), C finds root cause fast (SHIELD, iUTA, RootLens). All of them sit on Zion, which gives them governed workflows, one portal, a shared agent runtime and LLM gateway, a knowledge mesh, and the UTH/LaaS/DSA/Robotics execution substrate. Y2027 is about one Sol PE AI work platform where engineers find, use and reuse these functions (next slide), one failure-analysis stack instead of three, and all six product lines on Zion — every solution measured on the L3 benchmark. Data notes: Review Shield figures come from its 30 Sep 2026 L3 benchmark evaluation (7-day dashboard). Architecture counts come from the Zion Quality Platform design (10 STLC phases, 76 activities, 4 AI layers). The three asks of HQ are a draft — confirm wording and scope before the visit; the joint backlog is detailed on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core objective for Y2027. Sol PE already has ten AI solutions, but each has its own entry point, prompts and skills sit in personal folders, and the same analysis logic is rebuilt in grp1, grp2 and grp3. The platform connects them around Sol PE tasks rather than around tools: an engineer starts from the task (decode a host log, find coverage gaps, triage a failed run) and finds the right AI function, uses it where they already work, and reuses what others have built. Efficiency and quality improve together because reused functions are benchmarked and certified, not copied. It is built on Zion and governed by the L3 benchmark (register before build, one certified function per capability) and the AI Champion network. The same catalog is what we would share with HQ — see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read across a row to see where a solution works; read down a column to see how well a phase is served. Two things stand out. Test design (P3) has five primary solutions and defect management (P6) has three — that is where the L3 benchmark has to pick one certified function per capability. Test planning, environment setup, reporting, closure and customer release have no primary solution yet — that white space is where we should reuse from HQ or co-build. Colour groups follow the overview: blue = design the tests, teal = build and run them, orange = find root cause. Filled = primary phase, ring = supporting. Phase mapping is a working draft based on each solution's scope; confirm with solution owners. Phase names follow the Zion 10-phase STLC.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SpecSpark closes the gap between a new spec revision and a test suite. Phase 1 designs tests (spec → requirements → scenarios → 100% RTM gate); phase 2 writes, runs and self-heals scripts on a real Test PC + DUT or a virtual QEMU/QVP target. Device bugs are never 'fixed' in the script — they are raised as defects. Two human gates: test architect approves the suite; merge request goes through Review Shield plus an engineer.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datacenter and enterprise SSDs must comply with many specs at once — NVMe, NVMe-MI, OAM, OCP, SPDM, PLDM, MCTP and TCG. Exhaustive combinations are impossible; t-way (pairwise) arrays inside 7 functional clusters cover every pair of parameter values with a small fraction of the runs, and cross-cluster links target the places where specs interact. Bracketed fields are placeholders for Y2026 actuals — fill before presenting. The 100% pair-coverage target is the definition of a complete pairwise design; ≤5% duplicate tests is the L3-3.a benchmark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CoverSight answers 'what in this spec is not tested?' for every protocol and product. Steps A–D: spec knowledge graph and requirement extraction, test-script graph and scenario inference, requirement-to-test matching with calibrated scores, and AI-generated scenarios plus scripts for each gap, delivered as a pull request for review. The prompt library is spec-agnostic: one shared ontology normalizes NVMe, SATA, eMMC, UFS, SPDM, OCP, PLDM and MFND into one graph schema.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Review Shield is the first Sol PE solution put through the L3 benchmark, and it shows why the benchmark matters. Speed and effort saving are proven (about 2 minutes per AI review vs 11–62 minutes manual; 97.7% effort saving; 50 engineer-hours saved in 7 days). The composite is 49.2 because there is no golden set yet, 96% of findings are rated Critical/High, about 64% are outside the six defect categories, and 0 of 56 issues in merged PRs were resolved. The five gap actions (prompt v2, golden set, comment instrumentation, registry and docs, SCM adapters and shared services) project a 92.8 composite, which is Tier 1. Source: ReviewShield_Benchmark_Evaluation.xlsx (30 Sep 2026); efficacy values are estimates until the harness runs.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kAIzen removes the manual hand-offs between writing a script, running it and fixing it when it breaks. The key risk in any self-healing system is a 'false heal' that hides a real device defect, so the Y2027 plan puts a human approval on heals and measures false heals explicitly. SpecSpark phase 2 also generates and heals scripts; the L3 benchmark decides which becomes the single certified agent.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phones now run AI models locally, and those models create storage access patterns that synthetic benchmarks miss. UFS Forge puts real on-device AI workloads and generated stress patterns on the device, under the UFS harness, so issues show up in the lab rather than in the field. Bracketed fields are placeholders for Y2026 actuals — fill before presenting. UFS Forge has no L3 benchmark component yet; its targets are placeholders to agree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SHIELD is the front door of failure analysis. It turns raw host events and logs into decoded rules, one timeline, an AI agent's analysis, a summary and a standard report. In Y2027 it becomes the shared log parser that iUTA and RootLens consume, so the three FA solutions stop parsing the same logs three ways. Bracketed fields are placeholders for Y2026 actuals — fill before presenting. The 100% and ≥98% targets are the L3-7.c (auto report generator) benchmark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iUTA applies AI to the daily flood of automation failures so engineers only look at the ones that matter. It sits between SHIELD (decoding) and RootLens (deep RCA) in the converged FA stack. Check before presenting: the step flow on this slide assumes iUTA focuses on triage — classify, de-duplicate and route. Adjust the cards if its scope differs.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today each product line runs failure analysis its own way. RootLens gives eMMC, UFS, client SSD, PSSD, enterprise SSD and DC SSD one workflow and one memory of past root causes, so a failure seen on one product helps diagnose another. In Y2027 it anchors the converged FA stack and the field-to-lab closed loop on Zion.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Zion is the hands and feet; the AI layers are the brain. Zion already automates labs, infrastructure and execution (UTH, LaaS, DSA, Robotics). The Y2027 plan adds the shared services every solution needs — agent runtime, LLM gateway, knowledge mesh — so the nine solutions stop re-implementing them, and AI gates are promoted to autonomous only after they match human decisions in shadow mode. Source: Zion Quality Platform 12-month blueprint and executive pitch (three horizons; 40% → 84%+ AI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aim of the visit is initial alignment, not a finished plan. We bring one map of Sol PE AI capabilities (the STLC alignment slide), HQ brings theirs, and for each capability we agree which quadrant it sits in. Where both sides have a solution, we run both on one golden set and keep the stronger one. Where only one side has it, the other reuses it and adds its product packs. Where neither has it — mostly our white space in planning, environment, closure and release — we co-develop once. The output is a joint backlog: each item has an owner on each side, a target date and an L3 benchmark target, reviewed quarterly. Check before presenting: the HQ engine names in step 1 (CAST, WingMate, MAGMA, SOLAR-A, SALT) come from the 7-layer architecture diagram reviewed earlier — confirm they are the right HQ counterparts. Quadrant candidates are a draft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8"/>
        </a:solidFill>
      </p:bgPr>
    </p:bg>
    <p:spTree>
      <p:nvGrpSpPr>
        <p:cNvPr id="1" name=""/>
        <p:cNvGrpSpPr/>
        <p:nvPr/>
      </p:nvGrpSpPr>
      <p:grpSpPr>
        <a:xfrm>
          <a:off x="0" y="0"/>
          <a:ext cx="0" cy="0"/>
          <a:chOff x="0" y="0"/>
          <a:chExt cx="0" cy="0"/>
        </a:xfrm>
      </p:grpSpPr>
      <p:pic>
        <p:nvPicPr>
          <p:cNvPr id="2" name="Image 0" descr="Arrows from each stage up to its outcome; all three stages also feed Quality">    </p:cNvPr>
          <p:cNvPicPr>
            <a:picLocks noChangeAspect="1"/>
          </p:cNvPicPr>
          <p:nvPr/>
        </p:nvPicPr>
        <p:blipFill>
          <a:blip r:embed="rId1"/>
          <a:srcRect l="0" r="0" t="-142" b="-142"/>
          <a:stretch/>
        </p:blipFill>
        <p:spPr>
          <a:xfrm>
            <a:off x="609600" y="3314700"/>
            <a:ext cx="10972800" cy="419100"/>
          </a:xfrm>
          <a:prstGeom prst="rect">
            <a:avLst/>
          </a:prstGeom>
        </p:spPr>
      </p:pic>
      <p:pic>
        <p:nvPicPr>
          <p:cNvPr id="3" name="Image 1" descr="Three-stage lifecycle chevrons">    </p:cNvPr>
          <p:cNvPicPr>
            <a:picLocks noChangeAspect="1"/>
          </p:cNvPicPr>
          <p:nvPr/>
        </p:nvPicPr>
        <p:blipFill>
          <a:blip r:embed="rId2"/>
          <a:srcRect l="-203" r="-203" t="0" b="0"/>
          <a:stretch/>
        </p:blipFill>
        <p:spPr>
          <a:xfrm>
            <a:off x="609600" y="3746500"/>
            <a:ext cx="10972800" cy="635000"/>
          </a:xfrm>
          <a:prstGeom prst="rect">
            <a:avLst/>
          </a:prstGeom>
        </p:spPr>
      </p:pic>
      <p:sp>
        <p:nvSpPr>
          <p:cNvPr id="4" name="Text 0"/>
          <p:cNvSpPr/>
          <p:nvPr/>
        </p:nvSpPr>
        <p:spPr>
          <a:xfrm>
            <a:off x="609600" y="330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EXECUTIVE VIEW</a:t>
            </a:r>
            <a:endParaRPr lang="en-US" sz="1200" dirty="0"/>
          </a:p>
        </p:txBody>
      </p:sp>
      <p:sp>
        <p:nvSpPr>
          <p:cNvPr id="5" name="Text 1"/>
          <p:cNvSpPr/>
          <p:nvPr>
            <p:ph type="title"/>
          </p:nvPr>
        </p:nvSpPr>
        <p:spPr>
          <a:xfrm>
            <a:off x="609600" y="54610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D"/>
                </a:solidFill>
                <a:latin typeface="Manrope" pitchFamily="34" charset="0"/>
                <a:ea typeface="Manrope" pitchFamily="34" charset="-122"/>
                <a:cs typeface="Manrope" pitchFamily="34" charset="-120"/>
              </a:rPr>
              <a:t>Cognitive Engineering</a:t>
            </a:r>
            <a:endParaRPr lang="en-US" sz="3200" dirty="0"/>
          </a:p>
        </p:txBody>
      </p:sp>
      <p:sp>
        <p:nvSpPr>
          <p:cNvPr id="6" name="Text 2"/>
          <p:cNvSpPr/>
          <p:nvPr/>
        </p:nvSpPr>
        <p:spPr>
          <a:xfrm>
            <a:off x="609600" y="1016000"/>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A4256"/>
                </a:solidFill>
                <a:latin typeface="IBM Plex Sans" pitchFamily="34" charset="0"/>
                <a:ea typeface="IBM Plex Sans" pitchFamily="34" charset="-122"/>
                <a:cs typeface="IBM Plex Sans" pitchFamily="34" charset="-120"/>
              </a:rPr>
              <a:t>Transforming the Solution PE lifecycle via AI-native validation</a:t>
            </a:r>
            <a:endParaRPr lang="en-US" sz="1600" dirty="0"/>
          </a:p>
        </p:txBody>
      </p:sp>
      <p:sp>
        <p:nvSpPr>
          <p:cNvPr id="7" name="Shape 3"/>
          <p:cNvSpPr/>
          <p:nvPr/>
        </p:nvSpPr>
        <p:spPr>
          <a:xfrm>
            <a:off x="609600" y="1409700"/>
            <a:ext cx="3505200" cy="1892300"/>
          </a:xfrm>
          <a:prstGeom prst="roundRect">
            <a:avLst>
              <a:gd name="adj" fmla="val 5369"/>
            </a:avLst>
          </a:prstGeom>
          <a:solidFill>
            <a:srgbClr val="FCFCFD"/>
          </a:solidFill>
          <a:ln/>
          <a:effectLst>
            <a:outerShdw sx="100000" sy="100000" kx="0" ky="0" algn="bl" rotWithShape="0" blurRad="38100" dist="12700" dir="5400000">
              <a:srgbClr val="0F1B3D">
                <a:alpha val="12000"/>
              </a:srgbClr>
            </a:outerShdw>
          </a:effectLst>
        </p:spPr>
      </p:sp>
      <p:sp>
        <p:nvSpPr>
          <p:cNvPr id="8" name="Shape 4"/>
          <p:cNvSpPr/>
          <p:nvPr/>
        </p:nvSpPr>
        <p:spPr>
          <a:xfrm>
            <a:off x="609600" y="1409700"/>
            <a:ext cx="3505200" cy="1892300"/>
          </a:xfrm>
          <a:custGeom>
            <a:avLst/>
            <a:gdLst/>
            <a:ahLst/>
            <a:cxnLst/>
            <a:rect l="l" t="t" r="r" b="b"/>
            <a:pathLst>
              <a:path w="3505200" h="18923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1E4FD8"/>
          </a:solidFill>
          <a:ln/>
        </p:spPr>
      </p:sp>
      <p:pic>
        <p:nvPicPr>
          <p:cNvPr id="9" name="Image 2" descr="Chart">    </p:cNvPr>
          <p:cNvPicPr>
            <a:picLocks noChangeAspect="1"/>
          </p:cNvPicPr>
          <p:nvPr/>
        </p:nvPicPr>
        <p:blipFill>
          <a:blip r:embed="rId3"/>
          <a:srcRect l="0" r="0" t="0" b="0"/>
          <a:stretch/>
        </p:blipFill>
        <p:spPr>
          <a:xfrm>
            <a:off x="787400" y="1587500"/>
            <a:ext cx="228600" cy="228600"/>
          </a:xfrm>
          <a:prstGeom prst="rect">
            <a:avLst/>
          </a:prstGeom>
        </p:spPr>
      </p:pic>
      <p:sp>
        <p:nvSpPr>
          <p:cNvPr id="10" name="Text 5"/>
          <p:cNvSpPr/>
          <p:nvPr/>
        </p:nvSpPr>
        <p:spPr>
          <a:xfrm>
            <a:off x="1092200" y="1595107"/>
            <a:ext cx="1536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PRODUCTIVITY</a:t>
            </a:r>
            <a:endParaRPr lang="en-US" sz="1200" dirty="0"/>
          </a:p>
        </p:txBody>
      </p:sp>
      <p:sp>
        <p:nvSpPr>
          <p:cNvPr id="11" name="Text 6"/>
          <p:cNvSpPr/>
          <p:nvPr/>
        </p:nvSpPr>
        <p:spPr>
          <a:xfrm>
            <a:off x="787400" y="186690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E4FD8"/>
                </a:solidFill>
                <a:latin typeface="Manrope" pitchFamily="34" charset="0"/>
                <a:ea typeface="Manrope" pitchFamily="34" charset="-122"/>
                <a:cs typeface="Manrope" pitchFamily="34" charset="-120"/>
              </a:rPr>
              <a:t>~40% less effort</a:t>
            </a:r>
            <a:endParaRPr lang="en-US" sz="2200" dirty="0"/>
          </a:p>
        </p:txBody>
      </p:sp>
      <p:sp>
        <p:nvSpPr>
          <p:cNvPr id="12" name="Text 7"/>
          <p:cNvSpPr/>
          <p:nvPr/>
        </p:nvSpPr>
        <p:spPr>
          <a:xfrm>
            <a:off x="787400" y="222501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Manual test development time, through AI spec-to-test and code review</a:t>
            </a:r>
            <a:endParaRPr lang="en-US" sz="1200" dirty="0"/>
          </a:p>
        </p:txBody>
      </p:sp>
      <p:sp>
        <p:nvSpPr>
          <p:cNvPr id="13" name="Text 8"/>
          <p:cNvSpPr/>
          <p:nvPr/>
        </p:nvSpPr>
        <p:spPr>
          <a:xfrm>
            <a:off x="787400" y="2687241"/>
            <a:ext cx="3244088"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Measured:</a:t>
            </a:r>
            <a:r>
              <a:rPr lang="en-US" sz="1200" dirty="0">
                <a:solidFill>
                  <a:srgbClr val="5B6478"/>
                </a:solidFill>
                <a:latin typeface="IBM Plex Sans" pitchFamily="34" charset="0"/>
                <a:ea typeface="IBM Plex Sans" pitchFamily="34" charset="-122"/>
                <a:cs typeface="IBM Plex Sans" pitchFamily="34" charset="-120"/>
              </a:rPr>
              <a:t> Review Shield ~2 min vs 11–62 min per review</a:t>
            </a:r>
            <a:endParaRPr lang="en-US" sz="1200" dirty="0"/>
          </a:p>
        </p:txBody>
      </p:sp>
      <p:sp>
        <p:nvSpPr>
          <p:cNvPr id="14" name="Shape 9"/>
          <p:cNvSpPr/>
          <p:nvPr/>
        </p:nvSpPr>
        <p:spPr>
          <a:xfrm>
            <a:off x="4343400" y="1409700"/>
            <a:ext cx="3505200" cy="1892300"/>
          </a:xfrm>
          <a:prstGeom prst="roundRect">
            <a:avLst>
              <a:gd name="adj" fmla="val 5369"/>
            </a:avLst>
          </a:prstGeom>
          <a:solidFill>
            <a:srgbClr val="0F1B3D"/>
          </a:solidFill>
          <a:ln/>
          <a:effectLst>
            <a:outerShdw sx="100000" sy="100000" kx="0" ky="0" algn="bl" rotWithShape="0" blurRad="38100" dist="12700" dir="5400000">
              <a:srgbClr val="0F1B3D">
                <a:alpha val="12000"/>
              </a:srgbClr>
            </a:outerShdw>
          </a:effectLst>
        </p:spPr>
      </p:sp>
      <p:pic>
        <p:nvPicPr>
          <p:cNvPr id="15" name="Image 3" descr="Verified">    </p:cNvPr>
          <p:cNvPicPr>
            <a:picLocks noChangeAspect="1"/>
          </p:cNvPicPr>
          <p:nvPr/>
        </p:nvPicPr>
        <p:blipFill>
          <a:blip r:embed="rId4"/>
          <a:srcRect l="0" r="0" t="0" b="0"/>
          <a:stretch/>
        </p:blipFill>
        <p:spPr>
          <a:xfrm>
            <a:off x="4521200" y="1554427"/>
            <a:ext cx="228600" cy="228600"/>
          </a:xfrm>
          <a:prstGeom prst="rect">
            <a:avLst/>
          </a:prstGeom>
        </p:spPr>
      </p:pic>
      <p:sp>
        <p:nvSpPr>
          <p:cNvPr id="16" name="Text 10"/>
          <p:cNvSpPr/>
          <p:nvPr/>
        </p:nvSpPr>
        <p:spPr>
          <a:xfrm>
            <a:off x="4826000" y="1562100"/>
            <a:ext cx="8146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QUALITY</a:t>
            </a:r>
            <a:endParaRPr lang="en-US" sz="1200" dirty="0"/>
          </a:p>
        </p:txBody>
      </p:sp>
      <p:sp>
        <p:nvSpPr>
          <p:cNvPr id="17" name="Text 11"/>
          <p:cNvSpPr/>
          <p:nvPr/>
        </p:nvSpPr>
        <p:spPr>
          <a:xfrm>
            <a:off x="5640652" y="1549400"/>
            <a:ext cx="839721" cy="238720"/>
          </a:xfrm>
          <a:custGeom>
            <a:avLst/>
            <a:gdLst/>
            <a:ahLst/>
            <a:cxnLst/>
            <a:rect l="l" t="t" r="r" b="b"/>
            <a:pathLst>
              <a:path w="839721" h="238720">
                <a:moveTo>
                  <a:pt x="119360" y="0"/>
                </a:moveTo>
                <a:lnTo>
                  <a:pt x="720361" y="0"/>
                </a:lnTo>
                <a:arcTo hR="119360" wR="119360" stAng="16200000" swAng="5400000"/>
                <a:lnTo>
                  <a:pt x="839721" y="119360"/>
                </a:lnTo>
                <a:arcTo hR="119360" wR="119360" stAng="0" swAng="5400000"/>
                <a:lnTo>
                  <a:pt x="119360" y="238720"/>
                </a:lnTo>
                <a:arcTo hR="119360" wR="119360" stAng="5400000" swAng="5400000"/>
                <a:lnTo>
                  <a:pt x="0" y="119360"/>
                </a:lnTo>
                <a:arcTo hR="119360" wR="119360" stAng="10800000" swAng="5400000"/>
                <a:close/>
              </a:path>
            </a:pathLst>
          </a:custGeom>
          <a:solidFill>
            <a:srgbClr val="F2C14E"/>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Priority 1</a:t>
            </a:r>
            <a:endParaRPr lang="en-US" sz="1200" dirty="0"/>
          </a:p>
        </p:txBody>
      </p:sp>
      <p:sp>
        <p:nvSpPr>
          <p:cNvPr id="18" name="Text 12"/>
          <p:cNvSpPr/>
          <p:nvPr/>
        </p:nvSpPr>
        <p:spPr>
          <a:xfrm>
            <a:off x="4521200" y="183892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3F5F8"/>
                </a:solidFill>
                <a:latin typeface="Manrope" pitchFamily="34" charset="0"/>
                <a:ea typeface="Manrope" pitchFamily="34" charset="-122"/>
                <a:cs typeface="Manrope" pitchFamily="34" charset="-120"/>
              </a:rPr>
              <a:t>Higher detection</a:t>
            </a:r>
            <a:endParaRPr lang="en-US" sz="2200" dirty="0"/>
          </a:p>
        </p:txBody>
      </p:sp>
      <p:sp>
        <p:nvSpPr>
          <p:cNvPr id="19" name="Text 13"/>
          <p:cNvSpPr/>
          <p:nvPr/>
        </p:nvSpPr>
        <p:spPr>
          <a:xfrm>
            <a:off x="4521200" y="219703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CE3F0"/>
                </a:solidFill>
                <a:latin typeface="IBM Plex Sans" pitchFamily="34" charset="0"/>
                <a:ea typeface="IBM Plex Sans" pitchFamily="34" charset="-122"/>
                <a:cs typeface="IBM Plex Sans" pitchFamily="34" charset="-120"/>
              </a:rPr>
              <a:t>Defect detection rate, through AI-driven combinatorial coverage and review</a:t>
            </a:r>
            <a:endParaRPr lang="en-US" sz="1200" dirty="0"/>
          </a:p>
        </p:txBody>
      </p:sp>
      <p:sp>
        <p:nvSpPr>
          <p:cNvPr id="20" name="Text 14"/>
          <p:cNvSpPr/>
          <p:nvPr/>
        </p:nvSpPr>
        <p:spPr>
          <a:xfrm>
            <a:off x="4521200" y="2659261"/>
            <a:ext cx="3244088"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9C4DB"/>
                </a:solidFill>
                <a:latin typeface="IBM Plex Sans" pitchFamily="34" charset="0"/>
                <a:ea typeface="IBM Plex Sans" pitchFamily="34" charset="-122"/>
                <a:cs typeface="IBM Plex Sans" pitchFamily="34" charset="-120"/>
              </a:rPr>
              <a:t>Y2026:</a:t>
            </a:r>
            <a:r>
              <a:rPr lang="en-US" sz="1200" dirty="0">
                <a:solidFill>
                  <a:srgbClr val="B9C4DB"/>
                </a:solidFill>
                <a:latin typeface="IBM Plex Sans" pitchFamily="34" charset="0"/>
                <a:ea typeface="IBM Plex Sans" pitchFamily="34" charset="-122"/>
                <a:cs typeface="IBM Plex Sans" pitchFamily="34" charset="-120"/>
              </a:rPr>
              <a:t> [__]% more defects found before release</a:t>
            </a:r>
            <a:endParaRPr lang="en-US" sz="1200" dirty="0"/>
          </a:p>
        </p:txBody>
      </p:sp>
      <p:sp>
        <p:nvSpPr>
          <p:cNvPr id="21" name="Shape 15"/>
          <p:cNvSpPr/>
          <p:nvPr/>
        </p:nvSpPr>
        <p:spPr>
          <a:xfrm>
            <a:off x="8077200" y="1409700"/>
            <a:ext cx="3505200" cy="1892300"/>
          </a:xfrm>
          <a:prstGeom prst="roundRect">
            <a:avLst>
              <a:gd name="adj" fmla="val 5369"/>
            </a:avLst>
          </a:prstGeom>
          <a:solidFill>
            <a:srgbClr val="FCFCFD"/>
          </a:solidFill>
          <a:ln/>
          <a:effectLst>
            <a:outerShdw sx="100000" sy="100000" kx="0" ky="0" algn="bl" rotWithShape="0" blurRad="38100" dist="12700" dir="5400000">
              <a:srgbClr val="0F1B3D">
                <a:alpha val="12000"/>
              </a:srgbClr>
            </a:outerShdw>
          </a:effectLst>
        </p:spPr>
      </p:sp>
      <p:sp>
        <p:nvSpPr>
          <p:cNvPr id="22" name="Shape 16"/>
          <p:cNvSpPr/>
          <p:nvPr/>
        </p:nvSpPr>
        <p:spPr>
          <a:xfrm>
            <a:off x="8077200" y="1409700"/>
            <a:ext cx="3505200" cy="1892300"/>
          </a:xfrm>
          <a:custGeom>
            <a:avLst/>
            <a:gdLst/>
            <a:ahLst/>
            <a:cxnLst/>
            <a:rect l="l" t="t" r="r" b="b"/>
            <a:pathLst>
              <a:path w="3505200" h="18923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B4530A"/>
          </a:solidFill>
          <a:ln/>
        </p:spPr>
      </p:sp>
      <p:pic>
        <p:nvPicPr>
          <p:cNvPr id="23" name="Image 4" descr="Lightning">    </p:cNvPr>
          <p:cNvPicPr>
            <a:picLocks noChangeAspect="1"/>
          </p:cNvPicPr>
          <p:nvPr/>
        </p:nvPicPr>
        <p:blipFill>
          <a:blip r:embed="rId5"/>
          <a:srcRect l="0" r="0" t="0" b="0"/>
          <a:stretch/>
        </p:blipFill>
        <p:spPr>
          <a:xfrm>
            <a:off x="8255000" y="1587500"/>
            <a:ext cx="228600" cy="228600"/>
          </a:xfrm>
          <a:prstGeom prst="rect">
            <a:avLst/>
          </a:prstGeom>
        </p:spPr>
      </p:pic>
      <p:sp>
        <p:nvSpPr>
          <p:cNvPr id="24" name="Text 17"/>
          <p:cNvSpPr/>
          <p:nvPr/>
        </p:nvSpPr>
        <p:spPr>
          <a:xfrm>
            <a:off x="8559800" y="1595107"/>
            <a:ext cx="9953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VELOCITY</a:t>
            </a:r>
            <a:endParaRPr lang="en-US" sz="1200" dirty="0"/>
          </a:p>
        </p:txBody>
      </p:sp>
      <p:sp>
        <p:nvSpPr>
          <p:cNvPr id="25" name="Text 18"/>
          <p:cNvSpPr/>
          <p:nvPr/>
        </p:nvSpPr>
        <p:spPr>
          <a:xfrm>
            <a:off x="8255000" y="186690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B4530A"/>
                </a:solidFill>
                <a:latin typeface="Manrope" pitchFamily="34" charset="0"/>
                <a:ea typeface="Manrope" pitchFamily="34" charset="-122"/>
                <a:cs typeface="Manrope" pitchFamily="34" charset="-120"/>
              </a:rPr>
              <a:t>Faster FA TAT</a:t>
            </a:r>
            <a:endParaRPr lang="en-US" sz="2200" dirty="0"/>
          </a:p>
        </p:txBody>
      </p:sp>
      <p:sp>
        <p:nvSpPr>
          <p:cNvPr id="26" name="Text 19"/>
          <p:cNvSpPr/>
          <p:nvPr/>
        </p:nvSpPr>
        <p:spPr>
          <a:xfrm>
            <a:off x="8255000" y="222501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Claim failure-analysis turnaround, through automated log decoding and AI RCA</a:t>
            </a:r>
            <a:endParaRPr lang="en-US" sz="1200" dirty="0"/>
          </a:p>
        </p:txBody>
      </p:sp>
      <p:sp>
        <p:nvSpPr>
          <p:cNvPr id="27" name="Text 20"/>
          <p:cNvSpPr/>
          <p:nvPr/>
        </p:nvSpPr>
        <p:spPr>
          <a:xfrm>
            <a:off x="8255000" y="2687241"/>
            <a:ext cx="3244088"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Y2026:</a:t>
            </a:r>
            <a:r>
              <a:rPr lang="en-US" sz="1200" dirty="0">
                <a:solidFill>
                  <a:srgbClr val="5B6478"/>
                </a:solidFill>
                <a:latin typeface="IBM Plex Sans" pitchFamily="34" charset="0"/>
                <a:ea typeface="IBM Plex Sans" pitchFamily="34" charset="-122"/>
                <a:cs typeface="IBM Plex Sans" pitchFamily="34" charset="-120"/>
              </a:rPr>
              <a:t> claim FA TAT [__] days → [__] hours</a:t>
            </a:r>
            <a:endParaRPr lang="en-US" sz="1200" dirty="0"/>
          </a:p>
        </p:txBody>
      </p:sp>
      <p:sp>
        <p:nvSpPr>
          <p:cNvPr id="28" name="Text 21"/>
          <p:cNvSpPr/>
          <p:nvPr/>
        </p:nvSpPr>
        <p:spPr>
          <a:xfrm>
            <a:off x="8128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A</a:t>
            </a:r>
            <a:endParaRPr lang="en-US" sz="1200" dirty="0"/>
          </a:p>
        </p:txBody>
      </p:sp>
      <p:sp>
        <p:nvSpPr>
          <p:cNvPr id="29" name="Text 22"/>
          <p:cNvSpPr/>
          <p:nvPr/>
        </p:nvSpPr>
        <p:spPr>
          <a:xfrm>
            <a:off x="812800" y="40614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Intelligent Design &amp; Planning</a:t>
            </a:r>
            <a:endParaRPr lang="en-US" sz="1400" dirty="0"/>
          </a:p>
        </p:txBody>
      </p:sp>
      <p:sp>
        <p:nvSpPr>
          <p:cNvPr id="30" name="Text 23"/>
          <p:cNvSpPr/>
          <p:nvPr/>
        </p:nvSpPr>
        <p:spPr>
          <a:xfrm>
            <a:off x="46355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B</a:t>
            </a:r>
            <a:endParaRPr lang="en-US" sz="1200" dirty="0"/>
          </a:p>
        </p:txBody>
      </p:sp>
      <p:sp>
        <p:nvSpPr>
          <p:cNvPr id="31" name="Text 24"/>
          <p:cNvSpPr/>
          <p:nvPr/>
        </p:nvSpPr>
        <p:spPr>
          <a:xfrm>
            <a:off x="4635500" y="40614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Optimized Execution &amp; Coverage</a:t>
            </a:r>
            <a:endParaRPr lang="en-US" sz="1400" dirty="0"/>
          </a:p>
        </p:txBody>
      </p:sp>
      <p:sp>
        <p:nvSpPr>
          <p:cNvPr id="32" name="Text 25"/>
          <p:cNvSpPr/>
          <p:nvPr/>
        </p:nvSpPr>
        <p:spPr>
          <a:xfrm>
            <a:off x="82296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C</a:t>
            </a:r>
            <a:endParaRPr lang="en-US" sz="1200" dirty="0"/>
          </a:p>
        </p:txBody>
      </p:sp>
      <p:sp>
        <p:nvSpPr>
          <p:cNvPr id="33" name="Text 26"/>
          <p:cNvSpPr/>
          <p:nvPr/>
        </p:nvSpPr>
        <p:spPr>
          <a:xfrm>
            <a:off x="8229600" y="4061420"/>
            <a:ext cx="365760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Accelerated Analysis &amp; Resolution</a:t>
            </a:r>
            <a:endParaRPr lang="en-US" sz="1400" dirty="0"/>
          </a:p>
        </p:txBody>
      </p:sp>
      <p:sp>
        <p:nvSpPr>
          <p:cNvPr id="34" name="Shape 27"/>
          <p:cNvSpPr/>
          <p:nvPr/>
        </p:nvSpPr>
        <p:spPr>
          <a:xfrm>
            <a:off x="609600" y="4483100"/>
            <a:ext cx="3556000" cy="1699154"/>
          </a:xfrm>
          <a:prstGeom prst="roundRect">
            <a:avLst>
              <a:gd name="adj" fmla="val 5232"/>
            </a:avLst>
          </a:prstGeom>
          <a:solidFill>
            <a:srgbClr val="FCFCFD"/>
          </a:solidFill>
          <a:ln/>
          <a:effectLst>
            <a:outerShdw sx="100000" sy="100000" kx="0" ky="0" algn="bl" rotWithShape="0" blurRad="38100" dist="12700" dir="5400000">
              <a:srgbClr val="0F1B3D">
                <a:alpha val="12000"/>
              </a:srgbClr>
            </a:outerShdw>
          </a:effectLst>
        </p:spPr>
      </p:sp>
      <p:sp>
        <p:nvSpPr>
          <p:cNvPr id="35" name="Text 28"/>
          <p:cNvSpPr/>
          <p:nvPr/>
        </p:nvSpPr>
        <p:spPr>
          <a:xfrm>
            <a:off x="774700" y="4622800"/>
            <a:ext cx="332257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E4FD8"/>
                </a:solidFill>
                <a:latin typeface="IBM Plex Sans" pitchFamily="34" charset="0"/>
                <a:ea typeface="IBM Plex Sans" pitchFamily="34" charset="-122"/>
                <a:cs typeface="IBM Plex Sans" pitchFamily="34" charset="-120"/>
              </a:rPr>
              <a:t>SpecSpark → CoverSight → Review Shield</a:t>
            </a:r>
            <a:endParaRPr lang="en-US" sz="1200" dirty="0"/>
          </a:p>
        </p:txBody>
      </p:sp>
      <p:sp>
        <p:nvSpPr>
          <p:cNvPr id="36" name="Text 29"/>
          <p:cNvSpPr/>
          <p:nvPr/>
        </p:nvSpPr>
        <p:spPr>
          <a:xfrm>
            <a:off x="774700" y="4904714"/>
            <a:ext cx="3322574" cy="46990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“Eliminating the requirement-to-test gap.”</a:t>
            </a:r>
            <a:endParaRPr lang="en-US" sz="1400" dirty="0"/>
          </a:p>
        </p:txBody>
      </p:sp>
      <p:sp>
        <p:nvSpPr>
          <p:cNvPr id="37" name="Text 30"/>
          <p:cNvSpPr/>
          <p:nvPr/>
        </p:nvSpPr>
        <p:spPr>
          <a:xfrm>
            <a:off x="774700" y="5425414"/>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Specs turned into validated test scenarios automatically, with AI review on every code change: ~30–50% less manual design effort.</a:t>
            </a:r>
            <a:endParaRPr lang="en-US" sz="1200" dirty="0"/>
          </a:p>
        </p:txBody>
      </p:sp>
      <p:sp>
        <p:nvSpPr>
          <p:cNvPr id="38" name="Shape 31"/>
          <p:cNvSpPr/>
          <p:nvPr/>
        </p:nvSpPr>
        <p:spPr>
          <a:xfrm>
            <a:off x="4318000" y="4483100"/>
            <a:ext cx="3556000" cy="1904868"/>
          </a:xfrm>
          <a:prstGeom prst="roundRect">
            <a:avLst>
              <a:gd name="adj" fmla="val 4667"/>
            </a:avLst>
          </a:prstGeom>
          <a:solidFill>
            <a:srgbClr val="FCFCFD"/>
          </a:solidFill>
          <a:ln/>
          <a:effectLst>
            <a:outerShdw sx="100000" sy="100000" kx="0" ky="0" algn="bl" rotWithShape="0" blurRad="38100" dist="12700" dir="5400000">
              <a:srgbClr val="0F1B3D">
                <a:alpha val="12000"/>
              </a:srgbClr>
            </a:outerShdw>
          </a:effectLst>
        </p:spPr>
      </p:sp>
      <p:sp>
        <p:nvSpPr>
          <p:cNvPr id="39" name="Text 32"/>
          <p:cNvSpPr/>
          <p:nvPr/>
        </p:nvSpPr>
        <p:spPr>
          <a:xfrm>
            <a:off x="4483100" y="4622800"/>
            <a:ext cx="3322574"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7A6F"/>
                </a:solidFill>
                <a:latin typeface="IBM Plex Sans" pitchFamily="34" charset="0"/>
                <a:ea typeface="IBM Plex Sans" pitchFamily="34" charset="-122"/>
                <a:cs typeface="IBM Plex Sans" pitchFamily="34" charset="-120"/>
              </a:rPr>
              <a:t>Combinatorial → KAIzen → Zion → Robotics · UFS Forge</a:t>
            </a:r>
            <a:endParaRPr lang="en-US" sz="1200" dirty="0"/>
          </a:p>
        </p:txBody>
      </p:sp>
      <p:sp>
        <p:nvSpPr>
          <p:cNvPr id="40" name="Text 33"/>
          <p:cNvSpPr/>
          <p:nvPr/>
        </p:nvSpPr>
        <p:spPr>
          <a:xfrm>
            <a:off x="4483100" y="5110427"/>
            <a:ext cx="3322574" cy="46990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“Maximizing coverage, minimizing redundancy.”</a:t>
            </a:r>
            <a:endParaRPr lang="en-US" sz="1400" dirty="0"/>
          </a:p>
        </p:txBody>
      </p:sp>
      <p:sp>
        <p:nvSpPr>
          <p:cNvPr id="41" name="Text 34"/>
          <p:cNvSpPr/>
          <p:nvPr/>
        </p:nvSpPr>
        <p:spPr>
          <a:xfrm>
            <a:off x="4483100" y="5631127"/>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T-way combinatorial logic exposes hidden interaction defects; Zion runs it on one platform, across sites, hands-free.</a:t>
            </a:r>
            <a:endParaRPr lang="en-US" sz="1200" dirty="0"/>
          </a:p>
        </p:txBody>
      </p:sp>
      <p:sp>
        <p:nvSpPr>
          <p:cNvPr id="42" name="Shape 35"/>
          <p:cNvSpPr/>
          <p:nvPr/>
        </p:nvSpPr>
        <p:spPr>
          <a:xfrm>
            <a:off x="8026400" y="4483100"/>
            <a:ext cx="3556000" cy="1476904"/>
          </a:xfrm>
          <a:prstGeom prst="roundRect">
            <a:avLst>
              <a:gd name="adj" fmla="val 6019"/>
            </a:avLst>
          </a:prstGeom>
          <a:solidFill>
            <a:srgbClr val="FCFCFD"/>
          </a:solidFill>
          <a:ln/>
          <a:effectLst>
            <a:outerShdw sx="100000" sy="100000" kx="0" ky="0" algn="bl" rotWithShape="0" blurRad="38100" dist="12700" dir="5400000">
              <a:srgbClr val="0F1B3D">
                <a:alpha val="12000"/>
              </a:srgbClr>
            </a:outerShdw>
          </a:effectLst>
        </p:spPr>
      </p:sp>
      <p:sp>
        <p:nvSpPr>
          <p:cNvPr id="43" name="Text 36"/>
          <p:cNvSpPr/>
          <p:nvPr/>
        </p:nvSpPr>
        <p:spPr>
          <a:xfrm>
            <a:off x="8191500" y="4622800"/>
            <a:ext cx="332257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4530A"/>
                </a:solidFill>
                <a:latin typeface="IBM Plex Sans" pitchFamily="34" charset="0"/>
                <a:ea typeface="IBM Plex Sans" pitchFamily="34" charset="-122"/>
                <a:cs typeface="IBM Plex Sans" pitchFamily="34" charset="-120"/>
              </a:rPr>
              <a:t>SHIELD → iUTA → RootLens → e-SWIFT</a:t>
            </a:r>
            <a:endParaRPr lang="en-US" sz="1200" dirty="0"/>
          </a:p>
        </p:txBody>
      </p:sp>
      <p:sp>
        <p:nvSpPr>
          <p:cNvPr id="44" name="Text 37"/>
          <p:cNvSpPr/>
          <p:nvPr/>
        </p:nvSpPr>
        <p:spPr>
          <a:xfrm>
            <a:off x="8191500" y="4904714"/>
            <a:ext cx="3322574" cy="24765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“Instant root-cause analysis.”</a:t>
            </a:r>
            <a:endParaRPr lang="en-US" sz="1400" dirty="0"/>
          </a:p>
        </p:txBody>
      </p:sp>
      <p:sp>
        <p:nvSpPr>
          <p:cNvPr id="45" name="Text 38"/>
          <p:cNvSpPr/>
          <p:nvPr/>
        </p:nvSpPr>
        <p:spPr>
          <a:xfrm>
            <a:off x="8191500" y="5203164"/>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AI agents replace manual log triage, cutting analysis TAT and removing “cannot reproduce” from customer claims.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EXECUTIVE SUMMARY · Y2026 OUTCOMES</a:t>
            </a:r>
            <a:endParaRPr lang="en-US" sz="1200" dirty="0"/>
          </a:p>
        </p:txBody>
      </p:sp>
      <p:sp>
        <p:nvSpPr>
          <p:cNvPr id="3" name="Text 1"/>
          <p:cNvSpPr/>
          <p:nvPr>
            <p:ph type="title"/>
          </p:nvPr>
        </p:nvSpPr>
        <p:spPr>
          <a:xfrm>
            <a:off x="711200" y="759420"/>
            <a:ext cx="11092688"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1B3D"/>
                </a:solidFill>
                <a:latin typeface="Manrope" pitchFamily="34" charset="0"/>
                <a:ea typeface="Manrope" pitchFamily="34" charset="-122"/>
                <a:cs typeface="Manrope" pitchFamily="34" charset="-120"/>
              </a:rPr>
              <a:t>What Sol PE's ten AI solutions delivered in Y2026</a:t>
            </a:r>
            <a:endParaRPr lang="en-US" sz="3000" dirty="0"/>
          </a:p>
        </p:txBody>
      </p:sp>
      <p:sp>
        <p:nvSpPr>
          <p:cNvPr id="4" name="Shape 2"/>
          <p:cNvSpPr/>
          <p:nvPr/>
        </p:nvSpPr>
        <p:spPr>
          <a:xfrm>
            <a:off x="711200"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5" name="Text 3"/>
          <p:cNvSpPr/>
          <p:nvPr/>
        </p:nvSpPr>
        <p:spPr>
          <a:xfrm>
            <a:off x="889000"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EFFICIENCY </a:t>
            </a:r>
            <a:r>
              <a:rPr lang="en-US" sz="1200" b="1" spc="100" kern="0" dirty="0">
                <a:solidFill>
                  <a:srgbClr val="5B6478"/>
                </a:solidFill>
                <a:latin typeface="IBM Plex Sans" pitchFamily="34" charset="0"/>
                <a:ea typeface="IBM Plex Sans" pitchFamily="34" charset="-122"/>
                <a:cs typeface="IBM Plex Sans" pitchFamily="34" charset="-120"/>
              </a:rPr>
              <a:t>· TIME SAVED</a:t>
            </a:r>
            <a:endParaRPr lang="en-US" sz="1200" dirty="0"/>
          </a:p>
        </p:txBody>
      </p:sp>
      <p:sp>
        <p:nvSpPr>
          <p:cNvPr id="6" name="Text 4"/>
          <p:cNvSpPr/>
          <p:nvPr/>
        </p:nvSpPr>
        <p:spPr>
          <a:xfrm>
            <a:off x="889000"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E4FD8"/>
                </a:solidFill>
                <a:latin typeface="Manrope" pitchFamily="34" charset="0"/>
                <a:ea typeface="Manrope" pitchFamily="34" charset="-122"/>
                <a:cs typeface="Manrope" pitchFamily="34" charset="-120"/>
              </a:rPr>
              <a:t>[__] hrs</a:t>
            </a:r>
            <a:endParaRPr lang="en-US" sz="3600" dirty="0"/>
          </a:p>
        </p:txBody>
      </p:sp>
      <p:sp>
        <p:nvSpPr>
          <p:cNvPr id="7" name="Text 5"/>
          <p:cNvSpPr/>
          <p:nvPr/>
        </p:nvSpPr>
        <p:spPr>
          <a:xfrm>
            <a:off x="889000"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engineer-hours saved per month</a:t>
            </a:r>
            <a:endParaRPr lang="en-US" sz="1200" dirty="0"/>
          </a:p>
        </p:txBody>
      </p:sp>
      <p:pic>
        <p:nvPicPr>
          <p:cNvPr id="8" name="Image 0" descr="line">    </p:cNvPr>
          <p:cNvPicPr>
            <a:picLocks noChangeAspect="1"/>
          </p:cNvPicPr>
          <p:nvPr/>
        </p:nvPicPr>
        <p:blipFill>
          <a:blip r:embed="rId1"/>
          <a:srcRect l="-35" r="-35" t="0" b="0"/>
          <a:stretch/>
        </p:blipFill>
        <p:spPr>
          <a:xfrm>
            <a:off x="889000" y="2654168"/>
            <a:ext cx="3132667" cy="12700"/>
          </a:xfrm>
          <a:prstGeom prst="rect">
            <a:avLst/>
          </a:prstGeom>
        </p:spPr>
      </p:pic>
      <p:sp>
        <p:nvSpPr>
          <p:cNvPr id="9" name="Text 6"/>
          <p:cNvSpPr/>
          <p:nvPr/>
        </p:nvSpPr>
        <p:spPr>
          <a:xfrm>
            <a:off x="889000" y="2768468"/>
            <a:ext cx="1089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Review Shield</a:t>
            </a:r>
            <a:endParaRPr lang="en-US" sz="1200" dirty="0"/>
          </a:p>
        </p:txBody>
      </p:sp>
      <p:sp>
        <p:nvSpPr>
          <p:cNvPr id="10" name="Text 7"/>
          <p:cNvSpPr/>
          <p:nvPr/>
        </p:nvSpPr>
        <p:spPr>
          <a:xfrm>
            <a:off x="1978356" y="2755768"/>
            <a:ext cx="873853" cy="238720"/>
          </a:xfrm>
          <a:custGeom>
            <a:avLst/>
            <a:gdLst/>
            <a:ahLst/>
            <a:cxnLst/>
            <a:rect l="l" t="t" r="r" b="b"/>
            <a:pathLst>
              <a:path w="873853" h="238720">
                <a:moveTo>
                  <a:pt x="119360" y="0"/>
                </a:moveTo>
                <a:lnTo>
                  <a:pt x="754493" y="0"/>
                </a:lnTo>
                <a:arcTo hR="119360" wR="119360" stAng="16200000" swAng="5400000"/>
                <a:lnTo>
                  <a:pt x="873853" y="119360"/>
                </a:lnTo>
                <a:arcTo hR="119360" wR="119360" stAng="0" swAng="5400000"/>
                <a:lnTo>
                  <a:pt x="119360" y="238720"/>
                </a:lnTo>
                <a:arcTo hR="119360" wR="119360" stAng="5400000" swAng="5400000"/>
                <a:lnTo>
                  <a:pt x="0" y="119360"/>
                </a:lnTo>
                <a:arcTo hR="119360" wR="1193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Measured</a:t>
            </a:r>
            <a:endParaRPr lang="en-US" sz="1200" dirty="0"/>
          </a:p>
        </p:txBody>
      </p:sp>
      <p:sp>
        <p:nvSpPr>
          <p:cNvPr id="11" name="Text 8"/>
          <p:cNvSpPr/>
          <p:nvPr/>
        </p:nvSpPr>
        <p:spPr>
          <a:xfrm>
            <a:off x="889000" y="3019889"/>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~2 min AI review vs 11–62 min manual; 97.7% effort saved</a:t>
            </a:r>
            <a:endParaRPr lang="en-US" sz="1200" dirty="0"/>
          </a:p>
        </p:txBody>
      </p:sp>
      <p:sp>
        <p:nvSpPr>
          <p:cNvPr id="12" name="Text 9"/>
          <p:cNvSpPr/>
          <p:nvPr/>
        </p:nvSpPr>
        <p:spPr>
          <a:xfrm>
            <a:off x="889000" y="3520215"/>
            <a:ext cx="6359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KAIzen</a:t>
            </a:r>
            <a:endParaRPr lang="en-US" sz="1200" dirty="0"/>
          </a:p>
        </p:txBody>
      </p:sp>
      <p:sp>
        <p:nvSpPr>
          <p:cNvPr id="13" name="Text 10"/>
          <p:cNvSpPr/>
          <p:nvPr/>
        </p:nvSpPr>
        <p:spPr>
          <a:xfrm>
            <a:off x="889000" y="3758936"/>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Test cycle that took days now runs in [__] hours</a:t>
            </a:r>
            <a:endParaRPr lang="en-US" sz="1200" dirty="0"/>
          </a:p>
        </p:txBody>
      </p:sp>
      <p:sp>
        <p:nvSpPr>
          <p:cNvPr id="14" name="Text 11"/>
          <p:cNvSpPr/>
          <p:nvPr/>
        </p:nvSpPr>
        <p:spPr>
          <a:xfrm>
            <a:off x="889000" y="4259263"/>
            <a:ext cx="12564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SHIELD + iUTA</a:t>
            </a:r>
            <a:endParaRPr lang="en-US" sz="1200" dirty="0"/>
          </a:p>
        </p:txBody>
      </p:sp>
      <p:sp>
        <p:nvSpPr>
          <p:cNvPr id="15" name="Text 12"/>
          <p:cNvSpPr/>
          <p:nvPr/>
        </p:nvSpPr>
        <p:spPr>
          <a:xfrm>
            <a:off x="889000" y="4497983"/>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Log review and triage: [__] hours → [__] minutes</a:t>
            </a:r>
            <a:endParaRPr lang="en-US" sz="1200" dirty="0"/>
          </a:p>
        </p:txBody>
      </p:sp>
      <p:sp>
        <p:nvSpPr>
          <p:cNvPr id="16" name="Shape 13"/>
          <p:cNvSpPr/>
          <p:nvPr/>
        </p:nvSpPr>
        <p:spPr>
          <a:xfrm>
            <a:off x="4351867"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17" name="Text 14"/>
          <p:cNvSpPr/>
          <p:nvPr/>
        </p:nvSpPr>
        <p:spPr>
          <a:xfrm>
            <a:off x="4529667"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PRODUCTIVITY </a:t>
            </a:r>
            <a:r>
              <a:rPr lang="en-US" sz="1200" b="1" spc="100" kern="0" dirty="0">
                <a:solidFill>
                  <a:srgbClr val="5B6478"/>
                </a:solidFill>
                <a:latin typeface="IBM Plex Sans" pitchFamily="34" charset="0"/>
                <a:ea typeface="IBM Plex Sans" pitchFamily="34" charset="-122"/>
                <a:cs typeface="IBM Plex Sans" pitchFamily="34" charset="-120"/>
              </a:rPr>
              <a:t>· OUTPUT</a:t>
            </a:r>
            <a:endParaRPr lang="en-US" sz="1200" dirty="0"/>
          </a:p>
        </p:txBody>
      </p:sp>
      <p:sp>
        <p:nvSpPr>
          <p:cNvPr id="18" name="Text 15"/>
          <p:cNvSpPr/>
          <p:nvPr/>
        </p:nvSpPr>
        <p:spPr>
          <a:xfrm>
            <a:off x="4529667"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7A6F"/>
                </a:solidFill>
                <a:latin typeface="Manrope" pitchFamily="34" charset="0"/>
                <a:ea typeface="Manrope" pitchFamily="34" charset="-122"/>
                <a:cs typeface="Manrope" pitchFamily="34" charset="-120"/>
              </a:rPr>
              <a:t>[__]×</a:t>
            </a:r>
            <a:endParaRPr lang="en-US" sz="3600" dirty="0"/>
          </a:p>
        </p:txBody>
      </p:sp>
      <p:sp>
        <p:nvSpPr>
          <p:cNvPr id="19" name="Text 16"/>
          <p:cNvSpPr/>
          <p:nvPr/>
        </p:nvSpPr>
        <p:spPr>
          <a:xfrm>
            <a:off x="4529667"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more output per engineer on AI tasks</a:t>
            </a:r>
            <a:endParaRPr lang="en-US" sz="1200" dirty="0"/>
          </a:p>
        </p:txBody>
      </p:sp>
      <p:pic>
        <p:nvPicPr>
          <p:cNvPr id="20" name="Image 1" descr="line">    </p:cNvPr>
          <p:cNvPicPr>
            <a:picLocks noChangeAspect="1"/>
          </p:cNvPicPr>
          <p:nvPr/>
        </p:nvPicPr>
        <p:blipFill>
          <a:blip r:embed="rId2"/>
          <a:srcRect l="-35" r="-35" t="0" b="0"/>
          <a:stretch/>
        </p:blipFill>
        <p:spPr>
          <a:xfrm>
            <a:off x="4529667" y="2654168"/>
            <a:ext cx="3132667" cy="12700"/>
          </a:xfrm>
          <a:prstGeom prst="rect">
            <a:avLst/>
          </a:prstGeom>
        </p:spPr>
      </p:pic>
      <p:sp>
        <p:nvSpPr>
          <p:cNvPr id="21" name="Text 17"/>
          <p:cNvSpPr/>
          <p:nvPr/>
        </p:nvSpPr>
        <p:spPr>
          <a:xfrm>
            <a:off x="4529667" y="2755768"/>
            <a:ext cx="9314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SpecSpark</a:t>
            </a:r>
            <a:endParaRPr lang="en-US" sz="1200" dirty="0"/>
          </a:p>
        </p:txBody>
      </p:sp>
      <p:sp>
        <p:nvSpPr>
          <p:cNvPr id="22" name="Text 18"/>
          <p:cNvSpPr/>
          <p:nvPr/>
        </p:nvSpPr>
        <p:spPr>
          <a:xfrm>
            <a:off x="4529667" y="2994489"/>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requirements → [__] test cases generated</a:t>
            </a:r>
            <a:endParaRPr lang="en-US" sz="1200" dirty="0"/>
          </a:p>
        </p:txBody>
      </p:sp>
      <p:sp>
        <p:nvSpPr>
          <p:cNvPr id="23" name="Text 19"/>
          <p:cNvSpPr/>
          <p:nvPr/>
        </p:nvSpPr>
        <p:spPr>
          <a:xfrm>
            <a:off x="4529667" y="3507515"/>
            <a:ext cx="1089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Review Shield</a:t>
            </a:r>
            <a:endParaRPr lang="en-US" sz="1200" dirty="0"/>
          </a:p>
        </p:txBody>
      </p:sp>
      <p:sp>
        <p:nvSpPr>
          <p:cNvPr id="24" name="Text 20"/>
          <p:cNvSpPr/>
          <p:nvPr/>
        </p:nvSpPr>
        <p:spPr>
          <a:xfrm>
            <a:off x="5619023" y="3494815"/>
            <a:ext cx="873853" cy="238720"/>
          </a:xfrm>
          <a:custGeom>
            <a:avLst/>
            <a:gdLst/>
            <a:ahLst/>
            <a:cxnLst/>
            <a:rect l="l" t="t" r="r" b="b"/>
            <a:pathLst>
              <a:path w="873853" h="238720">
                <a:moveTo>
                  <a:pt x="119360" y="0"/>
                </a:moveTo>
                <a:lnTo>
                  <a:pt x="754493" y="0"/>
                </a:lnTo>
                <a:arcTo hR="119360" wR="119360" stAng="16200000" swAng="5400000"/>
                <a:lnTo>
                  <a:pt x="873853" y="119360"/>
                </a:lnTo>
                <a:arcTo hR="119360" wR="119360" stAng="0" swAng="5400000"/>
                <a:lnTo>
                  <a:pt x="119360" y="238720"/>
                </a:lnTo>
                <a:arcTo hR="119360" wR="119360" stAng="5400000" swAng="5400000"/>
                <a:lnTo>
                  <a:pt x="0" y="119360"/>
                </a:lnTo>
                <a:arcTo hR="119360" wR="1193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Measured</a:t>
            </a:r>
            <a:endParaRPr lang="en-US" sz="1200" dirty="0"/>
          </a:p>
        </p:txBody>
      </p:sp>
      <p:sp>
        <p:nvSpPr>
          <p:cNvPr id="25" name="Text 21"/>
          <p:cNvSpPr/>
          <p:nvPr/>
        </p:nvSpPr>
        <p:spPr>
          <a:xfrm>
            <a:off x="4529667" y="3758936"/>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11 of 58 repositories reviewed by AI on every MR</a:t>
            </a:r>
            <a:endParaRPr lang="en-US" sz="1200" dirty="0"/>
          </a:p>
        </p:txBody>
      </p:sp>
      <p:sp>
        <p:nvSpPr>
          <p:cNvPr id="26" name="Text 22"/>
          <p:cNvSpPr/>
          <p:nvPr/>
        </p:nvSpPr>
        <p:spPr>
          <a:xfrm>
            <a:off x="4529667" y="4259263"/>
            <a:ext cx="18831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Combinatorial Testing</a:t>
            </a:r>
            <a:endParaRPr lang="en-US" sz="1200" dirty="0"/>
          </a:p>
        </p:txBody>
      </p:sp>
      <p:sp>
        <p:nvSpPr>
          <p:cNvPr id="27" name="Text 23"/>
          <p:cNvSpPr/>
          <p:nvPr/>
        </p:nvSpPr>
        <p:spPr>
          <a:xfrm>
            <a:off x="4529667" y="4497983"/>
            <a:ext cx="322664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fewer test runs for full pair coverage</a:t>
            </a:r>
            <a:endParaRPr lang="en-US" sz="1200" dirty="0"/>
          </a:p>
        </p:txBody>
      </p:sp>
      <p:sp>
        <p:nvSpPr>
          <p:cNvPr id="28" name="Shape 24"/>
          <p:cNvSpPr/>
          <p:nvPr/>
        </p:nvSpPr>
        <p:spPr>
          <a:xfrm>
            <a:off x="7992534"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29" name="Text 25"/>
          <p:cNvSpPr/>
          <p:nvPr/>
        </p:nvSpPr>
        <p:spPr>
          <a:xfrm>
            <a:off x="8170334"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QUALITY </a:t>
            </a:r>
            <a:r>
              <a:rPr lang="en-US" sz="1200" b="1" spc="100" kern="0" dirty="0">
                <a:solidFill>
                  <a:srgbClr val="5B6478"/>
                </a:solidFill>
                <a:latin typeface="IBM Plex Sans" pitchFamily="34" charset="0"/>
                <a:ea typeface="IBM Plex Sans" pitchFamily="34" charset="-122"/>
                <a:cs typeface="IBM Plex Sans" pitchFamily="34" charset="-120"/>
              </a:rPr>
              <a:t>· BETTER RESULTS</a:t>
            </a:r>
            <a:endParaRPr lang="en-US" sz="1200" dirty="0"/>
          </a:p>
        </p:txBody>
      </p:sp>
      <p:sp>
        <p:nvSpPr>
          <p:cNvPr id="30" name="Text 26"/>
          <p:cNvSpPr/>
          <p:nvPr/>
        </p:nvSpPr>
        <p:spPr>
          <a:xfrm>
            <a:off x="8170334"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A"/>
                </a:solidFill>
                <a:latin typeface="Manrope" pitchFamily="34" charset="0"/>
                <a:ea typeface="Manrope" pitchFamily="34" charset="-122"/>
                <a:cs typeface="Manrope" pitchFamily="34" charset="-120"/>
              </a:rPr>
              <a:t>[__]%</a:t>
            </a:r>
            <a:endParaRPr lang="en-US" sz="3600" dirty="0"/>
          </a:p>
        </p:txBody>
      </p:sp>
      <p:sp>
        <p:nvSpPr>
          <p:cNvPr id="31" name="Text 27"/>
          <p:cNvSpPr/>
          <p:nvPr/>
        </p:nvSpPr>
        <p:spPr>
          <a:xfrm>
            <a:off x="8170334"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of spec requirements traced to tests</a:t>
            </a:r>
            <a:endParaRPr lang="en-US" sz="1200" dirty="0"/>
          </a:p>
        </p:txBody>
      </p:sp>
      <p:pic>
        <p:nvPicPr>
          <p:cNvPr id="32" name="Image 2" descr="line">    </p:cNvPr>
          <p:cNvPicPr>
            <a:picLocks noChangeAspect="1"/>
          </p:cNvPicPr>
          <p:nvPr/>
        </p:nvPicPr>
        <p:blipFill>
          <a:blip r:embed="rId3"/>
          <a:srcRect l="-35" r="-35" t="0" b="0"/>
          <a:stretch/>
        </p:blipFill>
        <p:spPr>
          <a:xfrm>
            <a:off x="8170334" y="2654168"/>
            <a:ext cx="3132667" cy="12700"/>
          </a:xfrm>
          <a:prstGeom prst="rect">
            <a:avLst/>
          </a:prstGeom>
        </p:spPr>
      </p:pic>
      <p:sp>
        <p:nvSpPr>
          <p:cNvPr id="33" name="Text 28"/>
          <p:cNvSpPr/>
          <p:nvPr/>
        </p:nvSpPr>
        <p:spPr>
          <a:xfrm>
            <a:off x="8170334" y="2755768"/>
            <a:ext cx="9420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CoverSight</a:t>
            </a:r>
            <a:endParaRPr lang="en-US" sz="1200" dirty="0"/>
          </a:p>
        </p:txBody>
      </p:sp>
      <p:sp>
        <p:nvSpPr>
          <p:cNvPr id="34" name="Text 29"/>
          <p:cNvSpPr/>
          <p:nvPr/>
        </p:nvSpPr>
        <p:spPr>
          <a:xfrm>
            <a:off x="8170334" y="2994489"/>
            <a:ext cx="322664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coverage gaps found, [__] closed by AI</a:t>
            </a:r>
            <a:endParaRPr lang="en-US" sz="1200" dirty="0"/>
          </a:p>
        </p:txBody>
      </p:sp>
      <p:sp>
        <p:nvSpPr>
          <p:cNvPr id="35" name="Text 30"/>
          <p:cNvSpPr/>
          <p:nvPr/>
        </p:nvSpPr>
        <p:spPr>
          <a:xfrm>
            <a:off x="8170334" y="3289102"/>
            <a:ext cx="18831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Combinatorial Testing</a:t>
            </a:r>
            <a:endParaRPr lang="en-US" sz="1200" dirty="0"/>
          </a:p>
        </p:txBody>
      </p:sp>
      <p:sp>
        <p:nvSpPr>
          <p:cNvPr id="36" name="Text 31"/>
          <p:cNvSpPr/>
          <p:nvPr/>
        </p:nvSpPr>
        <p:spPr>
          <a:xfrm>
            <a:off x="8170334" y="3527822"/>
            <a:ext cx="331046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8 specs under one pairwise model, 7 clusters</a:t>
            </a:r>
            <a:endParaRPr lang="en-US" sz="1200" dirty="0"/>
          </a:p>
        </p:txBody>
      </p:sp>
      <p:sp>
        <p:nvSpPr>
          <p:cNvPr id="37" name="Text 32"/>
          <p:cNvSpPr/>
          <p:nvPr/>
        </p:nvSpPr>
        <p:spPr>
          <a:xfrm>
            <a:off x="8170334" y="3822436"/>
            <a:ext cx="13902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RootLens + iUTA</a:t>
            </a:r>
            <a:endParaRPr lang="en-US" sz="1200" dirty="0"/>
          </a:p>
        </p:txBody>
      </p:sp>
      <p:sp>
        <p:nvSpPr>
          <p:cNvPr id="38" name="Text 33"/>
          <p:cNvSpPr/>
          <p:nvPr/>
        </p:nvSpPr>
        <p:spPr>
          <a:xfrm>
            <a:off x="8170334" y="4061156"/>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of failures matched to a known root cause</a:t>
            </a:r>
            <a:endParaRPr lang="en-US" sz="1200" dirty="0"/>
          </a:p>
        </p:txBody>
      </p:sp>
      <p:sp>
        <p:nvSpPr>
          <p:cNvPr id="39" name="Shape 34"/>
          <p:cNvSpPr/>
          <p:nvPr/>
        </p:nvSpPr>
        <p:spPr>
          <a:xfrm>
            <a:off x="711200" y="5252310"/>
            <a:ext cx="10769600" cy="699691"/>
          </a:xfrm>
          <a:prstGeom prst="roundRect">
            <a:avLst>
              <a:gd name="adj" fmla="val 12706"/>
            </a:avLst>
          </a:prstGeom>
          <a:solidFill>
            <a:srgbClr val="0F1B3D"/>
          </a:solidFill>
          <a:ln/>
        </p:spPr>
      </p:sp>
      <p:sp>
        <p:nvSpPr>
          <p:cNvPr id="40" name="Text 35"/>
          <p:cNvSpPr/>
          <p:nvPr/>
        </p:nvSpPr>
        <p:spPr>
          <a:xfrm>
            <a:off x="889000" y="5495462"/>
            <a:ext cx="1188773"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NEXT · Y2027</a:t>
            </a:r>
            <a:endParaRPr lang="en-US" sz="1200" dirty="0"/>
          </a:p>
        </p:txBody>
      </p:sp>
      <p:sp>
        <p:nvSpPr>
          <p:cNvPr id="41" name="Text 36"/>
          <p:cNvSpPr/>
          <p:nvPr/>
        </p:nvSpPr>
        <p:spPr>
          <a:xfrm>
            <a:off x="2230173" y="5379310"/>
            <a:ext cx="638870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3F5F8"/>
                </a:solidFill>
                <a:latin typeface="IBM Plex Sans" pitchFamily="34" charset="0"/>
                <a:ea typeface="IBM Plex Sans" pitchFamily="34" charset="-122"/>
                <a:cs typeface="IBM Plex Sans" pitchFamily="34" charset="-120"/>
              </a:rPr>
              <a:t>One Sol PE AI work platform to find, use and reuse these functions, each certified on the L3 benchmark.</a:t>
            </a:r>
            <a:endParaRPr lang="en-US" sz="1300" dirty="0"/>
          </a:p>
        </p:txBody>
      </p:sp>
      <p:sp>
        <p:nvSpPr>
          <p:cNvPr id="42" name="Text 37"/>
          <p:cNvSpPr/>
          <p:nvPr/>
        </p:nvSpPr>
        <p:spPr>
          <a:xfrm>
            <a:off x="8636000" y="5404048"/>
            <a:ext cx="274701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[__] = Y2026 actuals from solution owners</a:t>
            </a:r>
            <a:endParaRPr lang="en-US" sz="1200" dirty="0"/>
          </a:p>
        </p:txBody>
      </p:sp>
      <p:sp>
        <p:nvSpPr>
          <p:cNvPr id="43" name="Text 38"/>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39"/>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01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BACKUP · OUTCOMES BY SOLUTION</a:t>
            </a:r>
            <a:endParaRPr lang="en-US" sz="1200" dirty="0"/>
          </a:p>
        </p:txBody>
      </p:sp>
      <p:sp>
        <p:nvSpPr>
          <p:cNvPr id="3" name="Text 1"/>
          <p:cNvSpPr/>
          <p:nvPr>
            <p:ph type="title"/>
          </p:nvPr>
        </p:nvSpPr>
        <p:spPr>
          <a:xfrm>
            <a:off x="711200" y="7594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0F1B3D"/>
                </a:solidFill>
                <a:latin typeface="Manrope" pitchFamily="34" charset="0"/>
                <a:ea typeface="Manrope" pitchFamily="34" charset="-122"/>
                <a:cs typeface="Manrope" pitchFamily="34" charset="-120"/>
              </a:rPr>
              <a:t>Where each solution adds efficiency, productivity and quality</a:t>
            </a:r>
            <a:endParaRPr lang="en-US" sz="2600" dirty="0"/>
          </a:p>
        </p:txBody>
      </p:sp>
      <p:sp>
        <p:nvSpPr>
          <p:cNvPr id="4" name="Shape 2"/>
          <p:cNvSpPr/>
          <p:nvPr/>
        </p:nvSpPr>
        <p:spPr>
          <a:xfrm>
            <a:off x="711200" y="1306778"/>
            <a:ext cx="10769600" cy="0"/>
          </a:xfrm>
          <a:prstGeom prst="line">
            <a:avLst/>
          </a:prstGeom>
          <a:noFill/>
          <a:ln w="12700">
            <a:solidFill>
              <a:srgbClr val="141413">
                <a:alpha val="22000"/>
              </a:srgbClr>
            </a:solidFill>
            <a:prstDash val="solid"/>
          </a:ln>
        </p:spPr>
      </p:sp>
      <p:sp>
        <p:nvSpPr>
          <p:cNvPr id="5" name="Shape 3"/>
          <p:cNvSpPr/>
          <p:nvPr/>
        </p:nvSpPr>
        <p:spPr>
          <a:xfrm>
            <a:off x="717550" y="1300428"/>
            <a:ext cx="0" cy="3824222"/>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389328"/>
          <a:ext cx="10579100" cy="3659121"/>
        </p:xfrm>
        <a:graphic>
          <a:graphicData uri="http://schemas.openxmlformats.org/drawingml/2006/table">
            <a:tbl>
              <a:tblPr/>
              <a:tblGrid>
                <a:gridCol w="2327402"/>
                <a:gridCol w="2750566"/>
                <a:gridCol w="2750566"/>
                <a:gridCol w="2750566"/>
              </a:tblGrid>
              <a:tr h="332647">
                <a:tc>
                  <a:txBody>
                    <a:bodyPr/>
                    <a:lstStyle/>
                    <a:p>
                      <a:pPr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Solution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Efficiency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Productivity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Quality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SpecSpark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 design: [__]% less effort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reqs → [__] TCs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requirements traced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Combinatorial Testing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fewer test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8 specs in one t-way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Pairwise coverage, 7 clusters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CoverSight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RTM: [__] days → [__]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repos auto-mapped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gaps found, [__] 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97.7% effort saved; ~2 min/review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11 of 58 repos on AI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Crit/High caught pre-merge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KAIzen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 cycle: days → [__]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scripts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failures auto-recovered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UFS Forge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hrs of workload setup saved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AI workloads in library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issues found pre-release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SHIELD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Log review: [__] hrs → [__]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logs decoded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reports with no rework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iUTA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Triage: [__] → [__] min/failure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failures auto-classified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routed to right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Open → RCA: [__]% faster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 cases handled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matched to known RCA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Zion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lab-hours automated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unattended runs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products on one data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bl>
          </a:graphicData>
        </a:graphic>
      </p:graphicFrame>
      <p:sp>
        <p:nvSpPr>
          <p:cNvPr id="7" name="Text 4"/>
          <p:cNvSpPr/>
          <p:nvPr/>
        </p:nvSpPr>
        <p:spPr>
          <a:xfrm>
            <a:off x="711200" y="5302448"/>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Highlighted row: measured (Review Shield 7-day dashboard, Sep 2026). [__] = Y2026 actuals to be filled by solution owners.</a:t>
            </a:r>
            <a:endParaRPr lang="en-US" sz="1200" dirty="0"/>
          </a:p>
        </p:txBody>
      </p:sp>
      <p:sp>
        <p:nvSpPr>
          <p:cNvPr id="8" name="Text 5"/>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9" name="Text 6"/>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02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BACKUP · HOW WE MEASURE</a:t>
            </a:r>
            <a:endParaRPr lang="en-US" sz="1200" dirty="0"/>
          </a:p>
        </p:txBody>
      </p:sp>
      <p:sp>
        <p:nvSpPr>
          <p:cNvPr id="3" name="Text 1"/>
          <p:cNvSpPr/>
          <p:nvPr>
            <p:ph type="title"/>
          </p:nvPr>
        </p:nvSpPr>
        <p:spPr>
          <a:xfrm>
            <a:off x="711200" y="7594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0F1B3D"/>
                </a:solidFill>
                <a:latin typeface="Manrope" pitchFamily="34" charset="0"/>
                <a:ea typeface="Manrope" pitchFamily="34" charset="-122"/>
                <a:cs typeface="Manrope" pitchFamily="34" charset="-120"/>
              </a:rPr>
              <a:t>One yardstick for Y2026 results and Y2027 commitments</a:t>
            </a:r>
            <a:endParaRPr lang="en-US" sz="2600" dirty="0"/>
          </a:p>
        </p:txBody>
      </p:sp>
      <p:sp>
        <p:nvSpPr>
          <p:cNvPr id="4" name="Shape 2"/>
          <p:cNvSpPr/>
          <p:nvPr/>
        </p:nvSpPr>
        <p:spPr>
          <a:xfrm>
            <a:off x="711200" y="1306778"/>
            <a:ext cx="10769600" cy="0"/>
          </a:xfrm>
          <a:prstGeom prst="line">
            <a:avLst/>
          </a:prstGeom>
          <a:noFill/>
          <a:ln w="12700">
            <a:solidFill>
              <a:srgbClr val="141413">
                <a:alpha val="22000"/>
              </a:srgbClr>
            </a:solidFill>
            <a:prstDash val="solid"/>
          </a:ln>
        </p:spPr>
      </p:sp>
      <p:sp>
        <p:nvSpPr>
          <p:cNvPr id="5" name="Shape 3"/>
          <p:cNvSpPr/>
          <p:nvPr/>
        </p:nvSpPr>
        <p:spPr>
          <a:xfrm>
            <a:off x="717550" y="1300428"/>
            <a:ext cx="0" cy="3824222"/>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389328"/>
          <a:ext cx="10579100" cy="3659121"/>
        </p:xfrm>
        <a:graphic>
          <a:graphicData uri="http://schemas.openxmlformats.org/drawingml/2006/table">
            <a:tbl>
              <a:tblPr/>
              <a:tblGrid>
                <a:gridCol w="1586865"/>
                <a:gridCol w="3279521"/>
                <a:gridCol w="2433193"/>
                <a:gridCol w="1586865"/>
                <a:gridCol w="1692656"/>
              </a:tblGrid>
              <a:tr h="332647">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Parameter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KPI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How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Y2026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Y2027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r>
              <a:tr h="332647">
                <a:tc>
                  <a:txBody>
                    <a:bodyPr/>
                    <a:lstStyle/>
                    <a:p>
                      <a:pPr indent="0" marL="0">
                        <a:lnSpc>
                          <a:spcPts val="1680"/>
                        </a:lnSpc>
                        <a:buNone/>
                      </a:pPr>
                      <a:r>
                        <a:rPr lang="en-US" sz="1200" dirty="0">
                          <a:solidFill>
                            <a:srgbClr val="1E4FD8"/>
                          </a:solidFill>
                          <a:latin typeface="IBM Plex Sans" pitchFamily="34" charset="0"/>
                          <a:ea typeface="IBM Plex Sans" pitchFamily="34" charset="-122"/>
                          <a:cs typeface="IBM Plex Sans" pitchFamily="34" charset="-120"/>
                        </a:rPr>
                        <a:t>Efficiency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Engineer-hours saved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Tool logs + team reports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AI code review time per MR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~2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≤5 min at 10× 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Defect open → root cause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 timestamps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0B7A6F"/>
                          </a:solidFill>
                          <a:latin typeface="IBM Plex Sans" pitchFamily="34" charset="0"/>
                          <a:ea typeface="IBM Plex Sans" pitchFamily="34" charset="-122"/>
                          <a:cs typeface="IBM Plex Sans" pitchFamily="34" charset="-120"/>
                        </a:rPr>
                        <a:t>Productivity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Test-design effort per spec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SpecSpark + UTH records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Repositories using AI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11 of 58 repos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≥50% of repos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Functions reused across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Capability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≥2 groups each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r>
                        <a:rPr lang="en-US" sz="1200" dirty="0">
                          <a:solidFill>
                            <a:srgbClr val="B4530A"/>
                          </a:solidFill>
                          <a:latin typeface="IBM Plex Sans" pitchFamily="34" charset="0"/>
                          <a:ea typeface="IBM Plex Sans" pitchFamily="34" charset="-122"/>
                          <a:cs typeface="IBM Plex Sans" pitchFamily="34" charset="-120"/>
                        </a:rPr>
                        <a:t>Quality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 requirements covered by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CoverSight RTM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Critical/High defects caught in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Seeded-defect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Not yet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≥85% 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 cause correct in top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False heals masking a device defect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KAIzen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bl>
          </a:graphicData>
        </a:graphic>
      </p:graphicFrame>
      <p:sp>
        <p:nvSpPr>
          <p:cNvPr id="7" name="Text 4"/>
          <p:cNvSpPr/>
          <p:nvPr/>
        </p:nvSpPr>
        <p:spPr>
          <a:xfrm>
            <a:off x="711200" y="5302448"/>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Y2027 targets are Tier-1 values from the Sol PE L3 Agent benchmark. [__] = to be filled by solution owners.</a:t>
            </a:r>
            <a:endParaRPr lang="en-US" sz="1200" dirty="0"/>
          </a:p>
        </p:txBody>
      </p:sp>
      <p:sp>
        <p:nvSpPr>
          <p:cNvPr id="8" name="Text 5"/>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9" name="Text 6"/>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03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457200" y="330200"/>
            <a:ext cx="64056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 name="Text 1"/>
          <p:cNvSpPr/>
          <p:nvPr>
            <p:ph type="title"/>
          </p:nvPr>
        </p:nvSpPr>
        <p:spPr>
          <a:xfrm>
            <a:off x="457200" y="594320"/>
            <a:ext cx="6405670" cy="667941"/>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F1B3D"/>
                </a:solidFill>
                <a:latin typeface="Manrope" pitchFamily="34" charset="0"/>
                <a:ea typeface="Manrope" pitchFamily="34" charset="-122"/>
                <a:cs typeface="Manrope" pitchFamily="34" charset="-120"/>
              </a:rPr>
              <a:t>Ten AI solutions, one platform: from spec to root cause</a:t>
            </a:r>
            <a:endParaRPr lang="en-US" sz="2300" dirty="0"/>
          </a:p>
        </p:txBody>
      </p:sp>
      <p:sp>
        <p:nvSpPr>
          <p:cNvPr id="4" name="Shape 2"/>
          <p:cNvSpPr/>
          <p:nvPr/>
        </p:nvSpPr>
        <p:spPr>
          <a:xfrm>
            <a:off x="6930298" y="515541"/>
            <a:ext cx="1073944"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5" name="Text 3"/>
          <p:cNvSpPr/>
          <p:nvPr/>
        </p:nvSpPr>
        <p:spPr>
          <a:xfrm>
            <a:off x="7057298" y="591741"/>
            <a:ext cx="87074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6" name="Text 4"/>
          <p:cNvSpPr/>
          <p:nvPr/>
        </p:nvSpPr>
        <p:spPr>
          <a:xfrm>
            <a:off x="7057298" y="947341"/>
            <a:ext cx="87074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AI solutions</a:t>
            </a:r>
            <a:endParaRPr lang="en-US" sz="1200" dirty="0"/>
          </a:p>
        </p:txBody>
      </p:sp>
      <p:sp>
        <p:nvSpPr>
          <p:cNvPr id="7" name="Shape 5"/>
          <p:cNvSpPr/>
          <p:nvPr/>
        </p:nvSpPr>
        <p:spPr>
          <a:xfrm>
            <a:off x="8093142" y="515541"/>
            <a:ext cx="1148027"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8" name="Text 6"/>
          <p:cNvSpPr/>
          <p:nvPr/>
        </p:nvSpPr>
        <p:spPr>
          <a:xfrm>
            <a:off x="8220142" y="591741"/>
            <a:ext cx="944827"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6</a:t>
            </a:r>
            <a:endParaRPr lang="en-US" sz="2600" dirty="0"/>
          </a:p>
        </p:txBody>
      </p:sp>
      <p:sp>
        <p:nvSpPr>
          <p:cNvPr id="9" name="Text 7"/>
          <p:cNvSpPr/>
          <p:nvPr/>
        </p:nvSpPr>
        <p:spPr>
          <a:xfrm>
            <a:off x="8220142" y="947341"/>
            <a:ext cx="94482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product lines</a:t>
            </a:r>
            <a:endParaRPr lang="en-US" sz="1200" dirty="0"/>
          </a:p>
        </p:txBody>
      </p:sp>
      <p:sp>
        <p:nvSpPr>
          <p:cNvPr id="10" name="Shape 8"/>
          <p:cNvSpPr/>
          <p:nvPr/>
        </p:nvSpPr>
        <p:spPr>
          <a:xfrm>
            <a:off x="9330068" y="515541"/>
            <a:ext cx="1197240"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1" name="Text 9"/>
          <p:cNvSpPr/>
          <p:nvPr/>
        </p:nvSpPr>
        <p:spPr>
          <a:xfrm>
            <a:off x="9457068" y="591741"/>
            <a:ext cx="994040"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11</a:t>
            </a:r>
            <a:endParaRPr lang="en-US" sz="2600" dirty="0"/>
          </a:p>
        </p:txBody>
      </p:sp>
      <p:sp>
        <p:nvSpPr>
          <p:cNvPr id="12" name="Text 10"/>
          <p:cNvSpPr/>
          <p:nvPr/>
        </p:nvSpPr>
        <p:spPr>
          <a:xfrm>
            <a:off x="9457068" y="947341"/>
            <a:ext cx="99404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specifications</a:t>
            </a:r>
            <a:endParaRPr lang="en-US" sz="1200" dirty="0"/>
          </a:p>
        </p:txBody>
      </p:sp>
      <p:sp>
        <p:nvSpPr>
          <p:cNvPr id="13" name="Shape 11"/>
          <p:cNvSpPr/>
          <p:nvPr/>
        </p:nvSpPr>
        <p:spPr>
          <a:xfrm>
            <a:off x="10616208" y="515541"/>
            <a:ext cx="1118592"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10743208" y="591741"/>
            <a:ext cx="915392"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15" name="Text 13"/>
          <p:cNvSpPr/>
          <p:nvPr/>
        </p:nvSpPr>
        <p:spPr>
          <a:xfrm>
            <a:off x="10743208" y="947341"/>
            <a:ext cx="9153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STLC phases</a:t>
            </a:r>
            <a:endParaRPr lang="en-US" sz="1200" dirty="0"/>
          </a:p>
        </p:txBody>
      </p:sp>
      <p:sp>
        <p:nvSpPr>
          <p:cNvPr id="16" name="Shape 14"/>
          <p:cNvSpPr/>
          <p:nvPr/>
        </p:nvSpPr>
        <p:spPr>
          <a:xfrm>
            <a:off x="457200"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84200" y="1452761"/>
            <a:ext cx="210796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E4FD8"/>
                </a:solidFill>
                <a:latin typeface="IBM Plex Sans" pitchFamily="34" charset="0"/>
                <a:ea typeface="IBM Plex Sans" pitchFamily="34" charset="-122"/>
                <a:cs typeface="IBM Plex Sans" pitchFamily="34" charset="-120"/>
              </a:rPr>
              <a:t>A · DESIGN THE TESTS</a:t>
            </a:r>
            <a:endParaRPr lang="en-US" sz="1200" dirty="0"/>
          </a:p>
        </p:txBody>
      </p:sp>
      <p:sp>
        <p:nvSpPr>
          <p:cNvPr id="18" name="Text 16"/>
          <p:cNvSpPr/>
          <p:nvPr/>
        </p:nvSpPr>
        <p:spPr>
          <a:xfrm>
            <a:off x="3171362"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P1–P3</a:t>
            </a:r>
            <a:endParaRPr lang="en-US" sz="1200" dirty="0"/>
          </a:p>
        </p:txBody>
      </p:sp>
      <p:sp>
        <p:nvSpPr>
          <p:cNvPr id="19" name="Shape 17"/>
          <p:cNvSpPr/>
          <p:nvPr/>
        </p:nvSpPr>
        <p:spPr>
          <a:xfrm>
            <a:off x="584200" y="1729581"/>
            <a:ext cx="3420533" cy="516864"/>
          </a:xfrm>
          <a:prstGeom prst="roundRect">
            <a:avLst>
              <a:gd name="adj" fmla="val 12286"/>
            </a:avLst>
          </a:prstGeom>
          <a:solidFill>
            <a:srgbClr val="E6EDFC"/>
          </a:solidFill>
          <a:ln/>
        </p:spPr>
      </p:sp>
      <p:sp>
        <p:nvSpPr>
          <p:cNvPr id="20" name="Text 18"/>
          <p:cNvSpPr/>
          <p:nvPr/>
        </p:nvSpPr>
        <p:spPr>
          <a:xfrm>
            <a:off x="685800"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SpecSpark</a:t>
            </a:r>
            <a:endParaRPr lang="en-US" sz="1400" dirty="0"/>
          </a:p>
        </p:txBody>
      </p:sp>
      <p:sp>
        <p:nvSpPr>
          <p:cNvPr id="21" name="Text 19"/>
          <p:cNvSpPr/>
          <p:nvPr/>
        </p:nvSpPr>
        <p:spPr>
          <a:xfrm>
            <a:off x="685800"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Spec → requirements → tests → scripts</a:t>
            </a:r>
            <a:endParaRPr lang="en-US" sz="1200" dirty="0"/>
          </a:p>
        </p:txBody>
      </p:sp>
      <p:sp>
        <p:nvSpPr>
          <p:cNvPr id="22" name="Shape 20"/>
          <p:cNvSpPr/>
          <p:nvPr/>
        </p:nvSpPr>
        <p:spPr>
          <a:xfrm>
            <a:off x="584200" y="2309946"/>
            <a:ext cx="3420533" cy="516864"/>
          </a:xfrm>
          <a:prstGeom prst="roundRect">
            <a:avLst>
              <a:gd name="adj" fmla="val 12286"/>
            </a:avLst>
          </a:prstGeom>
          <a:solidFill>
            <a:srgbClr val="E6EDFC"/>
          </a:solidFill>
          <a:ln/>
        </p:spPr>
      </p:sp>
      <p:sp>
        <p:nvSpPr>
          <p:cNvPr id="23" name="Text 21"/>
          <p:cNvSpPr/>
          <p:nvPr/>
        </p:nvSpPr>
        <p:spPr>
          <a:xfrm>
            <a:off x="685800"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Combinatorial Testing</a:t>
            </a:r>
            <a:endParaRPr lang="en-US" sz="1400" dirty="0"/>
          </a:p>
        </p:txBody>
      </p:sp>
      <p:sp>
        <p:nvSpPr>
          <p:cNvPr id="24" name="Text 22"/>
          <p:cNvSpPr/>
          <p:nvPr/>
        </p:nvSpPr>
        <p:spPr>
          <a:xfrm>
            <a:off x="685800"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T-way cross-spec tests · 7 clusters</a:t>
            </a:r>
            <a:endParaRPr lang="en-US" sz="1200" dirty="0"/>
          </a:p>
        </p:txBody>
      </p:sp>
      <p:sp>
        <p:nvSpPr>
          <p:cNvPr id="25" name="Shape 23"/>
          <p:cNvSpPr/>
          <p:nvPr/>
        </p:nvSpPr>
        <p:spPr>
          <a:xfrm>
            <a:off x="584200" y="2890310"/>
            <a:ext cx="3420533" cy="516864"/>
          </a:xfrm>
          <a:prstGeom prst="roundRect">
            <a:avLst>
              <a:gd name="adj" fmla="val 12286"/>
            </a:avLst>
          </a:prstGeom>
          <a:solidFill>
            <a:srgbClr val="E6EDFC"/>
          </a:solidFill>
          <a:ln/>
        </p:spPr>
      </p:sp>
      <p:sp>
        <p:nvSpPr>
          <p:cNvPr id="26" name="Text 24"/>
          <p:cNvSpPr/>
          <p:nvPr/>
        </p:nvSpPr>
        <p:spPr>
          <a:xfrm>
            <a:off x="685800"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CoverSight</a:t>
            </a:r>
            <a:endParaRPr lang="en-US" sz="1400" dirty="0"/>
          </a:p>
        </p:txBody>
      </p:sp>
      <p:sp>
        <p:nvSpPr>
          <p:cNvPr id="27" name="Text 25"/>
          <p:cNvSpPr/>
          <p:nvPr/>
        </p:nvSpPr>
        <p:spPr>
          <a:xfrm>
            <a:off x="685800"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Coverage gaps found and auto-closed</a:t>
            </a:r>
            <a:endParaRPr lang="en-US" sz="1200" dirty="0"/>
          </a:p>
        </p:txBody>
      </p:sp>
      <p:sp>
        <p:nvSpPr>
          <p:cNvPr id="28" name="Shape 26"/>
          <p:cNvSpPr/>
          <p:nvPr/>
        </p:nvSpPr>
        <p:spPr>
          <a:xfrm>
            <a:off x="4258733"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4385733" y="1452761"/>
            <a:ext cx="211986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B7A6F"/>
                </a:solidFill>
                <a:latin typeface="IBM Plex Sans" pitchFamily="34" charset="0"/>
                <a:ea typeface="IBM Plex Sans" pitchFamily="34" charset="-122"/>
                <a:cs typeface="IBM Plex Sans" pitchFamily="34" charset="-120"/>
              </a:rPr>
              <a:t>B · BUILD &amp; RUN THEM</a:t>
            </a:r>
            <a:endParaRPr lang="en-US" sz="1200" dirty="0"/>
          </a:p>
        </p:txBody>
      </p:sp>
      <p:sp>
        <p:nvSpPr>
          <p:cNvPr id="30" name="Text 28"/>
          <p:cNvSpPr/>
          <p:nvPr/>
        </p:nvSpPr>
        <p:spPr>
          <a:xfrm>
            <a:off x="6972895"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P3–P5</a:t>
            </a:r>
            <a:endParaRPr lang="en-US" sz="1200" dirty="0"/>
          </a:p>
        </p:txBody>
      </p:sp>
      <p:sp>
        <p:nvSpPr>
          <p:cNvPr id="31" name="Shape 29"/>
          <p:cNvSpPr/>
          <p:nvPr/>
        </p:nvSpPr>
        <p:spPr>
          <a:xfrm>
            <a:off x="4385733" y="1729581"/>
            <a:ext cx="3420533" cy="516864"/>
          </a:xfrm>
          <a:prstGeom prst="roundRect">
            <a:avLst>
              <a:gd name="adj" fmla="val 12286"/>
            </a:avLst>
          </a:prstGeom>
          <a:solidFill>
            <a:srgbClr val="E0F1ED"/>
          </a:solidFill>
          <a:ln/>
        </p:spPr>
      </p:sp>
      <p:sp>
        <p:nvSpPr>
          <p:cNvPr id="32" name="Text 30"/>
          <p:cNvSpPr/>
          <p:nvPr/>
        </p:nvSpPr>
        <p:spPr>
          <a:xfrm>
            <a:off x="4487333"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Review Shield</a:t>
            </a:r>
            <a:endParaRPr lang="en-US" sz="1400" dirty="0"/>
          </a:p>
        </p:txBody>
      </p:sp>
      <p:sp>
        <p:nvSpPr>
          <p:cNvPr id="33" name="Text 31"/>
          <p:cNvSpPr/>
          <p:nvPr/>
        </p:nvSpPr>
        <p:spPr>
          <a:xfrm>
            <a:off x="4487333"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AI code review on every MR</a:t>
            </a:r>
            <a:endParaRPr lang="en-US" sz="1200" dirty="0"/>
          </a:p>
        </p:txBody>
      </p:sp>
      <p:sp>
        <p:nvSpPr>
          <p:cNvPr id="34" name="Shape 32"/>
          <p:cNvSpPr/>
          <p:nvPr/>
        </p:nvSpPr>
        <p:spPr>
          <a:xfrm>
            <a:off x="4385733" y="2309946"/>
            <a:ext cx="3420533" cy="516864"/>
          </a:xfrm>
          <a:prstGeom prst="roundRect">
            <a:avLst>
              <a:gd name="adj" fmla="val 12286"/>
            </a:avLst>
          </a:prstGeom>
          <a:solidFill>
            <a:srgbClr val="E0F1ED"/>
          </a:solidFill>
          <a:ln/>
        </p:spPr>
      </p:sp>
      <p:sp>
        <p:nvSpPr>
          <p:cNvPr id="35" name="Text 33"/>
          <p:cNvSpPr/>
          <p:nvPr/>
        </p:nvSpPr>
        <p:spPr>
          <a:xfrm>
            <a:off x="4487333"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KAIzen</a:t>
            </a:r>
            <a:endParaRPr lang="en-US" sz="1400" dirty="0"/>
          </a:p>
        </p:txBody>
      </p:sp>
      <p:sp>
        <p:nvSpPr>
          <p:cNvPr id="36" name="Text 34"/>
          <p:cNvSpPr/>
          <p:nvPr/>
        </p:nvSpPr>
        <p:spPr>
          <a:xfrm>
            <a:off x="4487333"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Create, run and self-heal scripts</a:t>
            </a:r>
            <a:endParaRPr lang="en-US" sz="1200" dirty="0"/>
          </a:p>
        </p:txBody>
      </p:sp>
      <p:sp>
        <p:nvSpPr>
          <p:cNvPr id="37" name="Shape 35"/>
          <p:cNvSpPr/>
          <p:nvPr/>
        </p:nvSpPr>
        <p:spPr>
          <a:xfrm>
            <a:off x="4385733" y="2890310"/>
            <a:ext cx="3420533" cy="516864"/>
          </a:xfrm>
          <a:prstGeom prst="roundRect">
            <a:avLst>
              <a:gd name="adj" fmla="val 12286"/>
            </a:avLst>
          </a:prstGeom>
          <a:solidFill>
            <a:srgbClr val="E0F1ED"/>
          </a:solidFill>
          <a:ln/>
        </p:spPr>
      </p:sp>
      <p:sp>
        <p:nvSpPr>
          <p:cNvPr id="38" name="Text 36"/>
          <p:cNvSpPr/>
          <p:nvPr/>
        </p:nvSpPr>
        <p:spPr>
          <a:xfrm>
            <a:off x="4487333"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UFS Forge</a:t>
            </a:r>
            <a:endParaRPr lang="en-US" sz="1400" dirty="0"/>
          </a:p>
        </p:txBody>
      </p:sp>
      <p:sp>
        <p:nvSpPr>
          <p:cNvPr id="39" name="Text 37"/>
          <p:cNvSpPr/>
          <p:nvPr/>
        </p:nvSpPr>
        <p:spPr>
          <a:xfrm>
            <a:off x="4487333"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On-device AI stress &amp; UFS workloads</a:t>
            </a:r>
            <a:endParaRPr lang="en-US" sz="1200" dirty="0"/>
          </a:p>
        </p:txBody>
      </p:sp>
      <p:sp>
        <p:nvSpPr>
          <p:cNvPr id="40" name="Shape 38"/>
          <p:cNvSpPr/>
          <p:nvPr/>
        </p:nvSpPr>
        <p:spPr>
          <a:xfrm>
            <a:off x="8060267"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41" name="Text 39"/>
          <p:cNvSpPr/>
          <p:nvPr/>
        </p:nvSpPr>
        <p:spPr>
          <a:xfrm>
            <a:off x="8187267" y="1452761"/>
            <a:ext cx="202319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4530A"/>
                </a:solidFill>
                <a:latin typeface="IBM Plex Sans" pitchFamily="34" charset="0"/>
                <a:ea typeface="IBM Plex Sans" pitchFamily="34" charset="-122"/>
                <a:cs typeface="IBM Plex Sans" pitchFamily="34" charset="-120"/>
              </a:rPr>
              <a:t>C · FIND ROOT CAUSE</a:t>
            </a:r>
            <a:endParaRPr lang="en-US" sz="1200" dirty="0"/>
          </a:p>
        </p:txBody>
      </p:sp>
      <p:sp>
        <p:nvSpPr>
          <p:cNvPr id="42" name="Text 40"/>
          <p:cNvSpPr/>
          <p:nvPr/>
        </p:nvSpPr>
        <p:spPr>
          <a:xfrm>
            <a:off x="10774429"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P5–P6</a:t>
            </a:r>
            <a:endParaRPr lang="en-US" sz="1200" dirty="0"/>
          </a:p>
        </p:txBody>
      </p:sp>
      <p:sp>
        <p:nvSpPr>
          <p:cNvPr id="43" name="Shape 41"/>
          <p:cNvSpPr/>
          <p:nvPr/>
        </p:nvSpPr>
        <p:spPr>
          <a:xfrm>
            <a:off x="8187267" y="1729581"/>
            <a:ext cx="3420533" cy="516864"/>
          </a:xfrm>
          <a:prstGeom prst="roundRect">
            <a:avLst>
              <a:gd name="adj" fmla="val 12286"/>
            </a:avLst>
          </a:prstGeom>
          <a:solidFill>
            <a:srgbClr val="FAEBDF"/>
          </a:solidFill>
          <a:ln/>
        </p:spPr>
      </p:sp>
      <p:sp>
        <p:nvSpPr>
          <p:cNvPr id="44" name="Text 42"/>
          <p:cNvSpPr/>
          <p:nvPr/>
        </p:nvSpPr>
        <p:spPr>
          <a:xfrm>
            <a:off x="8288867"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SHIELD</a:t>
            </a:r>
            <a:endParaRPr lang="en-US" sz="1400" dirty="0"/>
          </a:p>
        </p:txBody>
      </p:sp>
      <p:sp>
        <p:nvSpPr>
          <p:cNvPr id="45" name="Text 43"/>
          <p:cNvSpPr/>
          <p:nvPr/>
        </p:nvSpPr>
        <p:spPr>
          <a:xfrm>
            <a:off x="8288867"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Host event &amp; log decoder + AI agent</a:t>
            </a:r>
            <a:endParaRPr lang="en-US" sz="1200" dirty="0"/>
          </a:p>
        </p:txBody>
      </p:sp>
      <p:sp>
        <p:nvSpPr>
          <p:cNvPr id="46" name="Shape 44"/>
          <p:cNvSpPr/>
          <p:nvPr/>
        </p:nvSpPr>
        <p:spPr>
          <a:xfrm>
            <a:off x="8187267" y="2309946"/>
            <a:ext cx="3420533" cy="516864"/>
          </a:xfrm>
          <a:prstGeom prst="roundRect">
            <a:avLst>
              <a:gd name="adj" fmla="val 12286"/>
            </a:avLst>
          </a:prstGeom>
          <a:solidFill>
            <a:srgbClr val="FAEBDF"/>
          </a:solidFill>
          <a:ln/>
        </p:spPr>
      </p:sp>
      <p:sp>
        <p:nvSpPr>
          <p:cNvPr id="47" name="Text 45"/>
          <p:cNvSpPr/>
          <p:nvPr/>
        </p:nvSpPr>
        <p:spPr>
          <a:xfrm>
            <a:off x="8288867"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iUTA</a:t>
            </a:r>
            <a:endParaRPr lang="en-US" sz="1400" dirty="0"/>
          </a:p>
        </p:txBody>
      </p:sp>
      <p:sp>
        <p:nvSpPr>
          <p:cNvPr id="48" name="Text 46"/>
          <p:cNvSpPr/>
          <p:nvPr/>
        </p:nvSpPr>
        <p:spPr>
          <a:xfrm>
            <a:off x="8288867"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AI-enabled failure analysis</a:t>
            </a:r>
            <a:endParaRPr lang="en-US" sz="1200" dirty="0"/>
          </a:p>
        </p:txBody>
      </p:sp>
      <p:sp>
        <p:nvSpPr>
          <p:cNvPr id="49" name="Shape 47"/>
          <p:cNvSpPr/>
          <p:nvPr/>
        </p:nvSpPr>
        <p:spPr>
          <a:xfrm>
            <a:off x="8187267" y="2890310"/>
            <a:ext cx="3420533" cy="516864"/>
          </a:xfrm>
          <a:prstGeom prst="roundRect">
            <a:avLst>
              <a:gd name="adj" fmla="val 12286"/>
            </a:avLst>
          </a:prstGeom>
          <a:solidFill>
            <a:srgbClr val="FAEBDF"/>
          </a:solidFill>
          <a:ln/>
        </p:spPr>
      </p:sp>
      <p:sp>
        <p:nvSpPr>
          <p:cNvPr id="50" name="Text 48"/>
          <p:cNvSpPr/>
          <p:nvPr/>
        </p:nvSpPr>
        <p:spPr>
          <a:xfrm>
            <a:off x="8288867"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RootLens</a:t>
            </a:r>
            <a:endParaRPr lang="en-US" sz="1400" dirty="0"/>
          </a:p>
        </p:txBody>
      </p:sp>
      <p:sp>
        <p:nvSpPr>
          <p:cNvPr id="51" name="Text 49"/>
          <p:cNvSpPr/>
          <p:nvPr/>
        </p:nvSpPr>
        <p:spPr>
          <a:xfrm>
            <a:off x="8288867"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failure-analysis workflow</a:t>
            </a:r>
            <a:endParaRPr lang="en-US" sz="1200" dirty="0"/>
          </a:p>
        </p:txBody>
      </p:sp>
      <p:sp>
        <p:nvSpPr>
          <p:cNvPr id="52" name="Shape 50"/>
          <p:cNvSpPr/>
          <p:nvPr/>
        </p:nvSpPr>
        <p:spPr>
          <a:xfrm>
            <a:off x="457200" y="3648472"/>
            <a:ext cx="11277600" cy="918104"/>
          </a:xfrm>
          <a:prstGeom prst="roundRect">
            <a:avLst>
              <a:gd name="adj" fmla="val 9683"/>
            </a:avLst>
          </a:prstGeom>
          <a:solidFill>
            <a:srgbClr val="0F1B3D"/>
          </a:solidFill>
          <a:ln/>
        </p:spPr>
      </p:sp>
      <p:sp>
        <p:nvSpPr>
          <p:cNvPr id="53" name="Text 51"/>
          <p:cNvSpPr/>
          <p:nvPr/>
        </p:nvSpPr>
        <p:spPr>
          <a:xfrm>
            <a:off x="609600" y="375007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FOUNDATION</a:t>
            </a:r>
            <a:endParaRPr lang="en-US" sz="1200" dirty="0"/>
          </a:p>
        </p:txBody>
      </p:sp>
      <p:sp>
        <p:nvSpPr>
          <p:cNvPr id="54" name="Text 52"/>
          <p:cNvSpPr/>
          <p:nvPr/>
        </p:nvSpPr>
        <p:spPr>
          <a:xfrm>
            <a:off x="609600" y="3976092"/>
            <a:ext cx="1962150" cy="28826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5F8"/>
                </a:solidFill>
                <a:latin typeface="Manrope" pitchFamily="34" charset="0"/>
                <a:ea typeface="Manrope" pitchFamily="34" charset="-122"/>
                <a:cs typeface="Manrope" pitchFamily="34" charset="-120"/>
              </a:rPr>
              <a:t>Zion platform</a:t>
            </a:r>
            <a:endParaRPr lang="en-US" sz="1800" dirty="0"/>
          </a:p>
        </p:txBody>
      </p:sp>
      <p:sp>
        <p:nvSpPr>
          <p:cNvPr id="55" name="Text 53"/>
          <p:cNvSpPr/>
          <p:nvPr/>
        </p:nvSpPr>
        <p:spPr>
          <a:xfrm>
            <a:off x="609600" y="4251657"/>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6"/>
                </a:solidFill>
                <a:latin typeface="IBM Plex Sans" pitchFamily="34" charset="0"/>
                <a:ea typeface="IBM Plex Sans" pitchFamily="34" charset="-122"/>
                <a:cs typeface="IBM Plex Sans" pitchFamily="34" charset="-120"/>
              </a:rPr>
              <a:t>Every solution runs on it</a:t>
            </a:r>
            <a:endParaRPr lang="en-US" sz="1200" dirty="0"/>
          </a:p>
        </p:txBody>
      </p:sp>
      <p:sp>
        <p:nvSpPr>
          <p:cNvPr id="56" name="Text 54"/>
          <p:cNvSpPr/>
          <p:nvPr/>
        </p:nvSpPr>
        <p:spPr>
          <a:xfrm>
            <a:off x="2692400" y="3824356"/>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AI layers</a:t>
            </a:r>
            <a:endParaRPr lang="en-US" sz="1200" dirty="0"/>
          </a:p>
        </p:txBody>
      </p:sp>
      <p:sp>
        <p:nvSpPr>
          <p:cNvPr id="57" name="Text 55"/>
          <p:cNvSpPr/>
          <p:nvPr/>
        </p:nvSpPr>
        <p:spPr>
          <a:xfrm>
            <a:off x="3708400" y="3786256"/>
            <a:ext cx="1605492" cy="289520"/>
          </a:xfrm>
          <a:custGeom>
            <a:avLst/>
            <a:gdLst/>
            <a:ahLst/>
            <a:cxnLst/>
            <a:rect l="l" t="t" r="r" b="b"/>
            <a:pathLst>
              <a:path w="1605492" h="289520">
                <a:moveTo>
                  <a:pt x="144760" y="0"/>
                </a:moveTo>
                <a:lnTo>
                  <a:pt x="1460732" y="0"/>
                </a:lnTo>
                <a:arcTo hR="144760" wR="144760" stAng="16200000" swAng="5400000"/>
                <a:lnTo>
                  <a:pt x="16054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Governed workflows</a:t>
            </a:r>
            <a:endParaRPr lang="en-US" sz="1200" dirty="0"/>
          </a:p>
        </p:txBody>
      </p:sp>
      <p:sp>
        <p:nvSpPr>
          <p:cNvPr id="58" name="Text 56"/>
          <p:cNvSpPr/>
          <p:nvPr/>
        </p:nvSpPr>
        <p:spPr>
          <a:xfrm>
            <a:off x="5377392" y="3786256"/>
            <a:ext cx="923925" cy="289520"/>
          </a:xfrm>
          <a:custGeom>
            <a:avLst/>
            <a:gdLst/>
            <a:ahLst/>
            <a:cxnLst/>
            <a:rect l="l" t="t" r="r" b="b"/>
            <a:pathLst>
              <a:path w="923925" h="289520">
                <a:moveTo>
                  <a:pt x="144760" y="0"/>
                </a:moveTo>
                <a:lnTo>
                  <a:pt x="779165" y="0"/>
                </a:lnTo>
                <a:arcTo hR="144760" wR="144760" stAng="16200000" swAng="5400000"/>
                <a:lnTo>
                  <a:pt x="923925"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One portal</a:t>
            </a:r>
            <a:endParaRPr lang="en-US" sz="1200" dirty="0"/>
          </a:p>
        </p:txBody>
      </p:sp>
      <p:sp>
        <p:nvSpPr>
          <p:cNvPr id="59" name="Text 57"/>
          <p:cNvSpPr/>
          <p:nvPr/>
        </p:nvSpPr>
        <p:spPr>
          <a:xfrm>
            <a:off x="6364817" y="3786256"/>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60" name="Text 58"/>
          <p:cNvSpPr/>
          <p:nvPr/>
        </p:nvSpPr>
        <p:spPr>
          <a:xfrm>
            <a:off x="8651148" y="3786256"/>
            <a:ext cx="1376693" cy="289520"/>
          </a:xfrm>
          <a:custGeom>
            <a:avLst/>
            <a:gdLst/>
            <a:ahLst/>
            <a:cxnLst/>
            <a:rect l="l" t="t" r="r" b="b"/>
            <a:pathLst>
              <a:path w="1376693" h="289520">
                <a:moveTo>
                  <a:pt x="144760" y="0"/>
                </a:moveTo>
                <a:lnTo>
                  <a:pt x="1231933" y="0"/>
                </a:lnTo>
                <a:arcTo hR="144760" wR="144760" stAng="16200000" swAng="5400000"/>
                <a:lnTo>
                  <a:pt x="137669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Knowledge mesh</a:t>
            </a:r>
            <a:endParaRPr lang="en-US" sz="1200" dirty="0"/>
          </a:p>
        </p:txBody>
      </p:sp>
      <p:sp>
        <p:nvSpPr>
          <p:cNvPr id="61" name="Text 59"/>
          <p:cNvSpPr/>
          <p:nvPr/>
        </p:nvSpPr>
        <p:spPr>
          <a:xfrm>
            <a:off x="2692400" y="4177376"/>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Execution</a:t>
            </a:r>
            <a:endParaRPr lang="en-US" sz="1200" dirty="0"/>
          </a:p>
        </p:txBody>
      </p:sp>
      <p:sp>
        <p:nvSpPr>
          <p:cNvPr id="62" name="Text 60"/>
          <p:cNvSpPr/>
          <p:nvPr/>
        </p:nvSpPr>
        <p:spPr>
          <a:xfrm>
            <a:off x="3708400" y="4139276"/>
            <a:ext cx="1619052" cy="289520"/>
          </a:xfrm>
          <a:custGeom>
            <a:avLst/>
            <a:gdLst/>
            <a:ahLst/>
            <a:cxnLst/>
            <a:rect l="l" t="t" r="r" b="b"/>
            <a:pathLst>
              <a:path w="1619052" h="289520">
                <a:moveTo>
                  <a:pt x="144760" y="0"/>
                </a:moveTo>
                <a:lnTo>
                  <a:pt x="1474291" y="0"/>
                </a:lnTo>
                <a:arcTo hR="144760" wR="144760" stAng="16200000" swAng="5400000"/>
                <a:lnTo>
                  <a:pt x="161905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UTH automation hub</a:t>
            </a:r>
            <a:endParaRPr lang="en-US" sz="1200" dirty="0"/>
          </a:p>
        </p:txBody>
      </p:sp>
      <p:sp>
        <p:nvSpPr>
          <p:cNvPr id="63" name="Text 61"/>
          <p:cNvSpPr/>
          <p:nvPr/>
        </p:nvSpPr>
        <p:spPr>
          <a:xfrm>
            <a:off x="5390952" y="4139276"/>
            <a:ext cx="1684404" cy="289520"/>
          </a:xfrm>
          <a:custGeom>
            <a:avLst/>
            <a:gdLst/>
            <a:ahLst/>
            <a:cxnLst/>
            <a:rect l="l" t="t" r="r" b="b"/>
            <a:pathLst>
              <a:path w="1684404" h="289520">
                <a:moveTo>
                  <a:pt x="144760" y="0"/>
                </a:moveTo>
                <a:lnTo>
                  <a:pt x="1539644" y="0"/>
                </a:lnTo>
                <a:arcTo hR="144760" wR="144760" stAng="16200000" swAng="5400000"/>
                <a:lnTo>
                  <a:pt x="1684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LaaS lab-as-a-service</a:t>
            </a:r>
            <a:endParaRPr lang="en-US" sz="1200" dirty="0"/>
          </a:p>
        </p:txBody>
      </p:sp>
      <p:sp>
        <p:nvSpPr>
          <p:cNvPr id="64" name="Text 62"/>
          <p:cNvSpPr/>
          <p:nvPr/>
        </p:nvSpPr>
        <p:spPr>
          <a:xfrm>
            <a:off x="7138856" y="4139276"/>
            <a:ext cx="1135459" cy="289520"/>
          </a:xfrm>
          <a:custGeom>
            <a:avLst/>
            <a:gdLst/>
            <a:ahLst/>
            <a:cxnLst/>
            <a:rect l="l" t="t" r="r" b="b"/>
            <a:pathLst>
              <a:path w="1135459" h="289520">
                <a:moveTo>
                  <a:pt x="144760" y="0"/>
                </a:moveTo>
                <a:lnTo>
                  <a:pt x="990699" y="0"/>
                </a:lnTo>
                <a:arcTo hR="144760" wR="144760" stAng="16200000" swAng="5400000"/>
                <a:lnTo>
                  <a:pt x="1135459"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DSA analytics</a:t>
            </a:r>
            <a:endParaRPr lang="en-US" sz="1200" dirty="0"/>
          </a:p>
        </p:txBody>
      </p:sp>
      <p:sp>
        <p:nvSpPr>
          <p:cNvPr id="65" name="Text 63"/>
          <p:cNvSpPr/>
          <p:nvPr/>
        </p:nvSpPr>
        <p:spPr>
          <a:xfrm>
            <a:off x="8337815" y="4139276"/>
            <a:ext cx="800034" cy="289520"/>
          </a:xfrm>
          <a:custGeom>
            <a:avLst/>
            <a:gdLst/>
            <a:ahLst/>
            <a:cxnLst/>
            <a:rect l="l" t="t" r="r" b="b"/>
            <a:pathLst>
              <a:path w="800034" h="289520">
                <a:moveTo>
                  <a:pt x="144760" y="0"/>
                </a:moveTo>
                <a:lnTo>
                  <a:pt x="655274" y="0"/>
                </a:lnTo>
                <a:arcTo hR="144760" wR="144760" stAng="16200000" swAng="5400000"/>
                <a:lnTo>
                  <a:pt x="80003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Robotics</a:t>
            </a:r>
            <a:endParaRPr lang="en-US" sz="1200" dirty="0"/>
          </a:p>
        </p:txBody>
      </p:sp>
      <p:sp>
        <p:nvSpPr>
          <p:cNvPr id="66" name="Shape 64"/>
          <p:cNvSpPr/>
          <p:nvPr/>
        </p:nvSpPr>
        <p:spPr>
          <a:xfrm>
            <a:off x="457200" y="4680877"/>
            <a:ext cx="11277600" cy="579041"/>
          </a:xfrm>
          <a:prstGeom prst="roundRect">
            <a:avLst>
              <a:gd name="adj" fmla="val 13160"/>
            </a:avLst>
          </a:prstGeom>
          <a:solidFill>
            <a:srgbClr val="E7EBF2"/>
          </a:solidFill>
          <a:ln/>
        </p:spPr>
      </p:sp>
      <p:sp>
        <p:nvSpPr>
          <p:cNvPr id="67" name="Text 65"/>
          <p:cNvSpPr/>
          <p:nvPr/>
        </p:nvSpPr>
        <p:spPr>
          <a:xfrm>
            <a:off x="609600" y="4744377"/>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Specs</a:t>
            </a:r>
            <a:r>
              <a:rPr lang="en-US" sz="1200" dirty="0">
                <a:solidFill>
                  <a:srgbClr val="2E3750"/>
                </a:solidFill>
                <a:latin typeface="IBM Plex Sans" pitchFamily="34" charset="0"/>
                <a:ea typeface="IBM Plex Sans" pitchFamily="34" charset="-122"/>
                <a:cs typeface="IBM Plex Sans" pitchFamily="34" charset="-120"/>
              </a:rPr>
              <a:t> NVMe · SATA · UFS · eMMC · NVMe-MI · OAM · OCP · SPDM · PLDM · MCTP · TCG</a:t>
            </a:r>
            <a:endParaRPr lang="en-US" sz="1200" dirty="0"/>
          </a:p>
        </p:txBody>
      </p:sp>
      <p:sp>
        <p:nvSpPr>
          <p:cNvPr id="68" name="Text 66"/>
          <p:cNvSpPr/>
          <p:nvPr/>
        </p:nvSpPr>
        <p:spPr>
          <a:xfrm>
            <a:off x="609600" y="4983097"/>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Products</a:t>
            </a:r>
            <a:r>
              <a:rPr lang="en-US" sz="1200" dirty="0">
                <a:solidFill>
                  <a:srgbClr val="2E3750"/>
                </a:solidFill>
                <a:latin typeface="IBM Plex Sans" pitchFamily="34" charset="0"/>
                <a:ea typeface="IBM Plex Sans" pitchFamily="34" charset="-122"/>
                <a:cs typeface="IBM Plex Sans" pitchFamily="34" charset="-120"/>
              </a:rPr>
              <a:t> eMMC · UFS · Client SSD · PSSD · Enterprise SSD · DC SSD</a:t>
            </a:r>
            <a:endParaRPr lang="en-US" sz="1200" dirty="0"/>
          </a:p>
        </p:txBody>
      </p:sp>
      <p:sp>
        <p:nvSpPr>
          <p:cNvPr id="69" name="Shape 67"/>
          <p:cNvSpPr/>
          <p:nvPr/>
        </p:nvSpPr>
        <p:spPr>
          <a:xfrm>
            <a:off x="457200"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0" name="Text 68"/>
          <p:cNvSpPr/>
          <p:nvPr/>
        </p:nvSpPr>
        <p:spPr>
          <a:xfrm>
            <a:off x="596900"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DELIVERED</a:t>
            </a:r>
            <a:endParaRPr lang="en-US" sz="1200" dirty="0"/>
          </a:p>
        </p:txBody>
      </p:sp>
      <p:sp>
        <p:nvSpPr>
          <p:cNvPr id="71" name="Text 69"/>
          <p:cNvSpPr/>
          <p:nvPr/>
        </p:nvSpPr>
        <p:spPr>
          <a:xfrm>
            <a:off x="619506"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AI solutions across the STLC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Review Shield: ~2-min AI review per MR</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L3 benchmark defined and first run</a:t>
            </a:r>
            <a:endParaRPr lang="en-US" sz="1200" dirty="0"/>
          </a:p>
        </p:txBody>
      </p:sp>
      <p:sp>
        <p:nvSpPr>
          <p:cNvPr id="72" name="Shape 70"/>
          <p:cNvSpPr/>
          <p:nvPr/>
        </p:nvSpPr>
        <p:spPr>
          <a:xfrm>
            <a:off x="4258733"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3" name="Text 71"/>
          <p:cNvSpPr/>
          <p:nvPr/>
        </p:nvSpPr>
        <p:spPr>
          <a:xfrm>
            <a:off x="4398433"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74" name="Text 72"/>
          <p:cNvSpPr/>
          <p:nvPr/>
        </p:nvSpPr>
        <p:spPr>
          <a:xfrm>
            <a:off x="4421039"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AI work platform: find, use, reuse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FA: SHIELD · iUTA ·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all 6 product lines on Zion</a:t>
            </a:r>
            <a:endParaRPr lang="en-US" sz="1200" dirty="0"/>
          </a:p>
        </p:txBody>
      </p:sp>
      <p:sp>
        <p:nvSpPr>
          <p:cNvPr id="75" name="Shape 73"/>
          <p:cNvSpPr/>
          <p:nvPr/>
        </p:nvSpPr>
        <p:spPr>
          <a:xfrm>
            <a:off x="8060267"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6" name="Text 74"/>
          <p:cNvSpPr/>
          <p:nvPr/>
        </p:nvSpPr>
        <p:spPr>
          <a:xfrm>
            <a:off x="8199967"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ASKS OF HQ</a:t>
            </a:r>
            <a:endParaRPr lang="en-US" sz="1200" dirty="0"/>
          </a:p>
        </p:txBody>
      </p:sp>
      <p:sp>
        <p:nvSpPr>
          <p:cNvPr id="77" name="Text 75"/>
          <p:cNvSpPr/>
          <p:nvPr/>
        </p:nvSpPr>
        <p:spPr>
          <a:xfrm>
            <a:off x="8222573"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Joint collaborate / reuse backlog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GPU, LLM and storage capacity for AI</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Access to HQ spec and defect data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CORE OBJECTIVE · Y2027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One Sol PE AI work platform</a:t>
            </a:r>
            <a:endParaRPr lang="en-US" sz="3600" dirty="0"/>
          </a:p>
        </p:txBody>
      </p:sp>
      <p:sp>
        <p:nvSpPr>
          <p:cNvPr id="4" name="Text 2"/>
          <p:cNvSpPr/>
          <p:nvPr/>
        </p:nvSpPr>
        <p:spPr>
          <a:xfrm>
            <a:off x="711200" y="1302941"/>
            <a:ext cx="1109268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Connect our dispersed AI tools, skills and analysis logic around Sol PE tasks, so every engineer can discover, use and reuse the right AI function, improving efficiency and the quality of results together.</a:t>
            </a:r>
            <a:endParaRPr lang="en-US" sz="1500" dirty="0"/>
          </a:p>
        </p:txBody>
      </p:sp>
      <p:sp>
        <p:nvSpPr>
          <p:cNvPr id="5" name="Shape 3"/>
          <p:cNvSpPr/>
          <p:nvPr/>
        </p:nvSpPr>
        <p:spPr>
          <a:xfrm>
            <a:off x="711200" y="1976041"/>
            <a:ext cx="2286000" cy="2717469"/>
          </a:xfrm>
          <a:prstGeom prst="roundRect">
            <a:avLst>
              <a:gd name="adj" fmla="val 3889"/>
            </a:avLst>
          </a:prstGeom>
          <a:solidFill>
            <a:srgbClr val="E7EBF2"/>
          </a:solidFill>
          <a:ln/>
        </p:spPr>
      </p:sp>
      <p:sp>
        <p:nvSpPr>
          <p:cNvPr id="6" name="Text 4"/>
          <p:cNvSpPr/>
          <p:nvPr/>
        </p:nvSpPr>
        <p:spPr>
          <a:xfrm>
            <a:off x="876300" y="2128441"/>
            <a:ext cx="201447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TODAY · DISPERSED</a:t>
            </a:r>
            <a:endParaRPr lang="en-US" sz="1200" dirty="0"/>
          </a:p>
        </p:txBody>
      </p:sp>
      <p:sp>
        <p:nvSpPr>
          <p:cNvPr id="7" name="Text 5"/>
          <p:cNvSpPr/>
          <p:nvPr/>
        </p:nvSpPr>
        <p:spPr>
          <a:xfrm>
            <a:off x="898906" y="2417961"/>
            <a:ext cx="1986534"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solutions, 10 separate entry points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Prompts and skills kept in personal folders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Same logic rebuilt in grp1, grp2 and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Hard to see what already exists</a:t>
            </a:r>
            <a:endParaRPr lang="en-US" sz="1200" dirty="0"/>
          </a:p>
        </p:txBody>
      </p:sp>
      <p:pic>
        <p:nvPicPr>
          <p:cNvPr id="8" name="Image 0" descr="arrow-right">    </p:cNvPr>
          <p:cNvPicPr>
            <a:picLocks noChangeAspect="1"/>
          </p:cNvPicPr>
          <p:nvPr/>
        </p:nvPicPr>
        <p:blipFill>
          <a:blip r:embed="rId1"/>
          <a:srcRect l="0" r="0" t="0" b="0"/>
          <a:stretch/>
        </p:blipFill>
        <p:spPr>
          <a:xfrm>
            <a:off x="3149600" y="3207742"/>
            <a:ext cx="406400" cy="254000"/>
          </a:xfrm>
          <a:prstGeom prst="rect">
            <a:avLst/>
          </a:prstGeom>
        </p:spPr>
      </p:pic>
      <p:sp>
        <p:nvSpPr>
          <p:cNvPr id="9" name="Shape 6"/>
          <p:cNvSpPr/>
          <p:nvPr/>
        </p:nvSpPr>
        <p:spPr>
          <a:xfrm>
            <a:off x="37084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0" name="Text 7"/>
          <p:cNvSpPr/>
          <p:nvPr/>
        </p:nvSpPr>
        <p:spPr>
          <a:xfrm>
            <a:off x="38735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DISCOVER</a:t>
            </a:r>
            <a:endParaRPr lang="en-US" sz="1200" dirty="0"/>
          </a:p>
        </p:txBody>
      </p:sp>
      <p:sp>
        <p:nvSpPr>
          <p:cNvPr id="11" name="Text 8"/>
          <p:cNvSpPr/>
          <p:nvPr/>
        </p:nvSpPr>
        <p:spPr>
          <a:xfrm>
            <a:off x="38735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Find the right AI for the task</a:t>
            </a:r>
            <a:endParaRPr lang="en-US" sz="1400" dirty="0"/>
          </a:p>
        </p:txBody>
      </p:sp>
      <p:sp>
        <p:nvSpPr>
          <p:cNvPr id="12" name="Text 9"/>
          <p:cNvSpPr/>
          <p:nvPr/>
        </p:nvSpPr>
        <p:spPr>
          <a:xfrm>
            <a:off x="38961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catalog of every AI tool, skill and agent, by task and STLC phase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Search by task: decode this host log, find coverage gaps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Each entry shows owner, benchmark tier and how to use it</a:t>
            </a:r>
            <a:endParaRPr lang="en-US" sz="1200" dirty="0"/>
          </a:p>
        </p:txBody>
      </p:sp>
      <p:sp>
        <p:nvSpPr>
          <p:cNvPr id="13" name="Shape 10"/>
          <p:cNvSpPr/>
          <p:nvPr/>
        </p:nvSpPr>
        <p:spPr>
          <a:xfrm>
            <a:off x="63500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4" name="Text 11"/>
          <p:cNvSpPr/>
          <p:nvPr/>
        </p:nvSpPr>
        <p:spPr>
          <a:xfrm>
            <a:off x="65151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USE</a:t>
            </a:r>
            <a:endParaRPr lang="en-US" sz="1200" dirty="0"/>
          </a:p>
        </p:txBody>
      </p:sp>
      <p:sp>
        <p:nvSpPr>
          <p:cNvPr id="15" name="Text 12"/>
          <p:cNvSpPr/>
          <p:nvPr/>
        </p:nvSpPr>
        <p:spPr>
          <a:xfrm>
            <a:off x="65151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Use it where the work happens</a:t>
            </a:r>
            <a:endParaRPr lang="en-US" sz="1400" dirty="0"/>
          </a:p>
        </p:txBody>
      </p:sp>
      <p:sp>
        <p:nvSpPr>
          <p:cNvPr id="16" name="Text 13"/>
          <p:cNvSpPr/>
          <p:nvPr/>
        </p:nvSpPr>
        <p:spPr>
          <a:xfrm>
            <a:off x="6537706" y="2895402"/>
            <a:ext cx="2195830" cy="1465395"/>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sign-on across portal, chat, IDE and Zion consoles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Skills chain functions into task flows: log → triage → RCA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built in for irreversible steps</a:t>
            </a:r>
            <a:endParaRPr lang="en-US" sz="1200" dirty="0"/>
          </a:p>
        </p:txBody>
      </p:sp>
      <p:sp>
        <p:nvSpPr>
          <p:cNvPr id="17" name="Shape 14"/>
          <p:cNvSpPr/>
          <p:nvPr/>
        </p:nvSpPr>
        <p:spPr>
          <a:xfrm>
            <a:off x="89916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8" name="Text 15"/>
          <p:cNvSpPr/>
          <p:nvPr/>
        </p:nvSpPr>
        <p:spPr>
          <a:xfrm>
            <a:off x="91567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REUSE</a:t>
            </a:r>
            <a:endParaRPr lang="en-US" sz="1200" dirty="0"/>
          </a:p>
        </p:txBody>
      </p:sp>
      <p:sp>
        <p:nvSpPr>
          <p:cNvPr id="19" name="Text 16"/>
          <p:cNvSpPr/>
          <p:nvPr/>
        </p:nvSpPr>
        <p:spPr>
          <a:xfrm>
            <a:off x="91567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Build once, reuse everywhere</a:t>
            </a:r>
            <a:endParaRPr lang="en-US" sz="1400" dirty="0"/>
          </a:p>
        </p:txBody>
      </p:sp>
      <p:sp>
        <p:nvSpPr>
          <p:cNvPr id="20" name="Text 17"/>
          <p:cNvSpPr/>
          <p:nvPr/>
        </p:nvSpPr>
        <p:spPr>
          <a:xfrm>
            <a:off x="91793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Shared, versioned skills, prompts and analysis logic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Register before build: no duplicates across grp1, grp2,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Tier-1 functions become Sol PE standards, shareable with HQ</a:t>
            </a:r>
            <a:endParaRPr lang="en-US" sz="1200" dirty="0"/>
          </a:p>
        </p:txBody>
      </p:sp>
      <p:sp>
        <p:nvSpPr>
          <p:cNvPr id="21" name="Shape 18"/>
          <p:cNvSpPr/>
          <p:nvPr/>
        </p:nvSpPr>
        <p:spPr>
          <a:xfrm>
            <a:off x="711200" y="4871312"/>
            <a:ext cx="10769600" cy="871141"/>
          </a:xfrm>
          <a:prstGeom prst="roundRect">
            <a:avLst>
              <a:gd name="adj" fmla="val 10205"/>
            </a:avLst>
          </a:prstGeom>
          <a:solidFill>
            <a:srgbClr val="0F1B3D"/>
          </a:solidFill>
          <a:ln/>
        </p:spPr>
      </p:sp>
      <p:sp>
        <p:nvSpPr>
          <p:cNvPr id="22" name="Text 19"/>
          <p:cNvSpPr/>
          <p:nvPr/>
        </p:nvSpPr>
        <p:spPr>
          <a:xfrm>
            <a:off x="863600" y="5023712"/>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Built on Zion</a:t>
            </a:r>
            <a:endParaRPr lang="en-US" sz="1200" dirty="0"/>
          </a:p>
        </p:txBody>
      </p:sp>
      <p:sp>
        <p:nvSpPr>
          <p:cNvPr id="23" name="Text 20"/>
          <p:cNvSpPr/>
          <p:nvPr/>
        </p:nvSpPr>
        <p:spPr>
          <a:xfrm>
            <a:off x="2197100" y="4985612"/>
            <a:ext cx="1420746" cy="289520"/>
          </a:xfrm>
          <a:custGeom>
            <a:avLst/>
            <a:gdLst/>
            <a:ahLst/>
            <a:cxnLst/>
            <a:rect l="l" t="t" r="r" b="b"/>
            <a:pathLst>
              <a:path w="1420746" h="289520">
                <a:moveTo>
                  <a:pt x="144760" y="0"/>
                </a:moveTo>
                <a:lnTo>
                  <a:pt x="1275986" y="0"/>
                </a:lnTo>
                <a:arcTo hR="144760" wR="144760" stAng="16200000" swAng="5400000"/>
                <a:lnTo>
                  <a:pt x="142074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Capability catalog</a:t>
            </a:r>
            <a:endParaRPr lang="en-US" sz="1200" dirty="0"/>
          </a:p>
        </p:txBody>
      </p:sp>
      <p:sp>
        <p:nvSpPr>
          <p:cNvPr id="24" name="Text 21"/>
          <p:cNvSpPr/>
          <p:nvPr/>
        </p:nvSpPr>
        <p:spPr>
          <a:xfrm>
            <a:off x="3681347" y="4985612"/>
            <a:ext cx="1540404" cy="289520"/>
          </a:xfrm>
          <a:custGeom>
            <a:avLst/>
            <a:gdLst/>
            <a:ahLst/>
            <a:cxnLst/>
            <a:rect l="l" t="t" r="r" b="b"/>
            <a:pathLst>
              <a:path w="1540404" h="289520">
                <a:moveTo>
                  <a:pt x="144760" y="0"/>
                </a:moveTo>
                <a:lnTo>
                  <a:pt x="1395644" y="0"/>
                </a:lnTo>
                <a:arcTo hR="144760" wR="144760" stAng="16200000" swAng="5400000"/>
                <a:lnTo>
                  <a:pt x="1540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Task-centred portal</a:t>
            </a:r>
            <a:endParaRPr lang="en-US" sz="1200" dirty="0"/>
          </a:p>
        </p:txBody>
      </p:sp>
      <p:sp>
        <p:nvSpPr>
          <p:cNvPr id="25" name="Text 22"/>
          <p:cNvSpPr/>
          <p:nvPr/>
        </p:nvSpPr>
        <p:spPr>
          <a:xfrm>
            <a:off x="5285251" y="4985612"/>
            <a:ext cx="1721313" cy="289520"/>
          </a:xfrm>
          <a:custGeom>
            <a:avLst/>
            <a:gdLst/>
            <a:ahLst/>
            <a:cxnLst/>
            <a:rect l="l" t="t" r="r" b="b"/>
            <a:pathLst>
              <a:path w="1721313" h="289520">
                <a:moveTo>
                  <a:pt x="144760" y="0"/>
                </a:moveTo>
                <a:lnTo>
                  <a:pt x="1576553" y="0"/>
                </a:lnTo>
                <a:arcTo hR="144760" wR="144760" stAng="16200000" swAng="5400000"/>
                <a:lnTo>
                  <a:pt x="172131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Skills &amp; prompt library</a:t>
            </a:r>
            <a:endParaRPr lang="en-US" sz="1200" dirty="0"/>
          </a:p>
        </p:txBody>
      </p:sp>
      <p:sp>
        <p:nvSpPr>
          <p:cNvPr id="26" name="Text 23"/>
          <p:cNvSpPr/>
          <p:nvPr/>
        </p:nvSpPr>
        <p:spPr>
          <a:xfrm>
            <a:off x="7070064" y="4985612"/>
            <a:ext cx="1632148" cy="289520"/>
          </a:xfrm>
          <a:custGeom>
            <a:avLst/>
            <a:gdLst/>
            <a:ahLst/>
            <a:cxnLst/>
            <a:rect l="l" t="t" r="r" b="b"/>
            <a:pathLst>
              <a:path w="1632148" h="289520">
                <a:moveTo>
                  <a:pt x="144760" y="0"/>
                </a:moveTo>
                <a:lnTo>
                  <a:pt x="1487388" y="0"/>
                </a:lnTo>
                <a:arcTo hR="144760" wR="144760" stAng="16200000" swAng="5400000"/>
                <a:lnTo>
                  <a:pt x="163214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Shared analysis logic</a:t>
            </a:r>
            <a:endParaRPr lang="en-US" sz="1200" dirty="0"/>
          </a:p>
        </p:txBody>
      </p:sp>
      <p:sp>
        <p:nvSpPr>
          <p:cNvPr id="27" name="Text 24"/>
          <p:cNvSpPr/>
          <p:nvPr/>
        </p:nvSpPr>
        <p:spPr>
          <a:xfrm>
            <a:off x="8765712" y="4985612"/>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28" name="Text 25"/>
          <p:cNvSpPr/>
          <p:nvPr/>
        </p:nvSpPr>
        <p:spPr>
          <a:xfrm>
            <a:off x="863600" y="5376732"/>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Measured by</a:t>
            </a:r>
            <a:endParaRPr lang="en-US" sz="1200" dirty="0"/>
          </a:p>
        </p:txBody>
      </p:sp>
      <p:sp>
        <p:nvSpPr>
          <p:cNvPr id="29" name="Text 26"/>
          <p:cNvSpPr/>
          <p:nvPr/>
        </p:nvSpPr>
        <p:spPr>
          <a:xfrm>
            <a:off x="2197100" y="5338632"/>
            <a:ext cx="1689563" cy="289520"/>
          </a:xfrm>
          <a:custGeom>
            <a:avLst/>
            <a:gdLst/>
            <a:ahLst/>
            <a:cxnLst/>
            <a:rect l="l" t="t" r="r" b="b"/>
            <a:pathLst>
              <a:path w="1689563" h="289520">
                <a:moveTo>
                  <a:pt x="144760" y="0"/>
                </a:moveTo>
                <a:lnTo>
                  <a:pt x="1544803" y="0"/>
                </a:lnTo>
                <a:arcTo hR="144760" wR="144760" stAng="16200000" swAng="5400000"/>
                <a:lnTo>
                  <a:pt x="168956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Engineer-hours saved</a:t>
            </a:r>
            <a:endParaRPr lang="en-US" sz="1200" dirty="0"/>
          </a:p>
        </p:txBody>
      </p:sp>
      <p:sp>
        <p:nvSpPr>
          <p:cNvPr id="30" name="Text 27"/>
          <p:cNvSpPr/>
          <p:nvPr/>
        </p:nvSpPr>
        <p:spPr>
          <a:xfrm>
            <a:off x="3950163" y="5338632"/>
            <a:ext cx="1923984" cy="289520"/>
          </a:xfrm>
          <a:custGeom>
            <a:avLst/>
            <a:gdLst/>
            <a:ahLst/>
            <a:cxnLst/>
            <a:rect l="l" t="t" r="r" b="b"/>
            <a:pathLst>
              <a:path w="1923984" h="289520">
                <a:moveTo>
                  <a:pt x="144760" y="0"/>
                </a:moveTo>
                <a:lnTo>
                  <a:pt x="1779224" y="0"/>
                </a:lnTo>
                <a:arcTo hR="144760" wR="144760" stAng="16200000" swAng="5400000"/>
                <a:lnTo>
                  <a:pt x="1923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Reuse rate across groups</a:t>
            </a:r>
            <a:endParaRPr lang="en-US" sz="1200" dirty="0"/>
          </a:p>
        </p:txBody>
      </p:sp>
      <p:sp>
        <p:nvSpPr>
          <p:cNvPr id="31" name="Text 28"/>
          <p:cNvSpPr/>
          <p:nvPr/>
        </p:nvSpPr>
        <p:spPr>
          <a:xfrm>
            <a:off x="5937647" y="5338632"/>
            <a:ext cx="1886942" cy="289520"/>
          </a:xfrm>
          <a:custGeom>
            <a:avLst/>
            <a:gdLst/>
            <a:ahLst/>
            <a:cxnLst/>
            <a:rect l="l" t="t" r="r" b="b"/>
            <a:pathLst>
              <a:path w="1886942" h="289520">
                <a:moveTo>
                  <a:pt x="144760" y="0"/>
                </a:moveTo>
                <a:lnTo>
                  <a:pt x="1742182" y="0"/>
                </a:lnTo>
                <a:arcTo hR="144760" wR="144760" stAng="16200000" swAng="5400000"/>
                <a:lnTo>
                  <a:pt x="188694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Accept-without-edit rate</a:t>
            </a:r>
            <a:endParaRPr lang="en-US" sz="1200" dirty="0"/>
          </a:p>
        </p:txBody>
      </p:sp>
      <p:sp>
        <p:nvSpPr>
          <p:cNvPr id="32" name="Text 29"/>
          <p:cNvSpPr/>
          <p:nvPr/>
        </p:nvSpPr>
        <p:spPr>
          <a:xfrm>
            <a:off x="7888089" y="5338632"/>
            <a:ext cx="1892102" cy="289520"/>
          </a:xfrm>
          <a:custGeom>
            <a:avLst/>
            <a:gdLst/>
            <a:ahLst/>
            <a:cxnLst/>
            <a:rect l="l" t="t" r="r" b="b"/>
            <a:pathLst>
              <a:path w="1892102" h="289520">
                <a:moveTo>
                  <a:pt x="144760" y="0"/>
                </a:moveTo>
                <a:lnTo>
                  <a:pt x="1747341" y="0"/>
                </a:lnTo>
                <a:arcTo hR="144760" wR="144760" stAng="16200000" swAng="5400000"/>
                <a:lnTo>
                  <a:pt x="189210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Tier-1 certified functions</a:t>
            </a:r>
            <a:endParaRPr lang="en-US" sz="1200" dirty="0"/>
          </a:p>
        </p:txBody>
      </p:sp>
      <p:sp>
        <p:nvSpPr>
          <p:cNvPr id="33" name="Text 3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4" name="Text 3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05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609600" y="406400"/>
            <a:ext cx="744738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STLC ALIGNMENT</a:t>
            </a:r>
            <a:endParaRPr lang="en-US" sz="1200" dirty="0"/>
          </a:p>
        </p:txBody>
      </p:sp>
      <p:sp>
        <p:nvSpPr>
          <p:cNvPr id="3" name="Text 1"/>
          <p:cNvSpPr/>
          <p:nvPr>
            <p:ph type="title"/>
          </p:nvPr>
        </p:nvSpPr>
        <p:spPr>
          <a:xfrm>
            <a:off x="609600" y="670520"/>
            <a:ext cx="8676561"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3D"/>
                </a:solidFill>
                <a:latin typeface="Manrope" pitchFamily="34" charset="0"/>
                <a:ea typeface="Manrope" pitchFamily="34" charset="-122"/>
                <a:cs typeface="Manrope" pitchFamily="34" charset="-120"/>
              </a:rPr>
              <a:t>Ten solutions across the ten STLC phases</a:t>
            </a:r>
            <a:endParaRPr lang="en-US" sz="2800" dirty="0"/>
          </a:p>
        </p:txBody>
      </p:sp>
      <p:pic>
        <p:nvPicPr>
          <p:cNvPr id="4" name="Image 0" descr="primary marker">    </p:cNvPr>
          <p:cNvPicPr>
            <a:picLocks noChangeAspect="1"/>
          </p:cNvPicPr>
          <p:nvPr/>
        </p:nvPicPr>
        <p:blipFill>
          <a:blip r:embed="rId1"/>
          <a:srcRect l="0" r="0" t="0" b="0"/>
          <a:stretch/>
        </p:blipFill>
        <p:spPr>
          <a:xfrm>
            <a:off x="9662187" y="853349"/>
            <a:ext cx="203200" cy="203200"/>
          </a:xfrm>
          <a:prstGeom prst="rect">
            <a:avLst/>
          </a:prstGeom>
        </p:spPr>
      </p:pic>
      <p:sp>
        <p:nvSpPr>
          <p:cNvPr id="5" name="Text 2"/>
          <p:cNvSpPr/>
          <p:nvPr/>
        </p:nvSpPr>
        <p:spPr>
          <a:xfrm>
            <a:off x="9941587" y="848320"/>
            <a:ext cx="6090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Primary</a:t>
            </a:r>
            <a:endParaRPr lang="en-US" sz="1200" dirty="0"/>
          </a:p>
        </p:txBody>
      </p:sp>
      <p:pic>
        <p:nvPicPr>
          <p:cNvPr id="6" name="Image 1" descr="supporting marker">    </p:cNvPr>
          <p:cNvPicPr>
            <a:picLocks noChangeAspect="1"/>
          </p:cNvPicPr>
          <p:nvPr/>
        </p:nvPicPr>
        <p:blipFill>
          <a:blip r:embed="rId2"/>
          <a:srcRect l="0" r="0" t="0" b="0"/>
          <a:stretch/>
        </p:blipFill>
        <p:spPr>
          <a:xfrm>
            <a:off x="10550592" y="853349"/>
            <a:ext cx="203200" cy="203200"/>
          </a:xfrm>
          <a:prstGeom prst="rect">
            <a:avLst/>
          </a:prstGeom>
        </p:spPr>
      </p:pic>
      <p:sp>
        <p:nvSpPr>
          <p:cNvPr id="7" name="Text 3"/>
          <p:cNvSpPr/>
          <p:nvPr/>
        </p:nvSpPr>
        <p:spPr>
          <a:xfrm>
            <a:off x="10829992" y="848320"/>
            <a:ext cx="9028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Supporting</a:t>
            </a:r>
            <a:endParaRPr lang="en-US" sz="1200" dirty="0"/>
          </a:p>
        </p:txBody>
      </p:sp>
      <p:sp>
        <p:nvSpPr>
          <p:cNvPr id="8" name="Text 4"/>
          <p:cNvSpPr/>
          <p:nvPr/>
        </p:nvSpPr>
        <p:spPr>
          <a:xfrm>
            <a:off x="749300" y="1393099"/>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Solution</a:t>
            </a:r>
            <a:endParaRPr lang="en-US" sz="1200" dirty="0"/>
          </a:p>
        </p:txBody>
      </p:sp>
      <p:sp>
        <p:nvSpPr>
          <p:cNvPr id="9" name="Text 5"/>
          <p:cNvSpPr/>
          <p:nvPr/>
        </p:nvSpPr>
        <p:spPr>
          <a:xfrm>
            <a:off x="2552700" y="1163241"/>
            <a:ext cx="902957" cy="6731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Req analysis</a:t>
            </a:r>
            <a:endParaRPr lang="en-US" sz="1200" dirty="0"/>
          </a:p>
        </p:txBody>
      </p:sp>
      <p:sp>
        <p:nvSpPr>
          <p:cNvPr id="10" name="Text 6"/>
          <p:cNvSpPr/>
          <p:nvPr/>
        </p:nvSpPr>
        <p:spPr>
          <a:xfrm>
            <a:off x="3455657"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P2</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planning</a:t>
            </a:r>
            <a:endParaRPr lang="en-US" sz="1200" dirty="0"/>
          </a:p>
        </p:txBody>
      </p:sp>
      <p:sp>
        <p:nvSpPr>
          <p:cNvPr id="11" name="Text 7"/>
          <p:cNvSpPr/>
          <p:nvPr/>
        </p:nvSpPr>
        <p:spPr>
          <a:xfrm>
            <a:off x="4358614"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P3</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design</a:t>
            </a:r>
            <a:endParaRPr lang="en-US" sz="1200" dirty="0"/>
          </a:p>
        </p:txBody>
      </p:sp>
      <p:sp>
        <p:nvSpPr>
          <p:cNvPr id="12" name="Text 8"/>
          <p:cNvSpPr/>
          <p:nvPr/>
        </p:nvSpPr>
        <p:spPr>
          <a:xfrm>
            <a:off x="5261570"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P4</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Env setup</a:t>
            </a:r>
            <a:endParaRPr lang="en-US" sz="1200" dirty="0"/>
          </a:p>
        </p:txBody>
      </p:sp>
      <p:sp>
        <p:nvSpPr>
          <p:cNvPr id="13" name="Text 9"/>
          <p:cNvSpPr/>
          <p:nvPr/>
        </p:nvSpPr>
        <p:spPr>
          <a:xfrm>
            <a:off x="6164527" y="1258491"/>
            <a:ext cx="903023"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P5</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Execution</a:t>
            </a:r>
            <a:endParaRPr lang="en-US" sz="1200" dirty="0"/>
          </a:p>
        </p:txBody>
      </p:sp>
      <p:sp>
        <p:nvSpPr>
          <p:cNvPr id="14" name="Text 10"/>
          <p:cNvSpPr/>
          <p:nvPr/>
        </p:nvSpPr>
        <p:spPr>
          <a:xfrm>
            <a:off x="7067550"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P6</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Defect mgmt</a:t>
            </a:r>
            <a:endParaRPr lang="en-US" sz="1200" dirty="0"/>
          </a:p>
        </p:txBody>
      </p:sp>
      <p:sp>
        <p:nvSpPr>
          <p:cNvPr id="15" name="Text 11"/>
          <p:cNvSpPr/>
          <p:nvPr/>
        </p:nvSpPr>
        <p:spPr>
          <a:xfrm>
            <a:off x="7970507"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P7</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Reporting</a:t>
            </a:r>
            <a:endParaRPr lang="en-US" sz="1200" dirty="0"/>
          </a:p>
        </p:txBody>
      </p:sp>
      <p:sp>
        <p:nvSpPr>
          <p:cNvPr id="16" name="Text 12"/>
          <p:cNvSpPr/>
          <p:nvPr/>
        </p:nvSpPr>
        <p:spPr>
          <a:xfrm>
            <a:off x="8873464"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P8</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Closure</a:t>
            </a:r>
            <a:endParaRPr lang="en-US" sz="1200" dirty="0"/>
          </a:p>
        </p:txBody>
      </p:sp>
      <p:sp>
        <p:nvSpPr>
          <p:cNvPr id="17" name="Text 13"/>
          <p:cNvSpPr/>
          <p:nvPr/>
        </p:nvSpPr>
        <p:spPr>
          <a:xfrm>
            <a:off x="9776420"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P9</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Release</a:t>
            </a:r>
            <a:endParaRPr lang="en-US" sz="1200" dirty="0"/>
          </a:p>
        </p:txBody>
      </p:sp>
      <p:sp>
        <p:nvSpPr>
          <p:cNvPr id="18" name="Text 14"/>
          <p:cNvSpPr/>
          <p:nvPr/>
        </p:nvSpPr>
        <p:spPr>
          <a:xfrm>
            <a:off x="10679378" y="1309291"/>
            <a:ext cx="903023"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P10</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Post release</a:t>
            </a:r>
            <a:endParaRPr lang="en-US" sz="1200" dirty="0"/>
          </a:p>
        </p:txBody>
      </p:sp>
      <p:sp>
        <p:nvSpPr>
          <p:cNvPr id="19" name="Shape 15"/>
          <p:cNvSpPr/>
          <p:nvPr/>
        </p:nvSpPr>
        <p:spPr>
          <a:xfrm>
            <a:off x="628650" y="1836341"/>
            <a:ext cx="0" cy="292100"/>
          </a:xfrm>
          <a:prstGeom prst="line">
            <a:avLst/>
          </a:prstGeom>
          <a:noFill/>
          <a:ln w="38100">
            <a:solidFill>
              <a:srgbClr val="1E4FD8"/>
            </a:solidFill>
            <a:prstDash val="solid"/>
          </a:ln>
        </p:spPr>
      </p:sp>
      <p:sp>
        <p:nvSpPr>
          <p:cNvPr id="20" name="Text 16"/>
          <p:cNvSpPr/>
          <p:nvPr/>
        </p:nvSpPr>
        <p:spPr>
          <a:xfrm>
            <a:off x="749300" y="18668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SpecSpark</a:t>
            </a:r>
            <a:endParaRPr lang="en-US" sz="1300" dirty="0"/>
          </a:p>
        </p:txBody>
      </p:sp>
      <p:pic>
        <p:nvPicPr>
          <p:cNvPr id="21" name="Image 2" descr="phase markers">    </p:cNvPr>
          <p:cNvPicPr>
            <a:picLocks noChangeAspect="1"/>
          </p:cNvPicPr>
          <p:nvPr/>
        </p:nvPicPr>
        <p:blipFill>
          <a:blip r:embed="rId3"/>
          <a:srcRect l="0" r="0" t="-190" b="-190"/>
          <a:stretch/>
        </p:blipFill>
        <p:spPr>
          <a:xfrm>
            <a:off x="2552700" y="1836341"/>
            <a:ext cx="9029700" cy="292100"/>
          </a:xfrm>
          <a:prstGeom prst="rect">
            <a:avLst/>
          </a:prstGeom>
        </p:spPr>
      </p:pic>
      <p:sp>
        <p:nvSpPr>
          <p:cNvPr id="22" name="Shape 17"/>
          <p:cNvSpPr/>
          <p:nvPr/>
        </p:nvSpPr>
        <p:spPr>
          <a:xfrm>
            <a:off x="628650" y="2128441"/>
            <a:ext cx="0" cy="292100"/>
          </a:xfrm>
          <a:prstGeom prst="line">
            <a:avLst/>
          </a:prstGeom>
          <a:noFill/>
          <a:ln w="38100">
            <a:solidFill>
              <a:srgbClr val="1E4FD8"/>
            </a:solidFill>
            <a:prstDash val="solid"/>
          </a:ln>
        </p:spPr>
      </p:sp>
      <p:sp>
        <p:nvSpPr>
          <p:cNvPr id="23" name="Text 18"/>
          <p:cNvSpPr/>
          <p:nvPr/>
        </p:nvSpPr>
        <p:spPr>
          <a:xfrm>
            <a:off x="749300" y="21589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Combinatorial</a:t>
            </a:r>
            <a:endParaRPr lang="en-US" sz="1300" dirty="0"/>
          </a:p>
        </p:txBody>
      </p:sp>
      <p:pic>
        <p:nvPicPr>
          <p:cNvPr id="24" name="Image 3" descr="phase markers">    </p:cNvPr>
          <p:cNvPicPr>
            <a:picLocks noChangeAspect="1"/>
          </p:cNvPicPr>
          <p:nvPr/>
        </p:nvPicPr>
        <p:blipFill>
          <a:blip r:embed="rId4"/>
          <a:srcRect l="0" r="0" t="-190" b="-190"/>
          <a:stretch/>
        </p:blipFill>
        <p:spPr>
          <a:xfrm>
            <a:off x="2552700" y="2128441"/>
            <a:ext cx="9029700" cy="292100"/>
          </a:xfrm>
          <a:prstGeom prst="rect">
            <a:avLst/>
          </a:prstGeom>
        </p:spPr>
      </p:pic>
      <p:sp>
        <p:nvSpPr>
          <p:cNvPr id="25" name="Shape 19"/>
          <p:cNvSpPr/>
          <p:nvPr/>
        </p:nvSpPr>
        <p:spPr>
          <a:xfrm>
            <a:off x="628650" y="2420541"/>
            <a:ext cx="0" cy="292100"/>
          </a:xfrm>
          <a:prstGeom prst="line">
            <a:avLst/>
          </a:prstGeom>
          <a:noFill/>
          <a:ln w="38100">
            <a:solidFill>
              <a:srgbClr val="1E4FD8"/>
            </a:solidFill>
            <a:prstDash val="solid"/>
          </a:ln>
        </p:spPr>
      </p:sp>
      <p:sp>
        <p:nvSpPr>
          <p:cNvPr id="26" name="Text 20"/>
          <p:cNvSpPr/>
          <p:nvPr/>
        </p:nvSpPr>
        <p:spPr>
          <a:xfrm>
            <a:off x="749300" y="24510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CoverSight</a:t>
            </a:r>
            <a:endParaRPr lang="en-US" sz="1300" dirty="0"/>
          </a:p>
        </p:txBody>
      </p:sp>
      <p:pic>
        <p:nvPicPr>
          <p:cNvPr id="27" name="Image 4" descr="phase markers">    </p:cNvPr>
          <p:cNvPicPr>
            <a:picLocks noChangeAspect="1"/>
          </p:cNvPicPr>
          <p:nvPr/>
        </p:nvPicPr>
        <p:blipFill>
          <a:blip r:embed="rId5"/>
          <a:srcRect l="0" r="0" t="-190" b="-190"/>
          <a:stretch/>
        </p:blipFill>
        <p:spPr>
          <a:xfrm>
            <a:off x="2552700" y="2420541"/>
            <a:ext cx="9029700" cy="292100"/>
          </a:xfrm>
          <a:prstGeom prst="rect">
            <a:avLst/>
          </a:prstGeom>
        </p:spPr>
      </p:pic>
      <p:sp>
        <p:nvSpPr>
          <p:cNvPr id="28" name="Shape 21"/>
          <p:cNvSpPr/>
          <p:nvPr/>
        </p:nvSpPr>
        <p:spPr>
          <a:xfrm>
            <a:off x="628650" y="2712641"/>
            <a:ext cx="0" cy="292100"/>
          </a:xfrm>
          <a:prstGeom prst="line">
            <a:avLst/>
          </a:prstGeom>
          <a:noFill/>
          <a:ln w="38100">
            <a:solidFill>
              <a:srgbClr val="0B7A6F"/>
            </a:solidFill>
            <a:prstDash val="solid"/>
          </a:ln>
        </p:spPr>
      </p:sp>
      <p:sp>
        <p:nvSpPr>
          <p:cNvPr id="29" name="Text 22"/>
          <p:cNvSpPr/>
          <p:nvPr/>
        </p:nvSpPr>
        <p:spPr>
          <a:xfrm>
            <a:off x="749300" y="27431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Review Shield</a:t>
            </a:r>
            <a:endParaRPr lang="en-US" sz="1300" dirty="0"/>
          </a:p>
        </p:txBody>
      </p:sp>
      <p:pic>
        <p:nvPicPr>
          <p:cNvPr id="30" name="Image 5" descr="phase markers">    </p:cNvPr>
          <p:cNvPicPr>
            <a:picLocks noChangeAspect="1"/>
          </p:cNvPicPr>
          <p:nvPr/>
        </p:nvPicPr>
        <p:blipFill>
          <a:blip r:embed="rId6"/>
          <a:srcRect l="0" r="0" t="-190" b="-190"/>
          <a:stretch/>
        </p:blipFill>
        <p:spPr>
          <a:xfrm>
            <a:off x="2552700" y="2712641"/>
            <a:ext cx="9029700" cy="292100"/>
          </a:xfrm>
          <a:prstGeom prst="rect">
            <a:avLst/>
          </a:prstGeom>
        </p:spPr>
      </p:pic>
      <p:sp>
        <p:nvSpPr>
          <p:cNvPr id="31" name="Shape 23"/>
          <p:cNvSpPr/>
          <p:nvPr/>
        </p:nvSpPr>
        <p:spPr>
          <a:xfrm>
            <a:off x="628650" y="3004741"/>
            <a:ext cx="0" cy="292100"/>
          </a:xfrm>
          <a:prstGeom prst="line">
            <a:avLst/>
          </a:prstGeom>
          <a:noFill/>
          <a:ln w="38100">
            <a:solidFill>
              <a:srgbClr val="0B7A6F"/>
            </a:solidFill>
            <a:prstDash val="solid"/>
          </a:ln>
        </p:spPr>
      </p:sp>
      <p:sp>
        <p:nvSpPr>
          <p:cNvPr id="32" name="Text 24"/>
          <p:cNvSpPr/>
          <p:nvPr/>
        </p:nvSpPr>
        <p:spPr>
          <a:xfrm>
            <a:off x="749300" y="30352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KAIzen</a:t>
            </a:r>
            <a:endParaRPr lang="en-US" sz="1300" dirty="0"/>
          </a:p>
        </p:txBody>
      </p:sp>
      <p:pic>
        <p:nvPicPr>
          <p:cNvPr id="33" name="Image 6" descr="phase markers">    </p:cNvPr>
          <p:cNvPicPr>
            <a:picLocks noChangeAspect="1"/>
          </p:cNvPicPr>
          <p:nvPr/>
        </p:nvPicPr>
        <p:blipFill>
          <a:blip r:embed="rId7"/>
          <a:srcRect l="0" r="0" t="-190" b="-190"/>
          <a:stretch/>
        </p:blipFill>
        <p:spPr>
          <a:xfrm>
            <a:off x="2552700" y="3004741"/>
            <a:ext cx="9029700" cy="292100"/>
          </a:xfrm>
          <a:prstGeom prst="rect">
            <a:avLst/>
          </a:prstGeom>
        </p:spPr>
      </p:pic>
      <p:sp>
        <p:nvSpPr>
          <p:cNvPr id="34" name="Shape 25"/>
          <p:cNvSpPr/>
          <p:nvPr/>
        </p:nvSpPr>
        <p:spPr>
          <a:xfrm>
            <a:off x="628650" y="3296841"/>
            <a:ext cx="0" cy="292100"/>
          </a:xfrm>
          <a:prstGeom prst="line">
            <a:avLst/>
          </a:prstGeom>
          <a:noFill/>
          <a:ln w="38100">
            <a:solidFill>
              <a:srgbClr val="0B7A6F"/>
            </a:solidFill>
            <a:prstDash val="solid"/>
          </a:ln>
        </p:spPr>
      </p:sp>
      <p:sp>
        <p:nvSpPr>
          <p:cNvPr id="35" name="Text 26"/>
          <p:cNvSpPr/>
          <p:nvPr/>
        </p:nvSpPr>
        <p:spPr>
          <a:xfrm>
            <a:off x="749300" y="33273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UFS Forge</a:t>
            </a:r>
            <a:endParaRPr lang="en-US" sz="1300" dirty="0"/>
          </a:p>
        </p:txBody>
      </p:sp>
      <p:pic>
        <p:nvPicPr>
          <p:cNvPr id="36" name="Image 7" descr="phase markers">    </p:cNvPr>
          <p:cNvPicPr>
            <a:picLocks noChangeAspect="1"/>
          </p:cNvPicPr>
          <p:nvPr/>
        </p:nvPicPr>
        <p:blipFill>
          <a:blip r:embed="rId8"/>
          <a:srcRect l="0" r="0" t="-190" b="-190"/>
          <a:stretch/>
        </p:blipFill>
        <p:spPr>
          <a:xfrm>
            <a:off x="2552700" y="3296841"/>
            <a:ext cx="9029700" cy="292100"/>
          </a:xfrm>
          <a:prstGeom prst="rect">
            <a:avLst/>
          </a:prstGeom>
        </p:spPr>
      </p:pic>
      <p:sp>
        <p:nvSpPr>
          <p:cNvPr id="37" name="Shape 27"/>
          <p:cNvSpPr/>
          <p:nvPr/>
        </p:nvSpPr>
        <p:spPr>
          <a:xfrm>
            <a:off x="628650" y="3588941"/>
            <a:ext cx="0" cy="292100"/>
          </a:xfrm>
          <a:prstGeom prst="line">
            <a:avLst/>
          </a:prstGeom>
          <a:noFill/>
          <a:ln w="38100">
            <a:solidFill>
              <a:srgbClr val="B4530A"/>
            </a:solidFill>
            <a:prstDash val="solid"/>
          </a:ln>
        </p:spPr>
      </p:sp>
      <p:sp>
        <p:nvSpPr>
          <p:cNvPr id="38" name="Text 28"/>
          <p:cNvSpPr/>
          <p:nvPr/>
        </p:nvSpPr>
        <p:spPr>
          <a:xfrm>
            <a:off x="749300" y="36194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SHIELD</a:t>
            </a:r>
            <a:endParaRPr lang="en-US" sz="1300" dirty="0"/>
          </a:p>
        </p:txBody>
      </p:sp>
      <p:pic>
        <p:nvPicPr>
          <p:cNvPr id="39" name="Image 8" descr="phase markers">    </p:cNvPr>
          <p:cNvPicPr>
            <a:picLocks noChangeAspect="1"/>
          </p:cNvPicPr>
          <p:nvPr/>
        </p:nvPicPr>
        <p:blipFill>
          <a:blip r:embed="rId9"/>
          <a:srcRect l="0" r="0" t="-190" b="-190"/>
          <a:stretch/>
        </p:blipFill>
        <p:spPr>
          <a:xfrm>
            <a:off x="2552700" y="3588941"/>
            <a:ext cx="9029700" cy="292100"/>
          </a:xfrm>
          <a:prstGeom prst="rect">
            <a:avLst/>
          </a:prstGeom>
        </p:spPr>
      </p:pic>
      <p:sp>
        <p:nvSpPr>
          <p:cNvPr id="40" name="Shape 29"/>
          <p:cNvSpPr/>
          <p:nvPr/>
        </p:nvSpPr>
        <p:spPr>
          <a:xfrm>
            <a:off x="628650" y="3881041"/>
            <a:ext cx="0" cy="292100"/>
          </a:xfrm>
          <a:prstGeom prst="line">
            <a:avLst/>
          </a:prstGeom>
          <a:noFill/>
          <a:ln w="38100">
            <a:solidFill>
              <a:srgbClr val="B4530A"/>
            </a:solidFill>
            <a:prstDash val="solid"/>
          </a:ln>
        </p:spPr>
      </p:sp>
      <p:sp>
        <p:nvSpPr>
          <p:cNvPr id="41" name="Text 30"/>
          <p:cNvSpPr/>
          <p:nvPr/>
        </p:nvSpPr>
        <p:spPr>
          <a:xfrm>
            <a:off x="749300" y="39115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iUTA</a:t>
            </a:r>
            <a:endParaRPr lang="en-US" sz="1300" dirty="0"/>
          </a:p>
        </p:txBody>
      </p:sp>
      <p:pic>
        <p:nvPicPr>
          <p:cNvPr id="42" name="Image 9" descr="phase markers">    </p:cNvPr>
          <p:cNvPicPr>
            <a:picLocks noChangeAspect="1"/>
          </p:cNvPicPr>
          <p:nvPr/>
        </p:nvPicPr>
        <p:blipFill>
          <a:blip r:embed="rId10"/>
          <a:srcRect l="0" r="0" t="-190" b="-190"/>
          <a:stretch/>
        </p:blipFill>
        <p:spPr>
          <a:xfrm>
            <a:off x="2552700" y="3881041"/>
            <a:ext cx="9029700" cy="292100"/>
          </a:xfrm>
          <a:prstGeom prst="rect">
            <a:avLst/>
          </a:prstGeom>
        </p:spPr>
      </p:pic>
      <p:sp>
        <p:nvSpPr>
          <p:cNvPr id="43" name="Shape 31"/>
          <p:cNvSpPr/>
          <p:nvPr/>
        </p:nvSpPr>
        <p:spPr>
          <a:xfrm>
            <a:off x="628650" y="4173141"/>
            <a:ext cx="0" cy="292100"/>
          </a:xfrm>
          <a:prstGeom prst="line">
            <a:avLst/>
          </a:prstGeom>
          <a:noFill/>
          <a:ln w="38100">
            <a:solidFill>
              <a:srgbClr val="B4530A"/>
            </a:solidFill>
            <a:prstDash val="solid"/>
          </a:ln>
        </p:spPr>
      </p:sp>
      <p:sp>
        <p:nvSpPr>
          <p:cNvPr id="44" name="Text 32"/>
          <p:cNvSpPr/>
          <p:nvPr/>
        </p:nvSpPr>
        <p:spPr>
          <a:xfrm>
            <a:off x="749300" y="42036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RootLens</a:t>
            </a:r>
            <a:endParaRPr lang="en-US" sz="1300" dirty="0"/>
          </a:p>
        </p:txBody>
      </p:sp>
      <p:pic>
        <p:nvPicPr>
          <p:cNvPr id="45" name="Image 10" descr="phase markers">    </p:cNvPr>
          <p:cNvPicPr>
            <a:picLocks noChangeAspect="1"/>
          </p:cNvPicPr>
          <p:nvPr/>
        </p:nvPicPr>
        <p:blipFill>
          <a:blip r:embed="rId11"/>
          <a:srcRect l="0" r="0" t="-190" b="-190"/>
          <a:stretch/>
        </p:blipFill>
        <p:spPr>
          <a:xfrm>
            <a:off x="2552700" y="4173141"/>
            <a:ext cx="9029700" cy="292100"/>
          </a:xfrm>
          <a:prstGeom prst="rect">
            <a:avLst/>
          </a:prstGeom>
        </p:spPr>
      </p:pic>
      <p:sp>
        <p:nvSpPr>
          <p:cNvPr id="46" name="Shape 33"/>
          <p:cNvSpPr/>
          <p:nvPr/>
        </p:nvSpPr>
        <p:spPr>
          <a:xfrm>
            <a:off x="628650" y="4465241"/>
            <a:ext cx="0" cy="314920"/>
          </a:xfrm>
          <a:prstGeom prst="line">
            <a:avLst/>
          </a:prstGeom>
          <a:noFill/>
          <a:ln w="38100">
            <a:solidFill>
              <a:srgbClr val="0F1B3D"/>
            </a:solidFill>
            <a:prstDash val="solid"/>
          </a:ln>
        </p:spPr>
      </p:sp>
      <p:sp>
        <p:nvSpPr>
          <p:cNvPr id="47" name="Text 34"/>
          <p:cNvSpPr/>
          <p:nvPr/>
        </p:nvSpPr>
        <p:spPr>
          <a:xfrm>
            <a:off x="749300" y="4507111"/>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Zion</a:t>
            </a:r>
            <a:endParaRPr lang="en-US" sz="1300" dirty="0"/>
          </a:p>
        </p:txBody>
      </p:sp>
      <p:sp>
        <p:nvSpPr>
          <p:cNvPr id="48" name="Text 35"/>
          <p:cNvSpPr/>
          <p:nvPr/>
        </p:nvSpPr>
        <p:spPr>
          <a:xfrm>
            <a:off x="2552700" y="4465241"/>
            <a:ext cx="9029700" cy="314920"/>
          </a:xfrm>
          <a:prstGeom prst="rect">
            <a:avLst/>
          </a:prstGeom>
          <a:solidFill>
            <a:srgbClr val="0F1B3D"/>
          </a:solidFill>
          <a:ln/>
        </p:spPr>
        <p:txBody>
          <a:bodyPr wrap="square" lIns="127000" tIns="50800" rIns="0" bIns="25400" rtlCol="0" anchor="t">
            <a:normAutofit/>
          </a:bodyPr>
          <a:lstStyle/>
          <a:p>
            <a:pPr algn="l"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Every phase: workflows · portal · agents · LLM gateway · knowledge mesh · UTH · LaaS · DSA · Robotics</a:t>
            </a:r>
            <a:endParaRPr lang="en-US" sz="1200" dirty="0"/>
          </a:p>
        </p:txBody>
      </p:sp>
      <p:sp>
        <p:nvSpPr>
          <p:cNvPr id="49" name="Text 36"/>
          <p:cNvSpPr/>
          <p:nvPr/>
        </p:nvSpPr>
        <p:spPr>
          <a:xfrm>
            <a:off x="749300" y="48576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Primary count</a:t>
            </a:r>
            <a:endParaRPr lang="en-US" sz="1200" dirty="0"/>
          </a:p>
        </p:txBody>
      </p:sp>
      <p:sp>
        <p:nvSpPr>
          <p:cNvPr id="50" name="Text 37"/>
          <p:cNvSpPr/>
          <p:nvPr/>
        </p:nvSpPr>
        <p:spPr>
          <a:xfrm>
            <a:off x="252730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1" name="Text 38"/>
          <p:cNvSpPr/>
          <p:nvPr/>
        </p:nvSpPr>
        <p:spPr>
          <a:xfrm>
            <a:off x="343025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2" name="Text 39"/>
          <p:cNvSpPr/>
          <p:nvPr/>
        </p:nvSpPr>
        <p:spPr>
          <a:xfrm>
            <a:off x="433321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5</a:t>
            </a:r>
            <a:endParaRPr lang="en-US" sz="1500" dirty="0"/>
          </a:p>
        </p:txBody>
      </p:sp>
      <p:sp>
        <p:nvSpPr>
          <p:cNvPr id="53" name="Text 40"/>
          <p:cNvSpPr/>
          <p:nvPr/>
        </p:nvSpPr>
        <p:spPr>
          <a:xfrm>
            <a:off x="523617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4" name="Text 41"/>
          <p:cNvSpPr/>
          <p:nvPr/>
        </p:nvSpPr>
        <p:spPr>
          <a:xfrm>
            <a:off x="6139127"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5" name="Text 42"/>
          <p:cNvSpPr/>
          <p:nvPr/>
        </p:nvSpPr>
        <p:spPr>
          <a:xfrm>
            <a:off x="704215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3</a:t>
            </a:r>
            <a:endParaRPr lang="en-US" sz="1500" dirty="0"/>
          </a:p>
        </p:txBody>
      </p:sp>
      <p:sp>
        <p:nvSpPr>
          <p:cNvPr id="56" name="Text 43"/>
          <p:cNvSpPr/>
          <p:nvPr/>
        </p:nvSpPr>
        <p:spPr>
          <a:xfrm>
            <a:off x="794510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7" name="Text 44"/>
          <p:cNvSpPr/>
          <p:nvPr/>
        </p:nvSpPr>
        <p:spPr>
          <a:xfrm>
            <a:off x="884806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8" name="Text 45"/>
          <p:cNvSpPr/>
          <p:nvPr/>
        </p:nvSpPr>
        <p:spPr>
          <a:xfrm>
            <a:off x="975102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9" name="Text 46"/>
          <p:cNvSpPr/>
          <p:nvPr/>
        </p:nvSpPr>
        <p:spPr>
          <a:xfrm>
            <a:off x="10653978"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1</a:t>
            </a:r>
            <a:endParaRPr lang="en-US" sz="1500" dirty="0"/>
          </a:p>
        </p:txBody>
      </p:sp>
      <p:sp>
        <p:nvSpPr>
          <p:cNvPr id="60" name="Text 47"/>
          <p:cNvSpPr/>
          <p:nvPr/>
        </p:nvSpPr>
        <p:spPr>
          <a:xfrm>
            <a:off x="609600" y="5199261"/>
            <a:ext cx="10972800" cy="408914"/>
          </a:xfrm>
          <a:prstGeom prst="roundRect">
            <a:avLst>
              <a:gd name="adj" fmla="val 18635"/>
            </a:avLst>
          </a:prstGeom>
          <a:solidFill>
            <a:srgbClr val="FCFCFD"/>
          </a:solidFill>
          <a:ln/>
          <a:effectLst>
            <a:outerShdw sx="100000" sy="100000" kx="0" ky="0" algn="bl" rotWithShape="0" blurRad="19050" dist="6350" dir="5400000">
              <a:srgbClr val="0F1B3D">
                <a:alpha val="10000"/>
              </a:srgbClr>
            </a:outerShdw>
          </a:effectLst>
        </p:spPr>
        <p:txBody>
          <a:bodyPr wrap="square" lIns="117382" tIns="66582" rIns="0" bIns="41182" rtlCol="0" anchor="t">
            <a:normAutofit/>
          </a:bodyPr>
          <a:lstStyle/>
          <a:p>
            <a:pPr algn="l" indent="0" marL="0">
              <a:lnSpc>
                <a:spcPts val="1820"/>
              </a:lnSpc>
              <a:buNone/>
            </a:pPr>
            <a:r>
              <a:rPr lang="en-US" sz="1300" b="1" dirty="0">
                <a:solidFill>
                  <a:srgbClr val="2E3750"/>
                </a:solidFill>
                <a:latin typeface="IBM Plex Sans" pitchFamily="34" charset="0"/>
                <a:ea typeface="IBM Plex Sans" pitchFamily="34" charset="-122"/>
                <a:cs typeface="IBM Plex Sans" pitchFamily="34" charset="-120"/>
              </a:rPr>
              <a:t>Crowded:</a:t>
            </a:r>
            <a:r>
              <a:rPr lang="en-US" sz="1300" dirty="0">
                <a:solidFill>
                  <a:srgbClr val="2E3750"/>
                </a:solidFill>
                <a:latin typeface="IBM Plex Sans" pitchFamily="34" charset="0"/>
                <a:ea typeface="IBM Plex Sans" pitchFamily="34" charset="-122"/>
                <a:cs typeface="IBM Plex Sans" pitchFamily="34" charset="-120"/>
              </a:rPr>
              <a:t> P3 (5) and P6 (3), so converge on one certified function each. </a:t>
            </a:r>
            <a:r>
              <a:rPr lang="en-US" sz="1300" b="1" dirty="0">
                <a:solidFill>
                  <a:srgbClr val="B4530A"/>
                </a:solidFill>
                <a:latin typeface="IBM Plex Sans" pitchFamily="34" charset="0"/>
                <a:ea typeface="IBM Plex Sans" pitchFamily="34" charset="-122"/>
                <a:cs typeface="IBM Plex Sans" pitchFamily="34" charset="-120"/>
              </a:rPr>
              <a:t>White space:</a:t>
            </a:r>
            <a:r>
              <a:rPr lang="en-US" sz="1300" dirty="0">
                <a:solidFill>
                  <a:srgbClr val="2E3750"/>
                </a:solidFill>
                <a:latin typeface="IBM Plex Sans" pitchFamily="34" charset="0"/>
                <a:ea typeface="IBM Plex Sans" pitchFamily="34" charset="-122"/>
                <a:cs typeface="IBM Plex Sans" pitchFamily="34" charset="-120"/>
              </a:rPr>
              <a:t> P2, P4, P7, P8, P9, so reuse from HQ or co-build.</a:t>
            </a:r>
            <a:endParaRPr lang="en-US" sz="1300" dirty="0"/>
          </a:p>
        </p:txBody>
      </p:sp>
      <p:sp>
        <p:nvSpPr>
          <p:cNvPr id="61" name="Text 48"/>
          <p:cNvSpPr/>
          <p:nvPr/>
        </p:nvSpPr>
        <p:spPr>
          <a:xfrm>
            <a:off x="6096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62" name="Text 49"/>
          <p:cNvSpPr/>
          <p:nvPr/>
        </p:nvSpPr>
        <p:spPr>
          <a:xfrm>
            <a:off x="102616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06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01 / 10 · DESIGN THE TESTS · STLC P1–P3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SpecSpark</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Turns a memory-protocol spec into a 100%-traced test suite and working scripts.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all 6 product lines</a:t>
            </a:r>
            <a:endParaRPr lang="en-US" sz="1200" dirty="0"/>
          </a:p>
        </p:txBody>
      </p:sp>
      <p:sp>
        <p:nvSpPr>
          <p:cNvPr id="7" name="Text 5"/>
          <p:cNvSpPr/>
          <p:nvPr/>
        </p:nvSpPr>
        <p:spPr>
          <a:xfrm>
            <a:off x="5512395"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Ingest spec</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Layout-aware parse of specs and PRDs into a knowledge graph</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Requirements</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SHALL/SHOULD clauses split into atomic, cited requirements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Design tests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EP, BVA, state-transition and negative scenarios per requirement</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Coverage gate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Two-way RTM; test architect approves at 100% coverage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&amp; heal</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Template scripts run on Test PC or QEMU and self-heal on failure</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8-agent pipeline designed end to end, with two human approval gates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spec-agnostic flow for NVMe, SATA, UFS and eMMC workspaces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Pilot on [spec]: [__] requirements and [__] test cases generated</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Move from pilot to production on NVMe 2.x and UFS 4.x programs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Delta mode: redesign only the clauses changed by ECNs and errata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L3-3.a golden set; retire duplicate test-gen builds</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Requirements covered by generated tests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 extraction recall</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−60%</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Test-design effort per spec release</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07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02 / 10 · DESIGN THE TESTS · STLC P2–P3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Combinatorial Testing</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Cross-spec compliance: t-way testing finds interaction defects without exhaustive runs.</a:t>
            </a:r>
            <a:endParaRPr lang="en-US" sz="1500" dirty="0"/>
          </a:p>
        </p:txBody>
      </p:sp>
      <p:sp>
        <p:nvSpPr>
          <p:cNvPr id="5" name="Text 3"/>
          <p:cNvSpPr/>
          <p:nvPr/>
        </p:nvSpPr>
        <p:spPr>
          <a:xfrm>
            <a:off x="711200" y="1614091"/>
            <a:ext cx="4241800" cy="289520"/>
          </a:xfrm>
          <a:custGeom>
            <a:avLst/>
            <a:gdLst/>
            <a:ahLst/>
            <a:cxnLst/>
            <a:rect l="l" t="t" r="r" b="b"/>
            <a:pathLst>
              <a:path w="4241800" h="289520">
                <a:moveTo>
                  <a:pt x="144760" y="0"/>
                </a:moveTo>
                <a:lnTo>
                  <a:pt x="4097040" y="0"/>
                </a:lnTo>
                <a:arcTo hR="144760" wR="144760" stAng="16200000" swAng="5400000"/>
                <a:lnTo>
                  <a:pt x="4241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MI · OAM · OCP · SPDM · PLDM · MCTP · TCG</a:t>
            </a:r>
            <a:endParaRPr lang="en-US" sz="1200" dirty="0"/>
          </a:p>
        </p:txBody>
      </p:sp>
      <p:sp>
        <p:nvSpPr>
          <p:cNvPr id="6" name="Text 4"/>
          <p:cNvSpPr/>
          <p:nvPr/>
        </p:nvSpPr>
        <p:spPr>
          <a:xfrm>
            <a:off x="5029200" y="1614091"/>
            <a:ext cx="2095434" cy="289520"/>
          </a:xfrm>
          <a:custGeom>
            <a:avLst/>
            <a:gdLst/>
            <a:ahLst/>
            <a:cxnLst/>
            <a:rect l="l" t="t" r="r" b="b"/>
            <a:pathLst>
              <a:path w="2095434" h="289520">
                <a:moveTo>
                  <a:pt x="144760" y="0"/>
                </a:moveTo>
                <a:lnTo>
                  <a:pt x="1950674" y="0"/>
                </a:lnTo>
                <a:arcTo hR="144760" wR="144760" stAng="16200000" swAng="5400000"/>
                <a:lnTo>
                  <a:pt x="2095434"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Scope</a:t>
            </a:r>
            <a:r>
              <a:rPr lang="en-US" sz="1200" dirty="0">
                <a:solidFill>
                  <a:srgbClr val="1B2440"/>
                </a:solidFill>
                <a:latin typeface="IBM Plex Sans" pitchFamily="34" charset="0"/>
                <a:ea typeface="IBM Plex Sans" pitchFamily="34" charset="-122"/>
                <a:cs typeface="IBM Plex Sans" pitchFamily="34" charset="-120"/>
              </a:rPr>
              <a:t> 7 functional clusters</a:t>
            </a:r>
            <a:endParaRPr lang="en-US" sz="1200" dirty="0"/>
          </a:p>
        </p:txBody>
      </p:sp>
      <p:sp>
        <p:nvSpPr>
          <p:cNvPr id="7" name="Text 5"/>
          <p:cNvSpPr/>
          <p:nvPr/>
        </p:nvSpPr>
        <p:spPr>
          <a:xfrm>
            <a:off x="7200834" y="1614091"/>
            <a:ext cx="1324901" cy="289520"/>
          </a:xfrm>
          <a:custGeom>
            <a:avLst/>
            <a:gdLst/>
            <a:ahLst/>
            <a:cxnLst/>
            <a:rect l="l" t="t" r="r" b="b"/>
            <a:pathLst>
              <a:path w="1324901" h="289520">
                <a:moveTo>
                  <a:pt x="144760" y="0"/>
                </a:moveTo>
                <a:lnTo>
                  <a:pt x="1180141" y="0"/>
                </a:lnTo>
                <a:arcTo hR="144760" wR="144760" stAng="16200000" swAng="5400000"/>
                <a:lnTo>
                  <a:pt x="1324901"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Model specs</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Parameters, values and constraints from 8 specifications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Cluster</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Group interacting features into 7 functional clusters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Constraint-aware pairwise (t=2) or higher-t arrays per cluster</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Cross-spec links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Cover where specs meet, e.g. SPDM and NVMe-MI over MCTP</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Run &amp; measure</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Execute through Zion; track t-way coverage and defects found</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T-pairwise model in place across 8 specifications and 7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Covers manageability and security: NVMe-MI, OCP, SPDM, PLDM, TCG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test configurations vs [__] exhaustive: [__]% fewer runs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Raise to 3-way interactions on the highest-risk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Feed t-way designs into SpecSpark and CoverSight traceability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Track defects found per test run to prove efficiency to programs</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Pair coverage within each cluster</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Specifications in one interaction model</a:t>
            </a:r>
            <a:endParaRPr lang="en-US" sz="1200" dirty="0"/>
          </a:p>
        </p:txBody>
      </p:sp>
      <p:sp>
        <p:nvSpPr>
          <p:cNvPr id="41" name="Text 39"/>
          <p:cNvSpPr/>
          <p:nvPr/>
        </p:nvSpPr>
        <p:spPr>
          <a:xfrm>
            <a:off x="8170334" y="533235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≤5%</a:t>
            </a:r>
            <a:endParaRPr lang="en-US" sz="2000" dirty="0"/>
          </a:p>
        </p:txBody>
      </p:sp>
      <p:sp>
        <p:nvSpPr>
          <p:cNvPr id="42" name="Text 40"/>
          <p:cNvSpPr/>
          <p:nvPr/>
        </p:nvSpPr>
        <p:spPr>
          <a:xfrm>
            <a:off x="9338734" y="5372962"/>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test cases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08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03 / 10 · DESIGN THE TESTS · STLC P1 · P3 · P7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CoverSight</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Shows which spec requirements are tested and which are not, then closes the gaps.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4205222" cy="289520"/>
          </a:xfrm>
          <a:custGeom>
            <a:avLst/>
            <a:gdLst/>
            <a:ahLst/>
            <a:cxnLst/>
            <a:rect l="l" t="t" r="r" b="b"/>
            <a:pathLst>
              <a:path w="4205222" h="289520">
                <a:moveTo>
                  <a:pt x="144760" y="0"/>
                </a:moveTo>
                <a:lnTo>
                  <a:pt x="4060461" y="0"/>
                </a:lnTo>
                <a:arcTo hR="144760" wR="144760" stAng="16200000" swAng="5400000"/>
                <a:lnTo>
                  <a:pt x="420522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 PSSD · Enterprise · DC SSD</a:t>
            </a:r>
            <a:endParaRPr lang="en-US" sz="1200" dirty="0"/>
          </a:p>
        </p:txBody>
      </p:sp>
      <p:sp>
        <p:nvSpPr>
          <p:cNvPr id="7" name="Text 5"/>
          <p:cNvSpPr/>
          <p:nvPr/>
        </p:nvSpPr>
        <p:spPr>
          <a:xfrm>
            <a:off x="7589441" y="1614091"/>
            <a:ext cx="1459442" cy="289520"/>
          </a:xfrm>
          <a:custGeom>
            <a:avLst/>
            <a:gdLst/>
            <a:ahLst/>
            <a:cxnLst/>
            <a:rect l="l" t="t" r="r" b="b"/>
            <a:pathLst>
              <a:path w="1459442" h="289520">
                <a:moveTo>
                  <a:pt x="144760" y="0"/>
                </a:moveTo>
                <a:lnTo>
                  <a:pt x="1314682" y="0"/>
                </a:lnTo>
                <a:arcTo hR="144760" wR="144760" stAng="16200000" swAng="5400000"/>
                <a:lnTo>
                  <a:pt x="145944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Spec graph</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Graph-RAG over the spec; an agent extracts atomic requirements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graph</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Ingest test repositories; infer each test's purpose and scenario</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Map coverage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Score every requirement against tests: full, partial or gap</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Close gaps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a scenario and script for each gap as a pull request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Re-verify</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Re-map on merge so the RTM and coverage stay current</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 pipeline built; golden prompt library v2 for all three agents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shared ontology spans NVMe, SATA, eMMC, UFS, SPDM, OCP, PLDM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Baseline: [__]% coverage over [__] requirements, [__] open gaps</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Onboard the test repositories of every product line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Use coverage as a release gate with an auto-generated RTM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L3-1.c and publish as the Sol PE coverage standard</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≥0.90</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precision</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≥0.85</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recall</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Orphan requirements and tests detected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09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04 / 10 · BUILD &amp; RUN THEM · STLC 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Review 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centralized AI reviewer on every merge request: ~400 developers, ~100 MRs a day.</a:t>
            </a:r>
            <a:endParaRPr lang="en-US" sz="1500" dirty="0"/>
          </a:p>
        </p:txBody>
      </p:sp>
      <p:sp>
        <p:nvSpPr>
          <p:cNvPr id="5" name="Text 3"/>
          <p:cNvSpPr/>
          <p:nvPr/>
        </p:nvSpPr>
        <p:spPr>
          <a:xfrm>
            <a:off x="711200" y="1614091"/>
            <a:ext cx="2511028" cy="289520"/>
          </a:xfrm>
          <a:custGeom>
            <a:avLst/>
            <a:gdLst/>
            <a:ahLst/>
            <a:cxnLst/>
            <a:rect l="l" t="t" r="r" b="b"/>
            <a:pathLst>
              <a:path w="2511028" h="289520">
                <a:moveTo>
                  <a:pt x="144760" y="0"/>
                </a:moveTo>
                <a:lnTo>
                  <a:pt x="2366268" y="0"/>
                </a:lnTo>
                <a:arcTo hR="144760" wR="144760" stAng="16200000" swAng="5400000"/>
                <a:lnTo>
                  <a:pt x="251102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SCM</a:t>
            </a:r>
            <a:r>
              <a:rPr lang="en-US" sz="1200" dirty="0">
                <a:solidFill>
                  <a:srgbClr val="1B2440"/>
                </a:solidFill>
                <a:latin typeface="IBM Plex Sans" pitchFamily="34" charset="0"/>
                <a:ea typeface="IBM Plex Sans" pitchFamily="34" charset="-122"/>
                <a:cs typeface="IBM Plex Sans" pitchFamily="34" charset="-120"/>
              </a:rPr>
              <a:t> Bitbucket → GitHub · GitLab</a:t>
            </a:r>
            <a:endParaRPr lang="en-US" sz="1200" dirty="0"/>
          </a:p>
        </p:txBody>
      </p:sp>
      <p:sp>
        <p:nvSpPr>
          <p:cNvPr id="6" name="Text 4"/>
          <p:cNvSpPr/>
          <p:nvPr/>
        </p:nvSpPr>
        <p:spPr>
          <a:xfrm>
            <a:off x="3298428" y="1614091"/>
            <a:ext cx="2181688" cy="289520"/>
          </a:xfrm>
          <a:custGeom>
            <a:avLst/>
            <a:gdLst/>
            <a:ahLst/>
            <a:cxnLst/>
            <a:rect l="l" t="t" r="r" b="b"/>
            <a:pathLst>
              <a:path w="2181688" h="289520">
                <a:moveTo>
                  <a:pt x="144760" y="0"/>
                </a:moveTo>
                <a:lnTo>
                  <a:pt x="2036928" y="0"/>
                </a:lnTo>
                <a:arcTo hR="144760" wR="144760" stAng="16200000" swAng="5400000"/>
                <a:lnTo>
                  <a:pt x="21816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Code</a:t>
            </a:r>
            <a:r>
              <a:rPr lang="en-US" sz="1200" dirty="0">
                <a:solidFill>
                  <a:srgbClr val="1B2440"/>
                </a:solidFill>
                <a:latin typeface="IBM Plex Sans" pitchFamily="34" charset="0"/>
                <a:ea typeface="IBM Plex Sans" pitchFamily="34" charset="-122"/>
                <a:cs typeface="IBM Plex Sans" pitchFamily="34" charset="-120"/>
              </a:rPr>
              <a:t> Python · C/C++ · JS/TS</a:t>
            </a:r>
            <a:endParaRPr lang="en-US" sz="1200" dirty="0"/>
          </a:p>
        </p:txBody>
      </p:sp>
      <p:sp>
        <p:nvSpPr>
          <p:cNvPr id="7" name="Text 5"/>
          <p:cNvSpPr/>
          <p:nvPr/>
        </p:nvSpPr>
        <p:spPr>
          <a:xfrm>
            <a:off x="5556316" y="1614091"/>
            <a:ext cx="1987815" cy="289520"/>
          </a:xfrm>
          <a:custGeom>
            <a:avLst/>
            <a:gdLst/>
            <a:ahLst/>
            <a:cxnLst/>
            <a:rect l="l" t="t" r="r" b="b"/>
            <a:pathLst>
              <a:path w="1987815" h="289520">
                <a:moveTo>
                  <a:pt x="144760" y="0"/>
                </a:moveTo>
                <a:lnTo>
                  <a:pt x="1843055" y="0"/>
                </a:lnTo>
                <a:arcTo hR="144760" wR="144760" stAng="16200000" swAng="5400000"/>
                <a:lnTo>
                  <a:pt x="1987815"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AI review dashboard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MR trigger</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Webhook fires on every merge request create, update and merge</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Graph RAG</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Code knowledge graph of the destination branch as context</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review</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Diff-aware review: file, line, severity and a concrete fix</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Acceptance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Second agent checks fixes landed and computes acceptance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Zion dashboard</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Effort saved, issues found vs fixed, trends per repository</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Live on Bitbucket: 11 of 58 repos; ~2 min per review vs 11–62 min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97.7% review effort saved; 50 engineer-hours saved in 7 days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First L3 benchmark: 49.2; gaps are evidence and acceptance, not speed</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Deploy prompt v2: in-scope defects only, calibrated severity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Seeded-defect golden set; track resolve and dismiss on every comment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GitHub/GitLab adapters; firmware C/C++ repos first; aim for Tier 1</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Critical/High defect recall</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Comment precision</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Issues resolved in merged PRs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10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05 / 10 · BUILD &amp; RUN THEM · STLC P3–P5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KAIzen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Creates, runs and repairs test scripts on its own: days of testing, in real time.</a:t>
            </a:r>
            <a:endParaRPr lang="en-US" sz="1500" dirty="0"/>
          </a:p>
        </p:txBody>
      </p:sp>
      <p:sp>
        <p:nvSpPr>
          <p:cNvPr id="5" name="Text 3"/>
          <p:cNvSpPr/>
          <p:nvPr/>
        </p:nvSpPr>
        <p:spPr>
          <a:xfrm>
            <a:off x="711200" y="1614091"/>
            <a:ext cx="2543307" cy="289520"/>
          </a:xfrm>
          <a:custGeom>
            <a:avLst/>
            <a:gdLst/>
            <a:ahLst/>
            <a:cxnLst/>
            <a:rect l="l" t="t" r="r" b="b"/>
            <a:pathLst>
              <a:path w="2543307" h="289520">
                <a:moveTo>
                  <a:pt x="144760" y="0"/>
                </a:moveTo>
                <a:lnTo>
                  <a:pt x="2398547" y="0"/>
                </a:lnTo>
                <a:arcTo hR="144760" wR="144760" stAng="16200000" swAng="5400000"/>
                <a:lnTo>
                  <a:pt x="2543307"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Loop</a:t>
            </a:r>
            <a:r>
              <a:rPr lang="en-US" sz="1200" dirty="0">
                <a:solidFill>
                  <a:srgbClr val="1B2440"/>
                </a:solidFill>
                <a:latin typeface="IBM Plex Sans" pitchFamily="34" charset="0"/>
                <a:ea typeface="IBM Plex Sans" pitchFamily="34" charset="-122"/>
                <a:cs typeface="IBM Plex Sans" pitchFamily="34" charset="-120"/>
              </a:rPr>
              <a:t> create → execute → recover</a:t>
            </a:r>
            <a:endParaRPr lang="en-US" sz="1200" dirty="0"/>
          </a:p>
        </p:txBody>
      </p:sp>
      <p:sp>
        <p:nvSpPr>
          <p:cNvPr id="6" name="Text 4"/>
          <p:cNvSpPr/>
          <p:nvPr/>
        </p:nvSpPr>
        <p:spPr>
          <a:xfrm>
            <a:off x="3330708"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7" name="Text 5"/>
          <p:cNvSpPr/>
          <p:nvPr/>
        </p:nvSpPr>
        <p:spPr>
          <a:xfrm>
            <a:off x="5735373" y="1614091"/>
            <a:ext cx="2906911" cy="289520"/>
          </a:xfrm>
          <a:custGeom>
            <a:avLst/>
            <a:gdLst/>
            <a:ahLst/>
            <a:cxnLst/>
            <a:rect l="l" t="t" r="r" b="b"/>
            <a:pathLst>
              <a:path w="2906911" h="289520">
                <a:moveTo>
                  <a:pt x="144760" y="0"/>
                </a:moveTo>
                <a:lnTo>
                  <a:pt x="2762151" y="0"/>
                </a:lnTo>
                <a:arcTo hR="144760" wR="144760" stAng="16200000" swAng="5400000"/>
                <a:lnTo>
                  <a:pt x="2906911"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Guardrail</a:t>
            </a:r>
            <a:r>
              <a:rPr lang="en-US" sz="1200" dirty="0">
                <a:solidFill>
                  <a:srgbClr val="1B2440"/>
                </a:solidFill>
                <a:latin typeface="IBM Plex Sans" pitchFamily="34" charset="0"/>
                <a:ea typeface="IBM Plex Sans" pitchFamily="34" charset="-122"/>
                <a:cs typeface="IBM Plex Sans" pitchFamily="34" charset="-120"/>
              </a:rPr>
              <a:t> device bugs never auto-fixed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Create</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scripts from test intent using the framework's own APIs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Execute</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immediately on Zion rigs and stream results live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Detect</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Classify each failure as script, environment or device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Recover</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Patch the script or re-provision the rig, then re-run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and suspected device defects handed to triage</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Closed loop working: create, execute and recover with no manual step</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Testing that took days now runs in real time: [__] days → [__] hours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scripts generated; [__]% of failures recovered automatically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across product lines on shared Zion rigs and the LLM gateway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on heals; never mask a real device defect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with SpecSpark phase 2 into one certified L3-5.b agent</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Heal success on true script breaks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False heals that mask a device defect</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Generated scripts pass on first run</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11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06 / 10 · BUILD &amp; RUN THEM · STLC 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UFS Forge</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An Android app that stresses UFS with real on-device AI models and generated workloads.</a:t>
            </a:r>
            <a:endParaRPr lang="en-US" sz="1500" dirty="0"/>
          </a:p>
        </p:txBody>
      </p:sp>
      <p:sp>
        <p:nvSpPr>
          <p:cNvPr id="5" name="Text 3"/>
          <p:cNvSpPr/>
          <p:nvPr/>
        </p:nvSpPr>
        <p:spPr>
          <a:xfrm>
            <a:off x="711200" y="1614091"/>
            <a:ext cx="1210138" cy="289520"/>
          </a:xfrm>
          <a:custGeom>
            <a:avLst/>
            <a:gdLst/>
            <a:ahLst/>
            <a:cxnLst/>
            <a:rect l="l" t="t" r="r" b="b"/>
            <a:pathLst>
              <a:path w="1210138" h="289520">
                <a:moveTo>
                  <a:pt x="144760" y="0"/>
                </a:moveTo>
                <a:lnTo>
                  <a:pt x="1065378" y="0"/>
                </a:lnTo>
                <a:arcTo hR="144760" wR="144760" stAng="16200000" swAng="5400000"/>
                <a:lnTo>
                  <a:pt x="121013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Interface</a:t>
            </a:r>
            <a:r>
              <a:rPr lang="en-US" sz="1200" dirty="0">
                <a:solidFill>
                  <a:srgbClr val="1B2440"/>
                </a:solidFill>
                <a:latin typeface="IBM Plex Sans" pitchFamily="34" charset="0"/>
                <a:ea typeface="IBM Plex Sans" pitchFamily="34" charset="-122"/>
                <a:cs typeface="IBM Plex Sans" pitchFamily="34" charset="-120"/>
              </a:rPr>
              <a:t> UFS</a:t>
            </a:r>
            <a:endParaRPr lang="en-US" sz="1200" dirty="0"/>
          </a:p>
        </p:txBody>
      </p:sp>
      <p:sp>
        <p:nvSpPr>
          <p:cNvPr id="6" name="Text 4"/>
          <p:cNvSpPr/>
          <p:nvPr/>
        </p:nvSpPr>
        <p:spPr>
          <a:xfrm>
            <a:off x="1997538" y="1614091"/>
            <a:ext cx="2928276" cy="289520"/>
          </a:xfrm>
          <a:custGeom>
            <a:avLst/>
            <a:gdLst/>
            <a:ahLst/>
            <a:cxnLst/>
            <a:rect l="l" t="t" r="r" b="b"/>
            <a:pathLst>
              <a:path w="2928276" h="289520">
                <a:moveTo>
                  <a:pt x="144760" y="0"/>
                </a:moveTo>
                <a:lnTo>
                  <a:pt x="2783516" y="0"/>
                </a:lnTo>
                <a:arcTo hR="144760" wR="144760" stAng="16200000" swAng="5400000"/>
                <a:lnTo>
                  <a:pt x="29282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Platform</a:t>
            </a:r>
            <a:r>
              <a:rPr lang="en-US" sz="1200" dirty="0">
                <a:solidFill>
                  <a:srgbClr val="1B2440"/>
                </a:solidFill>
                <a:latin typeface="IBM Plex Sans" pitchFamily="34" charset="0"/>
                <a:ea typeface="IBM Plex Sans" pitchFamily="34" charset="-122"/>
                <a:cs typeface="IBM Plex Sans" pitchFamily="34" charset="-120"/>
              </a:rPr>
              <a:t> Android app on target devices</a:t>
            </a:r>
            <a:endParaRPr lang="en-US" sz="1200" dirty="0"/>
          </a:p>
        </p:txBody>
      </p:sp>
      <p:sp>
        <p:nvSpPr>
          <p:cNvPr id="7" name="Text 5"/>
          <p:cNvSpPr/>
          <p:nvPr/>
        </p:nvSpPr>
        <p:spPr>
          <a:xfrm>
            <a:off x="5002014" y="1614091"/>
            <a:ext cx="2288778" cy="289520"/>
          </a:xfrm>
          <a:custGeom>
            <a:avLst/>
            <a:gdLst/>
            <a:ahLst/>
            <a:cxnLst/>
            <a:rect l="l" t="t" r="r" b="b"/>
            <a:pathLst>
              <a:path w="2288778" h="289520">
                <a:moveTo>
                  <a:pt x="144760" y="0"/>
                </a:moveTo>
                <a:lnTo>
                  <a:pt x="2144018" y="0"/>
                </a:lnTo>
                <a:arcTo hR="144760" wR="144760" stAng="16200000" swAng="5400000"/>
                <a:lnTo>
                  <a:pt x="228877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Feeds</a:t>
            </a:r>
            <a:r>
              <a:rPr lang="en-US" sz="1200" dirty="0">
                <a:solidFill>
                  <a:srgbClr val="1B2440"/>
                </a:solidFill>
                <a:latin typeface="IBM Plex Sans" pitchFamily="34" charset="0"/>
                <a:ea typeface="IBM Plex Sans" pitchFamily="34" charset="-122"/>
                <a:cs typeface="IBM Plex Sans" pitchFamily="34" charset="-120"/>
              </a:rPr>
              <a:t> UFS harness · Zion DSA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Deploy app</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Android app installed on UFS-based target devices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workloads</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on-device AI models that load storage like real apps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 I/O</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Synthetic stress and mixed read/write patterns on demand</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Capture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Latency, throughput and error telemetry for every 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Feed harness</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flow to the UFS test harness and Zion analytics</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Android app delivered for the UFS test harness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On-device AI model stress plus configurable workload generation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AI models and [__] workload profiles in the library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Workloads for next-generation UFS (4.x → 5.0) readiness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Correlate run telemetry with SHIELD logs and Zion DSA anomalies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 device farm of [__] phones under LaaS scheduling</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UFS 5.0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Workload set ready for next-gen UFS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AI-model workloads in the library</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Devices in nightly stress runs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12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07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Samsung Host Intelligent Event and Log Decoder: raw host logs to a diagnosis and report.</a:t>
            </a:r>
            <a:endParaRPr lang="en-US" sz="1500" dirty="0"/>
          </a:p>
        </p:txBody>
      </p:sp>
      <p:sp>
        <p:nvSpPr>
          <p:cNvPr id="5" name="Text 3"/>
          <p:cNvSpPr/>
          <p:nvPr/>
        </p:nvSpPr>
        <p:spPr>
          <a:xfrm>
            <a:off x="711200" y="1614091"/>
            <a:ext cx="2061567" cy="289520"/>
          </a:xfrm>
          <a:custGeom>
            <a:avLst/>
            <a:gdLst/>
            <a:ahLst/>
            <a:cxnLst/>
            <a:rect l="l" t="t" r="r" b="b"/>
            <a:pathLst>
              <a:path w="2061567" h="289520">
                <a:moveTo>
                  <a:pt x="144760" y="0"/>
                </a:moveTo>
                <a:lnTo>
                  <a:pt x="1916807" y="0"/>
                </a:lnTo>
                <a:arcTo hR="144760" wR="144760" stAng="16200000" swAng="5400000"/>
                <a:lnTo>
                  <a:pt x="206156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host events and logs</a:t>
            </a:r>
            <a:endParaRPr lang="en-US" sz="1200" dirty="0"/>
          </a:p>
        </p:txBody>
      </p:sp>
      <p:sp>
        <p:nvSpPr>
          <p:cNvPr id="6" name="Text 4"/>
          <p:cNvSpPr/>
          <p:nvPr/>
        </p:nvSpPr>
        <p:spPr>
          <a:xfrm>
            <a:off x="2848967" y="1614091"/>
            <a:ext cx="2630223" cy="289520"/>
          </a:xfrm>
          <a:custGeom>
            <a:avLst/>
            <a:gdLst/>
            <a:ahLst/>
            <a:cxnLst/>
            <a:rect l="l" t="t" r="r" b="b"/>
            <a:pathLst>
              <a:path w="2630223" h="289520">
                <a:moveTo>
                  <a:pt x="144760" y="0"/>
                </a:moveTo>
                <a:lnTo>
                  <a:pt x="2485463" y="0"/>
                </a:lnTo>
                <a:arcTo hR="144760" wR="144760" stAng="16200000" swAng="5400000"/>
                <a:lnTo>
                  <a:pt x="263022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Output</a:t>
            </a:r>
            <a:r>
              <a:rPr lang="en-US" sz="1200" dirty="0">
                <a:solidFill>
                  <a:srgbClr val="1B2440"/>
                </a:solidFill>
                <a:latin typeface="IBM Plex Sans" pitchFamily="34" charset="0"/>
                <a:ea typeface="IBM Plex Sans" pitchFamily="34" charset="-122"/>
                <a:cs typeface="IBM Plex Sans" pitchFamily="34" charset="-120"/>
              </a:rPr>
              <a:t> timeline · summary · report</a:t>
            </a:r>
            <a:endParaRPr lang="en-US" sz="1200" dirty="0"/>
          </a:p>
        </p:txBody>
      </p:sp>
      <p:sp>
        <p:nvSpPr>
          <p:cNvPr id="7" name="Text 5"/>
          <p:cNvSpPr/>
          <p:nvPr/>
        </p:nvSpPr>
        <p:spPr>
          <a:xfrm>
            <a:off x="5555390" y="1614091"/>
            <a:ext cx="2263841" cy="289520"/>
          </a:xfrm>
          <a:custGeom>
            <a:avLst/>
            <a:gdLst/>
            <a:ahLst/>
            <a:cxnLst/>
            <a:rect l="l" t="t" r="r" b="b"/>
            <a:pathLst>
              <a:path w="2263841" h="289520">
                <a:moveTo>
                  <a:pt x="144760" y="0"/>
                </a:moveTo>
                <a:lnTo>
                  <a:pt x="2119081" y="0"/>
                </a:lnTo>
                <a:arcTo hR="144760" wR="144760" stAng="16200000" swAng="5400000"/>
                <a:lnTo>
                  <a:pt x="2263841"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log parser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Rules</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Rule engine decodes host events and log codes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Timeline</a:t>
            </a:r>
            <a:endParaRPr lang="en-US" sz="1300" dirty="0"/>
          </a:p>
        </p:txBody>
      </p:sp>
      <p:sp>
        <p:nvSpPr>
          <p:cNvPr id="16" name="Text 14"/>
          <p:cNvSpPr/>
          <p:nvPr/>
        </p:nvSpPr>
        <p:spPr>
          <a:xfrm>
            <a:off x="3025114"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Events from every source aligned on one timeline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Agent analysis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AI agent reasons over the timeline to flag likely causes</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Summary</a:t>
            </a:r>
            <a:endParaRPr lang="en-US" sz="1300" dirty="0"/>
          </a:p>
        </p:txBody>
      </p:sp>
      <p:sp>
        <p:nvSpPr>
          <p:cNvPr id="24" name="Text 22"/>
          <p:cNvSpPr/>
          <p:nvPr/>
        </p:nvSpPr>
        <p:spPr>
          <a:xfrm>
            <a:off x="7373607"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Plain-language account of what happened and when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Standard report ready for triage and customer response</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All five stages delivered: rules, timeline, agent, summary, report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log and event formats decoded by the rule engine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Log review time per failure: [__] hours → [__] minutes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Become the shared log-parser and failure-signature service on Zion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Pass decoded timelines straight into iUTA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Add device-side sources: firmware trace and UART</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numbers match source logs</a:t>
            </a:r>
            <a:endParaRPr lang="en-US" sz="1200" dirty="0"/>
          </a:p>
        </p:txBody>
      </p:sp>
      <p:sp>
        <p:nvSpPr>
          <p:cNvPr id="39" name="Text 37"/>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40" name="Text 38"/>
          <p:cNvSpPr/>
          <p:nvPr/>
        </p:nvSpPr>
        <p:spPr>
          <a:xfrm>
            <a:off x="9338734" y="4887850"/>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template compliance</a:t>
            </a:r>
            <a:endParaRPr lang="en-US" sz="1200" dirty="0"/>
          </a:p>
        </p:txBody>
      </p:sp>
      <p:sp>
        <p:nvSpPr>
          <p:cNvPr id="41" name="Text 39"/>
          <p:cNvSpPr/>
          <p:nvPr/>
        </p:nvSpPr>
        <p:spPr>
          <a:xfrm>
            <a:off x="8170334" y="52739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Minutes from log upload to summary</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13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08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iUTA</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AI-enabled failure analysis: every failed run classified, de-duplicated and routed.</a:t>
            </a:r>
            <a:endParaRPr lang="en-US" sz="1500" dirty="0"/>
          </a:p>
        </p:txBody>
      </p:sp>
      <p:sp>
        <p:nvSpPr>
          <p:cNvPr id="5" name="Text 3"/>
          <p:cNvSpPr/>
          <p:nvPr/>
        </p:nvSpPr>
        <p:spPr>
          <a:xfrm>
            <a:off x="711200" y="1614091"/>
            <a:ext cx="2258153" cy="289520"/>
          </a:xfrm>
          <a:custGeom>
            <a:avLst/>
            <a:gdLst/>
            <a:ahLst/>
            <a:cxnLst/>
            <a:rect l="l" t="t" r="r" b="b"/>
            <a:pathLst>
              <a:path w="2258153" h="289520">
                <a:moveTo>
                  <a:pt x="144760" y="0"/>
                </a:moveTo>
                <a:lnTo>
                  <a:pt x="2113393" y="0"/>
                </a:lnTo>
                <a:arcTo hR="144760" wR="144760" stAng="16200000" swAng="5400000"/>
                <a:lnTo>
                  <a:pt x="225815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automation run failures</a:t>
            </a:r>
            <a:endParaRPr lang="en-US" sz="1200" dirty="0"/>
          </a:p>
        </p:txBody>
      </p:sp>
      <p:sp>
        <p:nvSpPr>
          <p:cNvPr id="6" name="Text 4"/>
          <p:cNvSpPr/>
          <p:nvPr/>
        </p:nvSpPr>
        <p:spPr>
          <a:xfrm>
            <a:off x="3045553" y="1614091"/>
            <a:ext cx="1789906" cy="289520"/>
          </a:xfrm>
          <a:custGeom>
            <a:avLst/>
            <a:gdLst/>
            <a:ahLst/>
            <a:cxnLst/>
            <a:rect l="l" t="t" r="r" b="b"/>
            <a:pathLst>
              <a:path w="1789906" h="289520">
                <a:moveTo>
                  <a:pt x="144760" y="0"/>
                </a:moveTo>
                <a:lnTo>
                  <a:pt x="1645146" y="0"/>
                </a:lnTo>
                <a:arcTo hR="144760" wR="144760" stAng="16200000" swAng="5400000"/>
                <a:lnTo>
                  <a:pt x="1789906"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results · DSA</a:t>
            </a:r>
            <a:endParaRPr lang="en-US" sz="1200" dirty="0"/>
          </a:p>
        </p:txBody>
      </p:sp>
      <p:sp>
        <p:nvSpPr>
          <p:cNvPr id="7" name="Text 5"/>
          <p:cNvSpPr/>
          <p:nvPr/>
        </p:nvSpPr>
        <p:spPr>
          <a:xfrm>
            <a:off x="4911659" y="1614091"/>
            <a:ext cx="2472862" cy="289520"/>
          </a:xfrm>
          <a:custGeom>
            <a:avLst/>
            <a:gdLst/>
            <a:ahLst/>
            <a:cxnLst/>
            <a:rect l="l" t="t" r="r" b="b"/>
            <a:pathLst>
              <a:path w="2472862" h="289520">
                <a:moveTo>
                  <a:pt x="144760" y="0"/>
                </a:moveTo>
                <a:lnTo>
                  <a:pt x="2328102" y="0"/>
                </a:lnTo>
                <a:arcTo hR="144760" wR="144760" stAng="16200000" swAng="5400000"/>
                <a:lnTo>
                  <a:pt x="2472862"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Hand-off</a:t>
            </a:r>
            <a:r>
              <a:rPr lang="en-US" sz="1200" dirty="0">
                <a:solidFill>
                  <a:srgbClr val="1B2440"/>
                </a:solidFill>
                <a:latin typeface="IBM Plex Sans" pitchFamily="34" charset="0"/>
                <a:ea typeface="IBM Plex Sans" pitchFamily="34" charset="-122"/>
                <a:cs typeface="IBM Plex Sans" pitchFamily="34" charset="-120"/>
              </a:rPr>
              <a:t> RootLens for deep RCA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Collect</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Failed runs, logs and context pulled from test automation</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Classify</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Script, environment or device failure, with confidence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De-duplicate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Match known issues and duplicates by log signature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Route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Set severity and owner team; open or link the defect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Escalate</a:t>
            </a:r>
            <a:endParaRPr lang="en-US" sz="1300" dirty="0"/>
          </a:p>
        </p:txBody>
      </p:sp>
      <p:sp>
        <p:nvSpPr>
          <p:cNvPr id="28" name="Text 26"/>
          <p:cNvSpPr/>
          <p:nvPr/>
        </p:nvSpPr>
        <p:spPr>
          <a:xfrm>
            <a:off x="9547820" y="2985560"/>
            <a:ext cx="184707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Novel device failures go to RootLens for deep RCA</a:t>
            </a:r>
            <a:endParaRPr lang="en-US" sz="1200" dirty="0"/>
          </a:p>
        </p:txBody>
      </p:sp>
      <p:sp>
        <p:nvSpPr>
          <p:cNvPr id="29" name="Shape 27"/>
          <p:cNvSpPr/>
          <p:nvPr/>
        </p:nvSpPr>
        <p:spPr>
          <a:xfrm>
            <a:off x="711200" y="3907501"/>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AI failure analysis running on [program / product] automation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failures classified without manual triage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Triage time per failure: [__] → [__] minutes</a:t>
            </a:r>
            <a:endParaRPr lang="en-US" sz="1200" dirty="0"/>
          </a:p>
        </p:txBody>
      </p:sp>
      <p:sp>
        <p:nvSpPr>
          <p:cNvPr id="32" name="Shape 30"/>
          <p:cNvSpPr/>
          <p:nvPr/>
        </p:nvSpPr>
        <p:spPr>
          <a:xfrm>
            <a:off x="4351867" y="3907501"/>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 one failure taxonomy with SHIELD, KAIzen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Extend to the regression pipelines of all six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L3-6.a and 6.b golden sets</a:t>
            </a:r>
            <a:endParaRPr lang="en-US" sz="1200" dirty="0"/>
          </a:p>
        </p:txBody>
      </p:sp>
      <p:sp>
        <p:nvSpPr>
          <p:cNvPr id="35" name="Shape 33"/>
          <p:cNvSpPr/>
          <p:nvPr/>
        </p:nvSpPr>
        <p:spPr>
          <a:xfrm>
            <a:off x="7992534" y="3907501"/>
            <a:ext cx="3488267" cy="1739834"/>
          </a:xfrm>
          <a:prstGeom prst="roundRect">
            <a:avLst>
              <a:gd name="adj" fmla="val 5110"/>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 (S1) failure recall</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found in top 5</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owner team assigned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14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09 / 10 · FIND ROOT CAUSE · STLC P6 · 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RootLens</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failure-analysis workflow for every memory product, from logs to ranked root cause.</a:t>
            </a:r>
            <a:endParaRPr lang="en-US" sz="1500" dirty="0"/>
          </a:p>
        </p:txBody>
      </p:sp>
      <p:sp>
        <p:nvSpPr>
          <p:cNvPr id="5" name="Text 3"/>
          <p:cNvSpPr/>
          <p:nvPr/>
        </p:nvSpPr>
        <p:spPr>
          <a:xfrm>
            <a:off x="711200" y="1614091"/>
            <a:ext cx="4519017" cy="289520"/>
          </a:xfrm>
          <a:custGeom>
            <a:avLst/>
            <a:gdLst/>
            <a:ahLst/>
            <a:cxnLst/>
            <a:rect l="l" t="t" r="r" b="b"/>
            <a:pathLst>
              <a:path w="4519017" h="289520">
                <a:moveTo>
                  <a:pt x="144760" y="0"/>
                </a:moveTo>
                <a:lnTo>
                  <a:pt x="4374257" y="0"/>
                </a:lnTo>
                <a:arcTo hR="144760" wR="144760" stAng="16200000" swAng="5400000"/>
                <a:lnTo>
                  <a:pt x="451901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SSD · PSSD · Enterprise · DC SSD</a:t>
            </a:r>
            <a:endParaRPr lang="en-US" sz="1200" dirty="0"/>
          </a:p>
        </p:txBody>
      </p:sp>
      <p:sp>
        <p:nvSpPr>
          <p:cNvPr id="6" name="Text 4"/>
          <p:cNvSpPr/>
          <p:nvPr/>
        </p:nvSpPr>
        <p:spPr>
          <a:xfrm>
            <a:off x="5306417" y="1614091"/>
            <a:ext cx="2160984" cy="289520"/>
          </a:xfrm>
          <a:custGeom>
            <a:avLst/>
            <a:gdLst/>
            <a:ahLst/>
            <a:cxnLst/>
            <a:rect l="l" t="t" r="r" b="b"/>
            <a:pathLst>
              <a:path w="2160984" h="289520">
                <a:moveTo>
                  <a:pt x="144760" y="0"/>
                </a:moveTo>
                <a:lnTo>
                  <a:pt x="2016224" y="0"/>
                </a:lnTo>
                <a:arcTo hR="144760" wR="144760" stAng="16200000" swAng="5400000"/>
                <a:lnTo>
                  <a:pt x="2160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knowledge graph · DSA</a:t>
            </a:r>
            <a:endParaRPr lang="en-US" sz="1200" dirty="0"/>
          </a:p>
        </p:txBody>
      </p:sp>
      <p:sp>
        <p:nvSpPr>
          <p:cNvPr id="7" name="Text 5"/>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8" name="Shape 6"/>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0" name="Text 8"/>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Intake</a:t>
            </a:r>
            <a:endParaRPr lang="en-US" sz="1300" dirty="0"/>
          </a:p>
        </p:txBody>
      </p:sp>
      <p:sp>
        <p:nvSpPr>
          <p:cNvPr id="11" name="Text 9"/>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Failure plus FW trace, host dmesg, NVMe error log and UART</a:t>
            </a:r>
            <a:endParaRPr lang="en-US" sz="1200" dirty="0"/>
          </a:p>
        </p:txBody>
      </p:sp>
      <p:sp>
        <p:nvSpPr>
          <p:cNvPr id="12" name="Shape 10"/>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4" name="Text 12"/>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Normalize</a:t>
            </a:r>
            <a:endParaRPr lang="en-US" sz="1300" dirty="0"/>
          </a:p>
        </p:txBody>
      </p:sp>
      <p:sp>
        <p:nvSpPr>
          <p:cNvPr id="15" name="Text 13"/>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Shared parsers turn each product's logs into one schema</a:t>
            </a:r>
            <a:endParaRPr lang="en-US" sz="1200" dirty="0"/>
          </a:p>
        </p:txBody>
      </p:sp>
      <p:sp>
        <p:nvSpPr>
          <p:cNvPr id="16" name="Shape 14"/>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8" name="Text 16"/>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Recall</a:t>
            </a:r>
            <a:endParaRPr lang="en-US" sz="1300" dirty="0"/>
          </a:p>
        </p:txBody>
      </p:sp>
      <p:sp>
        <p:nvSpPr>
          <p:cNvPr id="19" name="Text 17"/>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Search the RCA knowledge graph for similar past failures</a:t>
            </a:r>
            <a:endParaRPr lang="en-US" sz="1200" dirty="0"/>
          </a:p>
        </p:txBody>
      </p:sp>
      <p:sp>
        <p:nvSpPr>
          <p:cNvPr id="20" name="Shape 18"/>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1" name="Text 19"/>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2" name="Text 20"/>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Hypothesize</a:t>
            </a:r>
            <a:endParaRPr lang="en-US" sz="1300" dirty="0"/>
          </a:p>
        </p:txBody>
      </p:sp>
      <p:sp>
        <p:nvSpPr>
          <p:cNvPr id="23" name="Text 21"/>
          <p:cNvSpPr/>
          <p:nvPr/>
        </p:nvSpPr>
        <p:spPr>
          <a:xfrm>
            <a:off x="7373607" y="2985567"/>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Rank likely root causes with evidence for each</a:t>
            </a:r>
            <a:endParaRPr lang="en-US" sz="1200" dirty="0"/>
          </a:p>
        </p:txBody>
      </p:sp>
      <p:sp>
        <p:nvSpPr>
          <p:cNvPr id="24" name="Shape 22"/>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5" name="Text 23"/>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6" name="Text 24"/>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Learn</a:t>
            </a:r>
            <a:endParaRPr lang="en-US" sz="1300" dirty="0"/>
          </a:p>
        </p:txBody>
      </p:sp>
      <p:sp>
        <p:nvSpPr>
          <p:cNvPr id="27" name="Text 25"/>
          <p:cNvSpPr/>
          <p:nvPr/>
        </p:nvSpPr>
        <p:spPr>
          <a:xfrm>
            <a:off x="9547820"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Engineer confirms; the RCA is written back to the graph</a:t>
            </a:r>
            <a:endParaRPr lang="en-US" sz="1200" dirty="0"/>
          </a:p>
        </p:txBody>
      </p:sp>
      <p:sp>
        <p:nvSpPr>
          <p:cNvPr id="28" name="Shape 26"/>
          <p:cNvSpPr/>
          <p:nvPr/>
        </p:nvSpPr>
        <p:spPr>
          <a:xfrm>
            <a:off x="711200" y="3907507"/>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0" name="Text 28"/>
          <p:cNvSpPr/>
          <p:nvPr/>
        </p:nvSpPr>
        <p:spPr>
          <a:xfrm>
            <a:off x="911606"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FA workflow spanning all six memory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RCA knowledge graph seeded with [__] past failure cases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new failures matched to a known RCA pattern</a:t>
            </a:r>
            <a:endParaRPr lang="en-US" sz="1200" dirty="0"/>
          </a:p>
        </p:txBody>
      </p:sp>
      <p:sp>
        <p:nvSpPr>
          <p:cNvPr id="31" name="Shape 29"/>
          <p:cNvSpPr/>
          <p:nvPr/>
        </p:nvSpPr>
        <p:spPr>
          <a:xfrm>
            <a:off x="4351867" y="3907507"/>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2" name="Text 30"/>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3" name="Text 31"/>
          <p:cNvSpPr/>
          <p:nvPr/>
        </p:nvSpPr>
        <p:spPr>
          <a:xfrm>
            <a:off x="4552273"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Anchor one FA stack: SHIELD decodes, iUTA triages, RootLens explains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 the loop: field failure → Zion lab repro → verified fix</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L3-6.c golden set as the Sol PE RCA standard</a:t>
            </a:r>
            <a:endParaRPr lang="en-US" sz="1200" dirty="0"/>
          </a:p>
        </p:txBody>
      </p:sp>
      <p:sp>
        <p:nvSpPr>
          <p:cNvPr id="34" name="Shape 32"/>
          <p:cNvSpPr/>
          <p:nvPr/>
        </p:nvSpPr>
        <p:spPr>
          <a:xfrm>
            <a:off x="7992534" y="3907507"/>
            <a:ext cx="3488267" cy="1856648"/>
          </a:xfrm>
          <a:prstGeom prst="roundRect">
            <a:avLst>
              <a:gd name="adj" fmla="val 4788"/>
            </a:avLst>
          </a:prstGeom>
          <a:solidFill>
            <a:srgbClr val="0F1B3D"/>
          </a:solidFill>
          <a:ln/>
        </p:spPr>
      </p:sp>
      <p:sp>
        <p:nvSpPr>
          <p:cNvPr id="35" name="Text 33"/>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6" name="Text 34"/>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37" name="Text 35"/>
          <p:cNvSpPr/>
          <p:nvPr/>
        </p:nvSpPr>
        <p:spPr>
          <a:xfrm>
            <a:off x="9338734" y="43621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root cause in the top 3</a:t>
            </a:r>
            <a:endParaRPr lang="en-US" sz="1200" dirty="0"/>
          </a:p>
        </p:txBody>
      </p:sp>
      <p:sp>
        <p:nvSpPr>
          <p:cNvPr id="38" name="Text 36"/>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9" name="Text 37"/>
          <p:cNvSpPr/>
          <p:nvPr/>
        </p:nvSpPr>
        <p:spPr>
          <a:xfrm>
            <a:off x="9338734" y="48878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RCA category accuracy</a:t>
            </a:r>
            <a:endParaRPr lang="en-US" sz="1200" dirty="0"/>
          </a:p>
        </p:txBody>
      </p:sp>
      <p:sp>
        <p:nvSpPr>
          <p:cNvPr id="40" name="Text 38"/>
          <p:cNvSpPr/>
          <p:nvPr/>
        </p:nvSpPr>
        <p:spPr>
          <a:xfrm>
            <a:off x="8170334" y="527394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−40%</a:t>
            </a:r>
            <a:endParaRPr lang="en-US" sz="2000" dirty="0"/>
          </a:p>
        </p:txBody>
      </p:sp>
      <p:sp>
        <p:nvSpPr>
          <p:cNvPr id="41" name="Text 39"/>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Time from defect open to RCA</a:t>
            </a:r>
            <a:endParaRPr lang="en-US" sz="1200" dirty="0"/>
          </a:p>
        </p:txBody>
      </p:sp>
      <p:sp>
        <p:nvSpPr>
          <p:cNvPr id="42" name="Text 4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3" name="Text 4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15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10 / 10 · THE PLATFORM · STLC P1–P10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3F5F8"/>
                </a:solidFill>
                <a:latin typeface="Manrope" pitchFamily="34" charset="0"/>
                <a:ea typeface="Manrope" pitchFamily="34" charset="-122"/>
                <a:cs typeface="Manrope" pitchFamily="34" charset="-120"/>
              </a:rPr>
              <a:t>Zion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2E6"/>
                </a:solidFill>
                <a:latin typeface="IBM Plex Sans" pitchFamily="34" charset="0"/>
                <a:ea typeface="IBM Plex Sans" pitchFamily="34" charset="-122"/>
                <a:cs typeface="IBM Plex Sans" pitchFamily="34" charset="-120"/>
              </a:rPr>
              <a:t>One platform under all ten: governed workflows, one portal, shared agents and data.</a:t>
            </a:r>
            <a:endParaRPr lang="en-US" sz="1500" dirty="0"/>
          </a:p>
        </p:txBody>
      </p:sp>
      <p:sp>
        <p:nvSpPr>
          <p:cNvPr id="5" name="Text 3"/>
          <p:cNvSpPr/>
          <p:nvPr/>
        </p:nvSpPr>
        <p:spPr>
          <a:xfrm>
            <a:off x="711200"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Products</a:t>
            </a:r>
            <a:r>
              <a:rPr lang="en-US" sz="1200" dirty="0">
                <a:solidFill>
                  <a:srgbClr val="E6EBF5"/>
                </a:solidFill>
                <a:latin typeface="IBM Plex Sans" pitchFamily="34" charset="0"/>
                <a:ea typeface="IBM Plex Sans" pitchFamily="34" charset="-122"/>
                <a:cs typeface="IBM Plex Sans" pitchFamily="34" charset="-120"/>
              </a:rPr>
              <a:t> all 6 product lines</a:t>
            </a:r>
            <a:endParaRPr lang="en-US" sz="1200" dirty="0"/>
          </a:p>
        </p:txBody>
      </p:sp>
      <p:sp>
        <p:nvSpPr>
          <p:cNvPr id="6" name="Text 4"/>
          <p:cNvSpPr/>
          <p:nvPr/>
        </p:nvSpPr>
        <p:spPr>
          <a:xfrm>
            <a:off x="2915576" y="1614091"/>
            <a:ext cx="2934692" cy="289520"/>
          </a:xfrm>
          <a:custGeom>
            <a:avLst/>
            <a:gdLst/>
            <a:ahLst/>
            <a:cxnLst/>
            <a:rect l="l" t="t" r="r" b="b"/>
            <a:pathLst>
              <a:path w="2934692" h="289520">
                <a:moveTo>
                  <a:pt x="144760" y="0"/>
                </a:moveTo>
                <a:lnTo>
                  <a:pt x="2789932" y="0"/>
                </a:lnTo>
                <a:arcTo hR="144760" wR="144760" stAng="16200000" swAng="5400000"/>
                <a:lnTo>
                  <a:pt x="29346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Lifecycle</a:t>
            </a:r>
            <a:r>
              <a:rPr lang="en-US" sz="1200" dirty="0">
                <a:solidFill>
                  <a:srgbClr val="E6EBF5"/>
                </a:solidFill>
                <a:latin typeface="IBM Plex Sans" pitchFamily="34" charset="0"/>
                <a:ea typeface="IBM Plex Sans" pitchFamily="34" charset="-122"/>
                <a:cs typeface="IBM Plex Sans" pitchFamily="34" charset="-120"/>
              </a:rPr>
              <a:t> 10 STLC phases · 76 activities</a:t>
            </a:r>
            <a:endParaRPr lang="en-US" sz="1200" dirty="0"/>
          </a:p>
        </p:txBody>
      </p:sp>
      <p:sp>
        <p:nvSpPr>
          <p:cNvPr id="7" name="Text 5"/>
          <p:cNvSpPr/>
          <p:nvPr/>
        </p:nvSpPr>
        <p:spPr>
          <a:xfrm>
            <a:off x="5926468" y="1614091"/>
            <a:ext cx="2299758" cy="289520"/>
          </a:xfrm>
          <a:custGeom>
            <a:avLst/>
            <a:gdLst/>
            <a:ahLst/>
            <a:cxnLst/>
            <a:rect l="l" t="t" r="r" b="b"/>
            <a:pathLst>
              <a:path w="2299758" h="289520">
                <a:moveTo>
                  <a:pt x="144760" y="0"/>
                </a:moveTo>
                <a:lnTo>
                  <a:pt x="2154998" y="0"/>
                </a:lnTo>
                <a:arcTo hR="144760" wR="144760" stAng="16200000" swAng="5400000"/>
                <a:lnTo>
                  <a:pt x="229975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Layers</a:t>
            </a:r>
            <a:r>
              <a:rPr lang="en-US" sz="1200" dirty="0">
                <a:solidFill>
                  <a:srgbClr val="E6EBF5"/>
                </a:solidFill>
                <a:latin typeface="IBM Plex Sans" pitchFamily="34" charset="0"/>
                <a:ea typeface="IBM Plex Sans" pitchFamily="34" charset="-122"/>
                <a:cs typeface="IBM Plex Sans" pitchFamily="34" charset="-120"/>
              </a:rPr>
              <a:t> 4 AI layers + execution</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18264D"/>
          </a:solidFill>
          <a:ln/>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Work process</a:t>
            </a:r>
            <a:endParaRPr lang="en-US" sz="1300" dirty="0"/>
          </a:p>
        </p:txBody>
      </p:sp>
      <p:sp>
        <p:nvSpPr>
          <p:cNvPr id="12" name="Text 10"/>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Governed QA workflows, quality gates and human approvals</a:t>
            </a:r>
            <a:endParaRPr lang="en-US" sz="1200" dirty="0"/>
          </a:p>
        </p:txBody>
      </p:sp>
      <p:sp>
        <p:nvSpPr>
          <p:cNvPr id="13" name="Shape 11"/>
          <p:cNvSpPr/>
          <p:nvPr/>
        </p:nvSpPr>
        <p:spPr>
          <a:xfrm>
            <a:off x="2885414" y="2370931"/>
            <a:ext cx="2072614" cy="1358768"/>
          </a:xfrm>
          <a:prstGeom prst="roundRect">
            <a:avLst>
              <a:gd name="adj" fmla="val 6543"/>
            </a:avLst>
          </a:prstGeom>
          <a:solidFill>
            <a:srgbClr val="18264D"/>
          </a:solidFill>
          <a:ln/>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Application</a:t>
            </a:r>
            <a:endParaRPr lang="en-US" sz="1300" dirty="0"/>
          </a:p>
        </p:txBody>
      </p:sp>
      <p:sp>
        <p:nvSpPr>
          <p:cNvPr id="16" name="Text 14"/>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One portal and dashboards for every role and phase</a:t>
            </a:r>
            <a:endParaRPr lang="en-US" sz="1200" dirty="0"/>
          </a:p>
        </p:txBody>
      </p:sp>
      <p:sp>
        <p:nvSpPr>
          <p:cNvPr id="17" name="Shape 15"/>
          <p:cNvSpPr/>
          <p:nvPr/>
        </p:nvSpPr>
        <p:spPr>
          <a:xfrm>
            <a:off x="5059627" y="2370931"/>
            <a:ext cx="2072680" cy="1358768"/>
          </a:xfrm>
          <a:prstGeom prst="roundRect">
            <a:avLst>
              <a:gd name="adj" fmla="val 6543"/>
            </a:avLst>
          </a:prstGeom>
          <a:solidFill>
            <a:srgbClr val="18264D"/>
          </a:solidFill>
          <a:ln/>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Agents</a:t>
            </a:r>
            <a:endParaRPr lang="en-US" sz="1300" dirty="0"/>
          </a:p>
        </p:txBody>
      </p:sp>
      <p:sp>
        <p:nvSpPr>
          <p:cNvPr id="20" name="Text 18"/>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The nine solutions plus orchestration on one runtime</a:t>
            </a:r>
            <a:endParaRPr lang="en-US" sz="1200" dirty="0"/>
          </a:p>
        </p:txBody>
      </p:sp>
      <p:sp>
        <p:nvSpPr>
          <p:cNvPr id="21" name="Shape 19"/>
          <p:cNvSpPr/>
          <p:nvPr/>
        </p:nvSpPr>
        <p:spPr>
          <a:xfrm>
            <a:off x="7233907" y="2370931"/>
            <a:ext cx="2072614" cy="1358768"/>
          </a:xfrm>
          <a:prstGeom prst="roundRect">
            <a:avLst>
              <a:gd name="adj" fmla="val 6543"/>
            </a:avLst>
          </a:prstGeom>
          <a:solidFill>
            <a:srgbClr val="18264D"/>
          </a:solidFill>
          <a:ln/>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Data</a:t>
            </a:r>
            <a:endParaRPr lang="en-US" sz="1300" dirty="0"/>
          </a:p>
        </p:txBody>
      </p:sp>
      <p:sp>
        <p:nvSpPr>
          <p:cNvPr id="24" name="Text 22"/>
          <p:cNvSpPr/>
          <p:nvPr/>
        </p:nvSpPr>
        <p:spPr>
          <a:xfrm>
            <a:off x="7373607"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Knowledge mesh: specs, tests, defects, telemetry, RAG</a:t>
            </a:r>
            <a:endParaRPr lang="en-US" sz="1200" dirty="0"/>
          </a:p>
        </p:txBody>
      </p:sp>
      <p:sp>
        <p:nvSpPr>
          <p:cNvPr id="25" name="Shape 23"/>
          <p:cNvSpPr/>
          <p:nvPr/>
        </p:nvSpPr>
        <p:spPr>
          <a:xfrm>
            <a:off x="9408120" y="2370931"/>
            <a:ext cx="2072680" cy="1358768"/>
          </a:xfrm>
          <a:prstGeom prst="roundRect">
            <a:avLst>
              <a:gd name="adj" fmla="val 6543"/>
            </a:avLst>
          </a:prstGeom>
          <a:solidFill>
            <a:srgbClr val="18264D"/>
          </a:solidFill>
          <a:ln/>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Execution</a:t>
            </a:r>
            <a:endParaRPr lang="en-US" sz="1300" dirty="0"/>
          </a:p>
        </p:txBody>
      </p:sp>
      <p:sp>
        <p:nvSpPr>
          <p:cNvPr id="28" name="Text 26"/>
          <p:cNvSpPr/>
          <p:nvPr/>
        </p:nvSpPr>
        <p:spPr>
          <a:xfrm>
            <a:off x="9547820"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UTH automation, LaaS labs, DSA analytics, Robotics</a:t>
            </a:r>
            <a:endParaRPr lang="en-US" sz="1200" dirty="0"/>
          </a:p>
        </p:txBody>
      </p:sp>
      <p:sp>
        <p:nvSpPr>
          <p:cNvPr id="29" name="Shape 27"/>
          <p:cNvSpPr/>
          <p:nvPr/>
        </p:nvSpPr>
        <p:spPr>
          <a:xfrm>
            <a:off x="711200" y="3907507"/>
            <a:ext cx="3488267" cy="1828602"/>
          </a:xfrm>
          <a:prstGeom prst="roundRect">
            <a:avLst>
              <a:gd name="adj" fmla="val 4862"/>
            </a:avLst>
          </a:prstGeom>
          <a:solidFill>
            <a:srgbClr val="18264D"/>
          </a:solidFill>
          <a:ln/>
        </p:spPr>
      </p:sp>
      <p:sp>
        <p:nvSpPr>
          <p:cNvPr id="30" name="Text 28"/>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Architecture set: 10 STLC phases, 76 activities, 15 components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Execution substrate already automating labs: UTH, LaaS, DSA, Robotics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L3 benchmark, capability registry and AI solutions dashboard</a:t>
            </a:r>
            <a:endParaRPr lang="en-US" sz="1200" dirty="0"/>
          </a:p>
        </p:txBody>
      </p:sp>
      <p:sp>
        <p:nvSpPr>
          <p:cNvPr id="32" name="Shape 30"/>
          <p:cNvSpPr/>
          <p:nvPr/>
        </p:nvSpPr>
        <p:spPr>
          <a:xfrm>
            <a:off x="4351867" y="3907507"/>
            <a:ext cx="3488267" cy="1828602"/>
          </a:xfrm>
          <a:prstGeom prst="roundRect">
            <a:avLst>
              <a:gd name="adj" fmla="val 4862"/>
            </a:avLst>
          </a:prstGeom>
          <a:solidFill>
            <a:srgbClr val="18264D"/>
          </a:solidFill>
          <a:ln/>
        </p:spPr>
      </p:sp>
      <p:sp>
        <p:nvSpPr>
          <p:cNvPr id="33" name="Text 31"/>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H1: agent runtime, LLM gateway, knowledge mesh; MVP by day 90</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H2: zero-touch execution and AI defect intelligence in shadow mode</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H3: field → lab → fix closed loop across all six product lines</a:t>
            </a:r>
            <a:endParaRPr lang="en-US" sz="1200" dirty="0"/>
          </a:p>
        </p:txBody>
      </p:sp>
      <p:sp>
        <p:nvSpPr>
          <p:cNvPr id="35" name="Shape 33"/>
          <p:cNvSpPr/>
          <p:nvPr/>
        </p:nvSpPr>
        <p:spPr>
          <a:xfrm>
            <a:off x="7992534" y="3907507"/>
            <a:ext cx="3488267" cy="1828602"/>
          </a:xfrm>
          <a:prstGeom prst="roundRect">
            <a:avLst>
              <a:gd name="adj" fmla="val 4862"/>
            </a:avLst>
          </a:prstGeom>
          <a:solidFill>
            <a:srgbClr val="F3F5F8"/>
          </a:solidFill>
          <a:ln/>
        </p:spPr>
      </p:sp>
      <p:sp>
        <p:nvSpPr>
          <p:cNvPr id="36" name="Text 34"/>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84%+</a:t>
            </a:r>
            <a:endParaRPr lang="en-US" sz="2000" dirty="0"/>
          </a:p>
        </p:txBody>
      </p:sp>
      <p:sp>
        <p:nvSpPr>
          <p:cNvPr id="38" name="Text 36"/>
          <p:cNvSpPr/>
          <p:nvPr/>
        </p:nvSpPr>
        <p:spPr>
          <a:xfrm>
            <a:off x="9338734" y="4402733"/>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Lifecycle activities AI-driven</a:t>
            </a:r>
            <a:endParaRPr lang="en-US" sz="1200" dirty="0"/>
          </a:p>
        </p:txBody>
      </p:sp>
      <p:sp>
        <p:nvSpPr>
          <p:cNvPr id="39" name="Text 37"/>
          <p:cNvSpPr/>
          <p:nvPr/>
        </p:nvSpPr>
        <p:spPr>
          <a:xfrm>
            <a:off x="8170334" y="47888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6</a:t>
            </a:r>
            <a:endParaRPr lang="en-US" sz="2000" dirty="0"/>
          </a:p>
        </p:txBody>
      </p:sp>
      <p:sp>
        <p:nvSpPr>
          <p:cNvPr id="40" name="Text 38"/>
          <p:cNvSpPr/>
          <p:nvPr/>
        </p:nvSpPr>
        <p:spPr>
          <a:xfrm>
            <a:off x="9338734" y="47304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Product lines on one platform</a:t>
            </a:r>
            <a:endParaRPr lang="en-US" sz="1200" dirty="0"/>
          </a:p>
        </p:txBody>
      </p:sp>
      <p:sp>
        <p:nvSpPr>
          <p:cNvPr id="41" name="Text 39"/>
          <p:cNvSpPr/>
          <p:nvPr/>
        </p:nvSpPr>
        <p:spPr>
          <a:xfrm>
            <a:off x="8170334" y="52155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Day 90</a:t>
            </a:r>
            <a:endParaRPr lang="en-US" sz="2000" dirty="0"/>
          </a:p>
        </p:txBody>
      </p:sp>
      <p:sp>
        <p:nvSpPr>
          <p:cNvPr id="42" name="Text 40"/>
          <p:cNvSpPr/>
          <p:nvPr/>
        </p:nvSpPr>
        <p:spPr>
          <a:xfrm>
            <a:off x="9338734" y="52561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MVP live on pilot programs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16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HQ VISIT · ALIGNMENT</a:t>
            </a:r>
            <a:endParaRPr lang="en-US" sz="1200" dirty="0"/>
          </a:p>
        </p:txBody>
      </p:sp>
      <p:sp>
        <p:nvSpPr>
          <p:cNvPr id="3" name="Text 1"/>
          <p:cNvSpPr/>
          <p:nvPr>
            <p:ph type="title"/>
          </p:nvPr>
        </p:nvSpPr>
        <p:spPr>
          <a:xfrm>
            <a:off x="711200" y="759420"/>
            <a:ext cx="11092688"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D"/>
                </a:solidFill>
                <a:latin typeface="Manrope" pitchFamily="34" charset="0"/>
                <a:ea typeface="Manrope" pitchFamily="34" charset="-122"/>
                <a:cs typeface="Manrope" pitchFamily="34" charset="-120"/>
              </a:rPr>
              <a:t>From discussion to joint tasks with HQ</a:t>
            </a:r>
            <a:endParaRPr lang="en-US" sz="3200" dirty="0"/>
          </a:p>
        </p:txBody>
      </p:sp>
      <p:sp>
        <p:nvSpPr>
          <p:cNvPr id="4" name="Text 2"/>
          <p:cNvSpPr/>
          <p:nvPr/>
        </p:nvSpPr>
        <p:spPr>
          <a:xfrm>
            <a:off x="711200" y="1269938"/>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Agree one map of AI capabilities, then decide item by item: collaborate, or reuse from each other.</a:t>
            </a:r>
            <a:endParaRPr lang="en-US" sz="1500" dirty="0"/>
          </a:p>
        </p:txBody>
      </p:sp>
      <p:sp>
        <p:nvSpPr>
          <p:cNvPr id="5" name="Text 3"/>
          <p:cNvSpPr/>
          <p:nvPr/>
        </p:nvSpPr>
        <p:spPr>
          <a:xfrm>
            <a:off x="172443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DOES NOT HAVE IT</a:t>
            </a:r>
            <a:endParaRPr lang="en-US" sz="1200" dirty="0"/>
          </a:p>
        </p:txBody>
      </p:sp>
      <p:sp>
        <p:nvSpPr>
          <p:cNvPr id="6" name="Text 4"/>
          <p:cNvSpPr/>
          <p:nvPr/>
        </p:nvSpPr>
        <p:spPr>
          <a:xfrm>
            <a:off x="455018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HAS IT</a:t>
            </a:r>
            <a:endParaRPr lang="en-US" sz="1200" dirty="0"/>
          </a:p>
        </p:txBody>
      </p:sp>
      <p:sp>
        <p:nvSpPr>
          <p:cNvPr id="7" name="Text 5"/>
          <p:cNvSpPr/>
          <p:nvPr/>
        </p:nvSpPr>
        <p:spPr>
          <a:xfrm>
            <a:off x="711200" y="2622426"/>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HAS IT</a:t>
            </a:r>
            <a:endParaRPr lang="en-US" sz="1200" dirty="0"/>
          </a:p>
        </p:txBody>
      </p:sp>
      <p:sp>
        <p:nvSpPr>
          <p:cNvPr id="8" name="Shape 6"/>
          <p:cNvSpPr/>
          <p:nvPr/>
        </p:nvSpPr>
        <p:spPr>
          <a:xfrm>
            <a:off x="176530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191770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4FD8"/>
                </a:solidFill>
                <a:latin typeface="Manrope" pitchFamily="34" charset="0"/>
                <a:ea typeface="Manrope" pitchFamily="34" charset="-122"/>
                <a:cs typeface="Manrope" pitchFamily="34" charset="-120"/>
              </a:rPr>
              <a:t>Offer to HQ</a:t>
            </a:r>
            <a:endParaRPr lang="en-US" sz="1500" dirty="0"/>
          </a:p>
        </p:txBody>
      </p:sp>
      <p:sp>
        <p:nvSpPr>
          <p:cNvPr id="10" name="Text 8"/>
          <p:cNvSpPr/>
          <p:nvPr/>
        </p:nvSpPr>
        <p:spPr>
          <a:xfrm>
            <a:off x="1917700" y="2454808"/>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Package and share; HQ reuses on its products.</a:t>
            </a:r>
            <a:endParaRPr lang="en-US" sz="1200" dirty="0"/>
          </a:p>
        </p:txBody>
      </p:sp>
      <p:sp>
        <p:nvSpPr>
          <p:cNvPr id="11" name="Text 9"/>
          <p:cNvSpPr/>
          <p:nvPr/>
        </p:nvSpPr>
        <p:spPr>
          <a:xfrm>
            <a:off x="1917700" y="2917031"/>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Review Shield, CoverSight, Combinatorial Testing</a:t>
            </a:r>
            <a:endParaRPr lang="en-US" sz="1200" dirty="0"/>
          </a:p>
        </p:txBody>
      </p:sp>
      <p:sp>
        <p:nvSpPr>
          <p:cNvPr id="12" name="Shape 10"/>
          <p:cNvSpPr/>
          <p:nvPr/>
        </p:nvSpPr>
        <p:spPr>
          <a:xfrm>
            <a:off x="459105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474345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6F"/>
                </a:solidFill>
                <a:latin typeface="Manrope" pitchFamily="34" charset="0"/>
                <a:ea typeface="Manrope" pitchFamily="34" charset="-122"/>
                <a:cs typeface="Manrope" pitchFamily="34" charset="-120"/>
              </a:rPr>
              <a:t>Benchmark &amp; converge</a:t>
            </a:r>
            <a:endParaRPr lang="en-US" sz="1500" dirty="0"/>
          </a:p>
        </p:txBody>
      </p:sp>
      <p:sp>
        <p:nvSpPr>
          <p:cNvPr id="14" name="Text 12"/>
          <p:cNvSpPr/>
          <p:nvPr/>
        </p:nvSpPr>
        <p:spPr>
          <a:xfrm>
            <a:off x="4743450" y="2454808"/>
            <a:ext cx="2491931"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Run both on one golden set; the stronger becomes the shared standard.</a:t>
            </a:r>
            <a:endParaRPr lang="en-US" sz="1200" dirty="0"/>
          </a:p>
        </p:txBody>
      </p:sp>
      <p:sp>
        <p:nvSpPr>
          <p:cNvPr id="15" name="Text 13"/>
          <p:cNvSpPr/>
          <p:nvPr/>
        </p:nvSpPr>
        <p:spPr>
          <a:xfrm>
            <a:off x="4743450" y="3122749"/>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Test generation, failure analysis</a:t>
            </a:r>
            <a:endParaRPr lang="en-US" sz="1200" dirty="0"/>
          </a:p>
        </p:txBody>
      </p:sp>
      <p:sp>
        <p:nvSpPr>
          <p:cNvPr id="16" name="Text 14"/>
          <p:cNvSpPr/>
          <p:nvPr/>
        </p:nvSpPr>
        <p:spPr>
          <a:xfrm>
            <a:off x="711200" y="4272037"/>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DOES NOT</a:t>
            </a:r>
            <a:endParaRPr lang="en-US" sz="1200" dirty="0"/>
          </a:p>
        </p:txBody>
      </p:sp>
      <p:sp>
        <p:nvSpPr>
          <p:cNvPr id="17" name="Shape 15"/>
          <p:cNvSpPr/>
          <p:nvPr/>
        </p:nvSpPr>
        <p:spPr>
          <a:xfrm>
            <a:off x="176530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191770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3D"/>
                </a:solidFill>
                <a:latin typeface="Manrope" pitchFamily="34" charset="0"/>
                <a:ea typeface="Manrope" pitchFamily="34" charset="-122"/>
                <a:cs typeface="Manrope" pitchFamily="34" charset="-120"/>
              </a:rPr>
              <a:t>Co-develop</a:t>
            </a:r>
            <a:endParaRPr lang="en-US" sz="1500" dirty="0"/>
          </a:p>
        </p:txBody>
      </p:sp>
      <p:sp>
        <p:nvSpPr>
          <p:cNvPr id="19" name="Text 17"/>
          <p:cNvSpPr/>
          <p:nvPr/>
        </p:nvSpPr>
        <p:spPr>
          <a:xfrm>
            <a:off x="191770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Build once, jointly, on shared services.</a:t>
            </a:r>
            <a:endParaRPr lang="en-US" sz="1200" dirty="0"/>
          </a:p>
        </p:txBody>
      </p:sp>
      <p:sp>
        <p:nvSpPr>
          <p:cNvPr id="20" name="Text 18"/>
          <p:cNvSpPr/>
          <p:nvPr/>
        </p:nvSpPr>
        <p:spPr>
          <a:xfrm>
            <a:off x="1917700" y="4669507"/>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Golden sets, log parser, field → lab closed loop</a:t>
            </a:r>
            <a:endParaRPr lang="en-US" sz="1200" dirty="0"/>
          </a:p>
        </p:txBody>
      </p:sp>
      <p:sp>
        <p:nvSpPr>
          <p:cNvPr id="21" name="Shape 19"/>
          <p:cNvSpPr/>
          <p:nvPr/>
        </p:nvSpPr>
        <p:spPr>
          <a:xfrm>
            <a:off x="459105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474345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A"/>
                </a:solidFill>
                <a:latin typeface="Manrope" pitchFamily="34" charset="0"/>
                <a:ea typeface="Manrope" pitchFamily="34" charset="-122"/>
                <a:cs typeface="Manrope" pitchFamily="34" charset="-120"/>
              </a:rPr>
              <a:t>Reuse from HQ</a:t>
            </a:r>
            <a:endParaRPr lang="en-US" sz="1500" dirty="0"/>
          </a:p>
        </p:txBody>
      </p:sp>
      <p:sp>
        <p:nvSpPr>
          <p:cNvPr id="23" name="Text 21"/>
          <p:cNvSpPr/>
          <p:nvPr/>
        </p:nvSpPr>
        <p:spPr>
          <a:xfrm>
            <a:off x="474345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Adopt HQ's function; Sol PE adds memory-product packs.</a:t>
            </a:r>
            <a:endParaRPr lang="en-US" sz="1200" dirty="0"/>
          </a:p>
        </p:txBody>
      </p:sp>
      <p:sp>
        <p:nvSpPr>
          <p:cNvPr id="24" name="Text 22"/>
          <p:cNvSpPr/>
          <p:nvPr/>
        </p:nvSpPr>
        <p:spPr>
          <a:xfrm>
            <a:off x="4743450" y="4669507"/>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Our white space: planning, env setup, release</a:t>
            </a:r>
            <a:endParaRPr lang="en-US" sz="1200" dirty="0"/>
          </a:p>
        </p:txBody>
      </p:sp>
      <p:sp>
        <p:nvSpPr>
          <p:cNvPr id="25" name="Text 23"/>
          <p:cNvSpPr/>
          <p:nvPr/>
        </p:nvSpPr>
        <p:spPr>
          <a:xfrm>
            <a:off x="7620000" y="1695388"/>
            <a:ext cx="397662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FROM VISIT TO TASKS</a:t>
            </a:r>
            <a:endParaRPr lang="en-US" sz="1200" dirty="0"/>
          </a:p>
        </p:txBody>
      </p:sp>
      <p:sp>
        <p:nvSpPr>
          <p:cNvPr id="26" name="Text 24"/>
          <p:cNvSpPr/>
          <p:nvPr/>
        </p:nvSpPr>
        <p:spPr>
          <a:xfrm>
            <a:off x="7620000" y="2048408"/>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1</a:t>
            </a:r>
            <a:endParaRPr lang="en-US" sz="1300" dirty="0"/>
          </a:p>
        </p:txBody>
      </p:sp>
      <p:sp>
        <p:nvSpPr>
          <p:cNvPr id="27" name="Text 25"/>
          <p:cNvSpPr/>
          <p:nvPr/>
        </p:nvSpPr>
        <p:spPr>
          <a:xfrm>
            <a:off x="8064500" y="2048408"/>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Share both maps</a:t>
            </a:r>
            <a:endParaRPr lang="en-US" sz="1400" dirty="0"/>
          </a:p>
        </p:txBody>
      </p:sp>
      <p:sp>
        <p:nvSpPr>
          <p:cNvPr id="28" name="Text 26"/>
          <p:cNvSpPr/>
          <p:nvPr/>
        </p:nvSpPr>
        <p:spPr>
          <a:xfrm>
            <a:off x="8064500" y="2287129"/>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Sol PE STLC × AI map beside HQ's 7-layer agent map (CAST, WingMate, MAGMA, SOLAR-A, SALT)</a:t>
            </a:r>
            <a:endParaRPr lang="en-US" sz="1200" dirty="0"/>
          </a:p>
        </p:txBody>
      </p:sp>
      <p:sp>
        <p:nvSpPr>
          <p:cNvPr id="29" name="Text 27"/>
          <p:cNvSpPr/>
          <p:nvPr/>
        </p:nvSpPr>
        <p:spPr>
          <a:xfrm>
            <a:off x="7620000" y="2838252"/>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2</a:t>
            </a:r>
            <a:endParaRPr lang="en-US" sz="1300" dirty="0"/>
          </a:p>
        </p:txBody>
      </p:sp>
      <p:sp>
        <p:nvSpPr>
          <p:cNvPr id="30" name="Text 28"/>
          <p:cNvSpPr/>
          <p:nvPr/>
        </p:nvSpPr>
        <p:spPr>
          <a:xfrm>
            <a:off x="8064500" y="2838252"/>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Place each capability</a:t>
            </a:r>
            <a:endParaRPr lang="en-US" sz="1400" dirty="0"/>
          </a:p>
        </p:txBody>
      </p:sp>
      <p:sp>
        <p:nvSpPr>
          <p:cNvPr id="31" name="Text 29"/>
          <p:cNvSpPr/>
          <p:nvPr/>
        </p:nvSpPr>
        <p:spPr>
          <a:xfrm>
            <a:off x="8064500" y="3076972"/>
            <a:ext cx="351878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One quadrant per capability, agreed in the room</a:t>
            </a:r>
            <a:endParaRPr lang="en-US" sz="1200" dirty="0"/>
          </a:p>
        </p:txBody>
      </p:sp>
      <p:sp>
        <p:nvSpPr>
          <p:cNvPr id="32" name="Text 30"/>
          <p:cNvSpPr/>
          <p:nvPr/>
        </p:nvSpPr>
        <p:spPr>
          <a:xfrm>
            <a:off x="7620000" y="3422390"/>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3</a:t>
            </a:r>
            <a:endParaRPr lang="en-US" sz="1300" dirty="0"/>
          </a:p>
        </p:txBody>
      </p:sp>
      <p:sp>
        <p:nvSpPr>
          <p:cNvPr id="33" name="Text 31"/>
          <p:cNvSpPr/>
          <p:nvPr/>
        </p:nvSpPr>
        <p:spPr>
          <a:xfrm>
            <a:off x="8064500" y="3422390"/>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Turn into tasks</a:t>
            </a:r>
            <a:endParaRPr lang="en-US" sz="1400" dirty="0"/>
          </a:p>
        </p:txBody>
      </p:sp>
      <p:sp>
        <p:nvSpPr>
          <p:cNvPr id="34" name="Text 32"/>
          <p:cNvSpPr/>
          <p:nvPr/>
        </p:nvSpPr>
        <p:spPr>
          <a:xfrm>
            <a:off x="8064500" y="3661110"/>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Joint backlog: owner on each side, date, L3 benchmark target</a:t>
            </a:r>
            <a:endParaRPr lang="en-US" sz="1200" dirty="0"/>
          </a:p>
        </p:txBody>
      </p:sp>
      <p:sp>
        <p:nvSpPr>
          <p:cNvPr id="35" name="Text 33"/>
          <p:cNvSpPr/>
          <p:nvPr/>
        </p:nvSpPr>
        <p:spPr>
          <a:xfrm>
            <a:off x="7620000" y="4212233"/>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4</a:t>
            </a:r>
            <a:endParaRPr lang="en-US" sz="1300" dirty="0"/>
          </a:p>
        </p:txBody>
      </p:sp>
      <p:sp>
        <p:nvSpPr>
          <p:cNvPr id="36" name="Text 34"/>
          <p:cNvSpPr/>
          <p:nvPr/>
        </p:nvSpPr>
        <p:spPr>
          <a:xfrm>
            <a:off x="8064500" y="4212233"/>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Review quarterly</a:t>
            </a:r>
            <a:endParaRPr lang="en-US" sz="1400" dirty="0"/>
          </a:p>
        </p:txBody>
      </p:sp>
      <p:sp>
        <p:nvSpPr>
          <p:cNvPr id="37" name="Text 35"/>
          <p:cNvSpPr/>
          <p:nvPr/>
        </p:nvSpPr>
        <p:spPr>
          <a:xfrm>
            <a:off x="8064500" y="4450953"/>
            <a:ext cx="409956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Promote Tier-1 functions to both sites' platforms</a:t>
            </a:r>
            <a:endParaRPr lang="en-US" sz="1200" dirty="0"/>
          </a:p>
        </p:txBody>
      </p:sp>
      <p:sp>
        <p:nvSpPr>
          <p:cNvPr id="38" name="Text 36"/>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9" name="Text 37"/>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Sol PE AI Initiatives — Y2026 Close-out &amp; Y2027 Plan">
  <a:themeElements>
    <a:clrScheme name="Sol PE AI Initiatives — Y2026 Close-out &amp; Y2027 Plan">
      <a:dk1>
        <a:srgbClr val="0F1B3D"/>
      </a:dk1>
      <a:lt1>
        <a:srgbClr val="F3F5F8"/>
      </a:lt1>
      <a:dk2>
        <a:srgbClr val="48526C"/>
      </a:dk2>
      <a:lt2>
        <a:srgbClr val="DCDFE5"/>
      </a:lt2>
      <a:accent1>
        <a:srgbClr val="1E4FD8"/>
      </a:accent1>
      <a:accent2>
        <a:srgbClr val="B4530A"/>
      </a:accent2>
      <a:accent3>
        <a:srgbClr val="0B7A6F"/>
      </a:accent3>
      <a:accent4>
        <a:srgbClr val="8FB0FF"/>
      </a:accent4>
      <a:accent5>
        <a:srgbClr val="22325E"/>
      </a:accent5>
      <a:accent6>
        <a:srgbClr val="9AA6C2"/>
      </a:accent6>
      <a:hlink>
        <a:srgbClr val="0563C1"/>
      </a:hlink>
      <a:folHlink>
        <a:srgbClr val="954F72"/>
      </a:folHlink>
    </a:clrScheme>
    <a:fontScheme name="Sol PE AI Initiatives — Y2026 Close-out &amp; Y2027 Plan">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 PE AI Initiatives — Y2026 Close-out &amp; Y2027 Plan</dc:title>
  <dc:subject/>
  <dc:creator/>
  <cp:lastModifiedBy/>
  <cp:revision>1</cp:revision>
  <dcterms:created xsi:type="dcterms:W3CDTF">2026-10-10T01:36:31Z</dcterms:created>
  <dcterms:modified xsi:type="dcterms:W3CDTF">2026-10-10T01:36:31Z</dcterms:modified>
</cp:coreProperties>
</file>