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215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 the lifecycle runs left to right, and each AI stage now carries three Y2027 targets, one per capability. Stage A (requirements to test-case development): at least 95% of requirements auto-traced to tests, about 30% less test-case development effort (a step up from the 20–25% already proven in Stage A pilots), and about 40% faster test planning. Stage B (qualification): about 30% shorter qualification runs through smart test selection while keeping at least 98% of defect catches, at least 90% spec coverage, and log anomalies flagged within an hour instead of after the run. Stage C (failure analysis to customer claims): about 40% faster FA turnaround, about 70% less report preparation, and about half of incoming claims matched to a known failure at intake. Why the roll-up is smaller than the stage numbers: each gain applies only to its part of the cycle, so spec-to-release shortens by about 20–25% (3–4 months to about 3), not by the sum. All stage figures are Y2027 targets, not Y2026 results. The backup slide shows the basis for each one: benchmark-derived (Tier-1 values from the Sol PE L3 benchmark, discounted for first-year rollout), pilot-anchored, or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only if asked where the numbers come from. Benchmark rows take the Tier-1 targets in the Sol PE L3 Agent benchmark and scale them back for a first year of rollout. The pilot row builds on the 20–25% Stage A effort reduction already seen in pilots. Estimate rows have no benchmark yet; each is a realistic first-year goal that the Y2027 golden sets will turn into a measured baseline. The roll-up explains why the overall speed claim (about 20–25% faster spec-to-release) is much smaller than the stage-level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18120"/>
            <a:ext cx="11277600" cy="335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2400" dirty="0">
                <a:solidFill>
                  <a:srgbClr val="1321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457200" y="1158147"/>
            <a:ext cx="10922000" cy="4887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18120"/>
            <a:ext cx="11277600" cy="335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2400" dirty="0">
                <a:solidFill>
                  <a:srgbClr val="1321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457200" y="1158147"/>
            <a:ext cx="10922000" cy="4887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9400"/>
            <a:ext cx="116159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7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 PE · AI INITIATIVES · EXECUTIVE VIEW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457200" y="518120"/>
            <a:ext cx="1161592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i="0" dirty="0">
                <a:solidFill>
                  <a:srgbClr val="1321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Cognitive Engineering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78747"/>
            <a:ext cx="1161592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3A42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first, faster to release, AI at every stage of the life cycle.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50800" y="0"/>
                </a:moveTo>
                <a:lnTo>
                  <a:pt x="1136650" y="0"/>
                </a:lnTo>
                <a:arcTo wR="50800" hR="50800" stAng="16200000" swAng="5400000"/>
                <a:lnTo>
                  <a:pt x="1187450" y="486833"/>
                </a:lnTo>
                <a:arcTo wR="50800" hR="50800" stAng="0" swAng="5400000"/>
                <a:lnTo>
                  <a:pt x="50800" y="537633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E3EAF5"/>
          </a:solidFill>
          <a:ln/>
        </p:spPr>
        <p:txBody>
          <a:bodyPr wrap="square" lIns="25400" tIns="80433" rIns="25400" bIns="5080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0" y="50800"/>
                </a:moveTo>
                <a:lnTo>
                  <a:pt x="0" y="50800"/>
                </a:lnTo>
                <a:arcTo wR="50800" hR="50800" stAng="10800000" swAng="5400000"/>
                <a:lnTo>
                  <a:pt x="1136650" y="0"/>
                </a:lnTo>
                <a:arcTo wR="50800" hR="50800" stAng="16200000" swAng="5400000"/>
                <a:lnTo>
                  <a:pt x="1187450" y="50800"/>
                </a:lnTo>
                <a:arcTo wR="50800" hR="19050" stAng="0" swAng="-5400000"/>
                <a:lnTo>
                  <a:pt x="50800" y="31750"/>
                </a:lnTo>
                <a:arcTo wR="50800" hR="19050" stAng="16200000" swAng="-5400000"/>
                <a:close/>
              </a:path>
            </a:pathLst>
          </a:custGeom>
          <a:solidFill>
            <a:srgbClr val="2557A7"/>
          </a:solidFill>
          <a:ln/>
        </p:spPr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5450" y="1442178"/>
            <a:ext cx="152400" cy="7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9865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50800" y="0"/>
                </a:moveTo>
                <a:lnTo>
                  <a:pt x="1136650" y="0"/>
                </a:lnTo>
                <a:arcTo wR="50800" hR="50800" stAng="16200000" swAng="5400000"/>
                <a:lnTo>
                  <a:pt x="1187450" y="486833"/>
                </a:lnTo>
                <a:arcTo wR="50800" hR="50800" stAng="0" swAng="5400000"/>
                <a:lnTo>
                  <a:pt x="50800" y="537633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E3EAF5"/>
          </a:solidFill>
          <a:ln/>
        </p:spPr>
        <p:txBody>
          <a:bodyPr wrap="square" lIns="25400" tIns="93133" rIns="25400" bIns="6350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Design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9865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0" y="50800"/>
                </a:moveTo>
                <a:lnTo>
                  <a:pt x="0" y="50800"/>
                </a:lnTo>
                <a:arcTo wR="50800" hR="50800" stAng="10800000" swAng="5400000"/>
                <a:lnTo>
                  <a:pt x="1136650" y="0"/>
                </a:lnTo>
                <a:arcTo wR="50800" hR="50800" stAng="16200000" swAng="5400000"/>
                <a:lnTo>
                  <a:pt x="1187450" y="50800"/>
                </a:lnTo>
                <a:arcTo wR="50800" hR="19050" stAng="0" swAng="-5400000"/>
                <a:lnTo>
                  <a:pt x="50800" y="31750"/>
                </a:lnTo>
                <a:arcTo wR="50800" hR="19050" stAng="16200000" swAng="-5400000"/>
                <a:close/>
              </a:path>
            </a:pathLst>
          </a:custGeom>
          <a:solidFill>
            <a:srgbClr val="2557A7"/>
          </a:solidFill>
          <a:ln/>
        </p:spPr>
      </p:sp>
      <p:pic>
        <p:nvPicPr>
          <p:cNvPr id="1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36900" y="1442178"/>
            <a:ext cx="152400" cy="76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4010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50800" y="0"/>
                </a:moveTo>
                <a:lnTo>
                  <a:pt x="1136650" y="0"/>
                </a:lnTo>
                <a:arcTo wR="50800" hR="50800" stAng="16200000" swAng="5400000"/>
                <a:lnTo>
                  <a:pt x="1187450" y="486833"/>
                </a:lnTo>
                <a:arcTo wR="50800" hR="50800" stAng="0" swAng="5400000"/>
                <a:lnTo>
                  <a:pt x="50800" y="537633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E3EAF5"/>
          </a:solidFill>
          <a:ln/>
        </p:spPr>
        <p:txBody>
          <a:bodyPr wrap="square" lIns="25400" tIns="80433" rIns="25400" bIns="5080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 Development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4010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0" y="50800"/>
                </a:moveTo>
                <a:lnTo>
                  <a:pt x="0" y="50800"/>
                </a:lnTo>
                <a:arcTo wR="50800" hR="50800" stAng="10800000" swAng="5400000"/>
                <a:lnTo>
                  <a:pt x="1136650" y="0"/>
                </a:lnTo>
                <a:arcTo wR="50800" hR="50800" stAng="16200000" swAng="5400000"/>
                <a:lnTo>
                  <a:pt x="1187450" y="50800"/>
                </a:lnTo>
                <a:arcTo wR="50800" hR="19050" stAng="0" swAng="-5400000"/>
                <a:lnTo>
                  <a:pt x="50800" y="31750"/>
                </a:lnTo>
                <a:arcTo wR="50800" hR="19050" stAng="16200000" swAng="-5400000"/>
                <a:close/>
              </a:path>
            </a:pathLst>
          </a:custGeom>
          <a:solidFill>
            <a:srgbClr val="2557A7"/>
          </a:solidFill>
          <a:ln/>
        </p:spPr>
      </p:sp>
      <p:pic>
        <p:nvPicPr>
          <p:cNvPr id="13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8350" y="1442178"/>
            <a:ext cx="152400" cy="76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8155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50800" y="0"/>
                </a:moveTo>
                <a:lnTo>
                  <a:pt x="1136650" y="0"/>
                </a:lnTo>
                <a:arcTo wR="50800" hR="50800" stAng="16200000" swAng="5400000"/>
                <a:lnTo>
                  <a:pt x="1187450" y="486833"/>
                </a:lnTo>
                <a:arcTo wR="50800" hR="50800" stAng="0" swAng="5400000"/>
                <a:lnTo>
                  <a:pt x="50800" y="537633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FEFEA"/>
          </a:solidFill>
          <a:ln/>
        </p:spPr>
        <p:txBody>
          <a:bodyPr wrap="square" lIns="25400" tIns="80433" rIns="25400" bIns="5080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Qualification DV/PV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8155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0" y="50800"/>
                </a:moveTo>
                <a:lnTo>
                  <a:pt x="0" y="50800"/>
                </a:lnTo>
                <a:arcTo wR="50800" hR="50800" stAng="10800000" swAng="5400000"/>
                <a:lnTo>
                  <a:pt x="1136650" y="0"/>
                </a:lnTo>
                <a:arcTo wR="50800" hR="50800" stAng="16200000" swAng="5400000"/>
                <a:lnTo>
                  <a:pt x="1187450" y="50800"/>
                </a:lnTo>
                <a:arcTo wR="50800" hR="19050" stAng="0" swAng="-5400000"/>
                <a:lnTo>
                  <a:pt x="50800" y="31750"/>
                </a:lnTo>
                <a:arcTo wR="50800" hR="19050" stAng="16200000" swAng="-5400000"/>
                <a:close/>
              </a:path>
            </a:pathLst>
          </a:custGeom>
          <a:solidFill>
            <a:srgbClr val="0B7A6F"/>
          </a:solidFill>
          <a:ln/>
        </p:spPr>
      </p:sp>
      <p:pic>
        <p:nvPicPr>
          <p:cNvPr id="16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19800" y="1442178"/>
            <a:ext cx="152400" cy="76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2300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50800" y="0"/>
                </a:moveTo>
                <a:lnTo>
                  <a:pt x="1136650" y="0"/>
                </a:lnTo>
                <a:arcTo wR="50800" hR="50800" stAng="16200000" swAng="5400000"/>
                <a:lnTo>
                  <a:pt x="1187450" y="486833"/>
                </a:lnTo>
                <a:arcTo wR="50800" hR="50800" stAng="0" swAng="5400000"/>
                <a:lnTo>
                  <a:pt x="50800" y="537633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F8E9DD"/>
          </a:solidFill>
          <a:ln/>
        </p:spPr>
        <p:txBody>
          <a:bodyPr wrap="square" lIns="25400" tIns="93133" rIns="25400" bIns="6350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Failure Analysis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22300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0" y="50800"/>
                </a:moveTo>
                <a:lnTo>
                  <a:pt x="0" y="50800"/>
                </a:lnTo>
                <a:arcTo wR="50800" hR="50800" stAng="10800000" swAng="5400000"/>
                <a:lnTo>
                  <a:pt x="1136650" y="0"/>
                </a:lnTo>
                <a:arcTo wR="50800" hR="50800" stAng="16200000" swAng="5400000"/>
                <a:lnTo>
                  <a:pt x="1187450" y="50800"/>
                </a:lnTo>
                <a:arcTo wR="50800" hR="19050" stAng="0" swAng="-5400000"/>
                <a:lnTo>
                  <a:pt x="50800" y="31750"/>
                </a:lnTo>
                <a:arcTo wR="50800" hR="19050" stAng="16200000" swAng="-5400000"/>
                <a:close/>
              </a:path>
            </a:pathLst>
          </a:custGeom>
          <a:solidFill>
            <a:srgbClr val="A8521C"/>
          </a:solidFill>
          <a:ln/>
        </p:spPr>
      </p:sp>
      <p:pic>
        <p:nvPicPr>
          <p:cNvPr id="19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61250" y="1442178"/>
            <a:ext cx="152400" cy="76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66445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50800" y="0"/>
                </a:moveTo>
                <a:lnTo>
                  <a:pt x="1136650" y="0"/>
                </a:lnTo>
                <a:arcTo wR="50800" hR="50800" stAng="16200000" swAng="5400000"/>
                <a:lnTo>
                  <a:pt x="1187450" y="486833"/>
                </a:lnTo>
                <a:arcTo wR="50800" hR="50800" stAng="0" swAng="5400000"/>
                <a:lnTo>
                  <a:pt x="50800" y="537633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F8E9DD"/>
          </a:solidFill>
          <a:ln/>
        </p:spPr>
        <p:txBody>
          <a:bodyPr wrap="square" lIns="25400" tIns="93133" rIns="25400" bIns="6350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766445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0" y="50800"/>
                </a:moveTo>
                <a:lnTo>
                  <a:pt x="0" y="50800"/>
                </a:lnTo>
                <a:arcTo wR="50800" hR="50800" stAng="10800000" swAng="5400000"/>
                <a:lnTo>
                  <a:pt x="1136650" y="0"/>
                </a:lnTo>
                <a:arcTo wR="50800" hR="50800" stAng="16200000" swAng="5400000"/>
                <a:lnTo>
                  <a:pt x="1187450" y="50800"/>
                </a:lnTo>
                <a:arcTo wR="50800" hR="19050" stAng="0" swAng="-5400000"/>
                <a:lnTo>
                  <a:pt x="50800" y="31750"/>
                </a:lnTo>
                <a:arcTo wR="50800" hR="19050" stAng="16200000" swAng="-5400000"/>
                <a:close/>
              </a:path>
            </a:pathLst>
          </a:custGeom>
          <a:solidFill>
            <a:srgbClr val="A8521C"/>
          </a:solidFill>
          <a:ln/>
        </p:spPr>
      </p:sp>
      <p:pic>
        <p:nvPicPr>
          <p:cNvPr id="22" name="Image 5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02700" y="1442178"/>
            <a:ext cx="152400" cy="76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10590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50800" y="0"/>
                </a:moveTo>
                <a:lnTo>
                  <a:pt x="1136650" y="0"/>
                </a:lnTo>
                <a:arcTo wR="50800" hR="50800" stAng="16200000" swAng="5400000"/>
                <a:lnTo>
                  <a:pt x="1187450" y="486833"/>
                </a:lnTo>
                <a:arcTo wR="50800" hR="50800" stAng="0" swAng="5400000"/>
                <a:lnTo>
                  <a:pt x="50800" y="537633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F8E9DD"/>
          </a:solidFill>
          <a:ln/>
        </p:spPr>
        <p:txBody>
          <a:bodyPr wrap="square" lIns="25400" tIns="93133" rIns="25400" bIns="6350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910590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0" y="50800"/>
                </a:moveTo>
                <a:lnTo>
                  <a:pt x="0" y="50800"/>
                </a:lnTo>
                <a:arcTo wR="50800" hR="50800" stAng="10800000" swAng="5400000"/>
                <a:lnTo>
                  <a:pt x="1136650" y="0"/>
                </a:lnTo>
                <a:arcTo wR="50800" hR="50800" stAng="16200000" swAng="5400000"/>
                <a:lnTo>
                  <a:pt x="1187450" y="50800"/>
                </a:lnTo>
                <a:arcTo wR="50800" hR="19050" stAng="0" swAng="-5400000"/>
                <a:lnTo>
                  <a:pt x="50800" y="31750"/>
                </a:lnTo>
                <a:arcTo wR="50800" hR="19050" stAng="16200000" swAng="-5400000"/>
                <a:close/>
              </a:path>
            </a:pathLst>
          </a:custGeom>
          <a:solidFill>
            <a:srgbClr val="A8521C"/>
          </a:solidFill>
          <a:ln/>
        </p:spPr>
      </p:sp>
      <p:pic>
        <p:nvPicPr>
          <p:cNvPr id="25" name="Image 6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44150" y="1442178"/>
            <a:ext cx="152400" cy="76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054735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50800" y="0"/>
                </a:moveTo>
                <a:lnTo>
                  <a:pt x="1136650" y="0"/>
                </a:lnTo>
                <a:arcTo wR="50800" hR="50800" stAng="16200000" swAng="5400000"/>
                <a:lnTo>
                  <a:pt x="1187450" y="486833"/>
                </a:lnTo>
                <a:arcTo wR="50800" hR="50800" stAng="0" swAng="5400000"/>
                <a:lnTo>
                  <a:pt x="50800" y="537633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F8E9DD"/>
          </a:solidFill>
          <a:ln/>
        </p:spPr>
        <p:txBody>
          <a:bodyPr wrap="square" lIns="25400" tIns="80433" rIns="25400" bIns="5080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Claims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10547350" y="1211461"/>
            <a:ext cx="1187450" cy="537633"/>
          </a:xfrm>
          <a:custGeom>
            <a:avLst/>
            <a:gdLst/>
            <a:ahLst/>
            <a:cxnLst/>
            <a:rect l="l" t="t" r="r" b="b"/>
            <a:pathLst>
              <a:path w="1187450" h="537633">
                <a:moveTo>
                  <a:pt x="0" y="50800"/>
                </a:moveTo>
                <a:lnTo>
                  <a:pt x="0" y="50800"/>
                </a:lnTo>
                <a:arcTo wR="50800" hR="50800" stAng="10800000" swAng="5400000"/>
                <a:lnTo>
                  <a:pt x="1136650" y="0"/>
                </a:lnTo>
                <a:arcTo wR="50800" hR="50800" stAng="16200000" swAng="5400000"/>
                <a:lnTo>
                  <a:pt x="1187450" y="50800"/>
                </a:lnTo>
                <a:arcTo wR="50800" hR="19050" stAng="0" swAng="-5400000"/>
                <a:lnTo>
                  <a:pt x="50800" y="31750"/>
                </a:lnTo>
                <a:arcTo wR="50800" hR="19050" stAng="16200000" swAng="-5400000"/>
                <a:close/>
              </a:path>
            </a:pathLst>
          </a:custGeom>
          <a:solidFill>
            <a:srgbClr val="A8521C"/>
          </a:solidFill>
          <a:ln/>
        </p:spPr>
      </p:sp>
      <p:sp>
        <p:nvSpPr>
          <p:cNvPr id="28" name="Text 19"/>
          <p:cNvSpPr/>
          <p:nvPr/>
        </p:nvSpPr>
        <p:spPr>
          <a:xfrm>
            <a:off x="457200" y="1850694"/>
            <a:ext cx="217642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57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figures = Y2027 targets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4666059" y="1850694"/>
            <a:ext cx="70687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Closed loop: field claims and failures feed the next product's requirements and test plan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457200" y="2165615"/>
            <a:ext cx="3657600" cy="2487745"/>
          </a:xfrm>
          <a:prstGeom prst="roundRect">
            <a:avLst>
              <a:gd name="adj" fmla="val 3574"/>
            </a:avLst>
          </a:prstGeom>
          <a:solidFill>
            <a:srgbClr val="FCFCFD"/>
          </a:solidFill>
          <a:ln/>
          <a:effectLst>
            <a:outerShdw blurRad="25400" dist="6350" dir="5400000" algn="bl" rotWithShape="0">
              <a:srgbClr val="13213F">
                <a:alpha val="12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57200" y="2165615"/>
            <a:ext cx="3657600" cy="2487745"/>
          </a:xfrm>
          <a:custGeom>
            <a:avLst/>
            <a:gdLst/>
            <a:ahLst/>
            <a:cxnLst/>
            <a:rect l="l" t="t" r="r" b="b"/>
            <a:pathLst>
              <a:path w="3657600" h="248774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568700" y="0"/>
                </a:lnTo>
                <a:arcTo wR="88900" hR="88900" stAng="16200000" swAng="5400000"/>
                <a:lnTo>
                  <a:pt x="3657600" y="88900"/>
                </a:lnTo>
                <a:arcTo wR="88900" hR="38100" stAng="0" swAng="-5400000"/>
                <a:lnTo>
                  <a:pt x="88900" y="50800"/>
                </a:lnTo>
                <a:arcTo wR="88900" hR="38100" stAng="16200000" swAng="-5400000"/>
                <a:close/>
              </a:path>
            </a:pathLst>
          </a:custGeom>
          <a:solidFill>
            <a:srgbClr val="2557A7"/>
          </a:solidFill>
          <a:ln/>
        </p:spPr>
      </p:sp>
      <p:sp>
        <p:nvSpPr>
          <p:cNvPr id="32" name="Text 23"/>
          <p:cNvSpPr/>
          <p:nvPr/>
        </p:nvSpPr>
        <p:spPr>
          <a:xfrm>
            <a:off x="609600" y="2318015"/>
            <a:ext cx="345338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557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· Intelligent Design &amp; Planning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609600" y="2587228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Requirements → TC development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609600" y="2841823"/>
            <a:ext cx="3352800" cy="0"/>
          </a:xfrm>
          <a:prstGeom prst="line">
            <a:avLst/>
          </a:prstGeom>
          <a:noFill/>
          <a:ln w="6350">
            <a:solidFill>
              <a:srgbClr val="E3E7EE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09600" y="3086034"/>
            <a:ext cx="63500" cy="63500"/>
          </a:xfrm>
          <a:prstGeom prst="roundRect">
            <a:avLst>
              <a:gd name="adj" fmla="val 50000"/>
            </a:avLst>
          </a:prstGeom>
          <a:solidFill>
            <a:srgbClr val="2557A7"/>
          </a:solidFill>
          <a:ln/>
        </p:spPr>
      </p:sp>
      <p:sp>
        <p:nvSpPr>
          <p:cNvPr id="36" name="Text 27"/>
          <p:cNvSpPr/>
          <p:nvPr/>
        </p:nvSpPr>
        <p:spPr>
          <a:xfrm>
            <a:off x="762000" y="2919677"/>
            <a:ext cx="1831340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 parsing with auto traceability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3328908" y="2906382"/>
            <a:ext cx="6334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2557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≥95%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2818474" y="3115932"/>
            <a:ext cx="119472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reqs auto-traced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609600" y="3434027"/>
            <a:ext cx="3352800" cy="0"/>
          </a:xfrm>
          <a:prstGeom prst="line">
            <a:avLst/>
          </a:prstGeom>
          <a:noFill/>
          <a:ln w="6350">
            <a:solidFill>
              <a:srgbClr val="E3E7EE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09600" y="3678238"/>
            <a:ext cx="63500" cy="63500"/>
          </a:xfrm>
          <a:prstGeom prst="roundRect">
            <a:avLst>
              <a:gd name="adj" fmla="val 50000"/>
            </a:avLst>
          </a:prstGeom>
          <a:solidFill>
            <a:srgbClr val="2557A7"/>
          </a:solidFill>
          <a:ln/>
        </p:spPr>
      </p:sp>
      <p:sp>
        <p:nvSpPr>
          <p:cNvPr id="41" name="Text 32"/>
          <p:cNvSpPr/>
          <p:nvPr/>
        </p:nvSpPr>
        <p:spPr>
          <a:xfrm>
            <a:off x="762000" y="3511881"/>
            <a:ext cx="1831340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AI-generated test cases &amp; scripts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3299619" y="3498586"/>
            <a:ext cx="66278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2557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~30%</a:t>
            </a:r>
            <a:endParaRPr lang="en-US" sz="1500" dirty="0"/>
          </a:p>
        </p:txBody>
      </p:sp>
      <p:sp>
        <p:nvSpPr>
          <p:cNvPr id="43" name="Text 34"/>
          <p:cNvSpPr/>
          <p:nvPr/>
        </p:nvSpPr>
        <p:spPr>
          <a:xfrm>
            <a:off x="3061825" y="3708136"/>
            <a:ext cx="95137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less TC effort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609600" y="4026231"/>
            <a:ext cx="3352800" cy="0"/>
          </a:xfrm>
          <a:prstGeom prst="line">
            <a:avLst/>
          </a:prstGeom>
          <a:noFill/>
          <a:ln w="6350">
            <a:solidFill>
              <a:srgbClr val="E3E7EE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609600" y="4270441"/>
            <a:ext cx="63500" cy="63500"/>
          </a:xfrm>
          <a:prstGeom prst="roundRect">
            <a:avLst>
              <a:gd name="adj" fmla="val 50000"/>
            </a:avLst>
          </a:prstGeom>
          <a:solidFill>
            <a:srgbClr val="2557A7"/>
          </a:solidFill>
          <a:ln/>
        </p:spPr>
      </p:sp>
      <p:sp>
        <p:nvSpPr>
          <p:cNvPr id="46" name="Text 37"/>
          <p:cNvSpPr/>
          <p:nvPr/>
        </p:nvSpPr>
        <p:spPr>
          <a:xfrm>
            <a:off x="762000" y="4104084"/>
            <a:ext cx="1831340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Risk-based plans from past defects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3294142" y="4090789"/>
            <a:ext cx="668258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2557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~40%</a:t>
            </a:r>
            <a:endParaRPr lang="en-US" sz="1500" dirty="0"/>
          </a:p>
        </p:txBody>
      </p:sp>
      <p:sp>
        <p:nvSpPr>
          <p:cNvPr id="48" name="Text 39"/>
          <p:cNvSpPr/>
          <p:nvPr/>
        </p:nvSpPr>
        <p:spPr>
          <a:xfrm>
            <a:off x="2940513" y="4300339"/>
            <a:ext cx="107268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planning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4267200" y="2165615"/>
            <a:ext cx="3657600" cy="2487745"/>
          </a:xfrm>
          <a:prstGeom prst="roundRect">
            <a:avLst>
              <a:gd name="adj" fmla="val 3574"/>
            </a:avLst>
          </a:prstGeom>
          <a:solidFill>
            <a:srgbClr val="FCFCFD"/>
          </a:solidFill>
          <a:ln/>
          <a:effectLst>
            <a:outerShdw blurRad="25400" dist="6350" dir="5400000" algn="bl" rotWithShape="0">
              <a:srgbClr val="13213F">
                <a:alpha val="12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4267200" y="2165615"/>
            <a:ext cx="3657600" cy="2487745"/>
          </a:xfrm>
          <a:custGeom>
            <a:avLst/>
            <a:gdLst/>
            <a:ahLst/>
            <a:cxnLst/>
            <a:rect l="l" t="t" r="r" b="b"/>
            <a:pathLst>
              <a:path w="3657600" h="248774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568700" y="0"/>
                </a:lnTo>
                <a:arcTo wR="88900" hR="88900" stAng="16200000" swAng="5400000"/>
                <a:lnTo>
                  <a:pt x="3657600" y="88900"/>
                </a:lnTo>
                <a:arcTo wR="88900" hR="38100" stAng="0" swAng="-5400000"/>
                <a:lnTo>
                  <a:pt x="88900" y="50800"/>
                </a:lnTo>
                <a:arcTo wR="88900" hR="38100" stAng="16200000" swAng="-5400000"/>
                <a:close/>
              </a:path>
            </a:pathLst>
          </a:custGeom>
          <a:solidFill>
            <a:srgbClr val="0B7A6F"/>
          </a:solidFill>
          <a:ln/>
        </p:spPr>
      </p:sp>
      <p:sp>
        <p:nvSpPr>
          <p:cNvPr id="51" name="Text 42"/>
          <p:cNvSpPr/>
          <p:nvPr/>
        </p:nvSpPr>
        <p:spPr>
          <a:xfrm>
            <a:off x="4419600" y="2318015"/>
            <a:ext cx="345338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7A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 · Optimized Execution &amp; Coverage</a:t>
            </a:r>
            <a:endParaRPr lang="en-US" sz="1300" dirty="0"/>
          </a:p>
        </p:txBody>
      </p:sp>
      <p:sp>
        <p:nvSpPr>
          <p:cNvPr id="52" name="Text 43"/>
          <p:cNvSpPr/>
          <p:nvPr/>
        </p:nvSpPr>
        <p:spPr>
          <a:xfrm>
            <a:off x="4419600" y="2587228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Qualification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4419600" y="2841823"/>
            <a:ext cx="3352800" cy="0"/>
          </a:xfrm>
          <a:prstGeom prst="line">
            <a:avLst/>
          </a:prstGeom>
          <a:noFill/>
          <a:ln w="6350">
            <a:solidFill>
              <a:srgbClr val="E3E7EE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4419600" y="3086034"/>
            <a:ext cx="63500" cy="63500"/>
          </a:xfrm>
          <a:prstGeom prst="roundRect">
            <a:avLst>
              <a:gd name="adj" fmla="val 50000"/>
            </a:avLst>
          </a:prstGeom>
          <a:solidFill>
            <a:srgbClr val="0B7A6F"/>
          </a:solidFill>
          <a:ln/>
        </p:spPr>
      </p:sp>
      <p:sp>
        <p:nvSpPr>
          <p:cNvPr id="55" name="Text 46"/>
          <p:cNvSpPr/>
          <p:nvPr/>
        </p:nvSpPr>
        <p:spPr>
          <a:xfrm>
            <a:off x="4572000" y="2919677"/>
            <a:ext cx="1831340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Smart test selection &amp; prioritization</a:t>
            </a:r>
            <a:endParaRPr lang="en-US" sz="1200" dirty="0"/>
          </a:p>
        </p:txBody>
      </p:sp>
      <p:sp>
        <p:nvSpPr>
          <p:cNvPr id="56" name="Text 47"/>
          <p:cNvSpPr/>
          <p:nvPr/>
        </p:nvSpPr>
        <p:spPr>
          <a:xfrm>
            <a:off x="7109619" y="2906382"/>
            <a:ext cx="66278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0B7A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~30%</a:t>
            </a:r>
            <a:endParaRPr lang="en-US" sz="1500" dirty="0"/>
          </a:p>
        </p:txBody>
      </p:sp>
      <p:sp>
        <p:nvSpPr>
          <p:cNvPr id="57" name="Text 48"/>
          <p:cNvSpPr/>
          <p:nvPr/>
        </p:nvSpPr>
        <p:spPr>
          <a:xfrm>
            <a:off x="6678414" y="3115932"/>
            <a:ext cx="114478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shorter qual run</a:t>
            </a:r>
            <a:endParaRPr lang="en-US" sz="1200" dirty="0"/>
          </a:p>
        </p:txBody>
      </p:sp>
      <p:sp>
        <p:nvSpPr>
          <p:cNvPr id="58" name="Shape 49"/>
          <p:cNvSpPr/>
          <p:nvPr/>
        </p:nvSpPr>
        <p:spPr>
          <a:xfrm>
            <a:off x="4419600" y="3434027"/>
            <a:ext cx="3352800" cy="0"/>
          </a:xfrm>
          <a:prstGeom prst="line">
            <a:avLst/>
          </a:prstGeom>
          <a:noFill/>
          <a:ln w="6350">
            <a:solidFill>
              <a:srgbClr val="E3E7EE"/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4419600" y="3678238"/>
            <a:ext cx="63500" cy="63500"/>
          </a:xfrm>
          <a:prstGeom prst="roundRect">
            <a:avLst>
              <a:gd name="adj" fmla="val 50000"/>
            </a:avLst>
          </a:prstGeom>
          <a:solidFill>
            <a:srgbClr val="0B7A6F"/>
          </a:solidFill>
          <a:ln/>
        </p:spPr>
      </p:sp>
      <p:sp>
        <p:nvSpPr>
          <p:cNvPr id="60" name="Text 51"/>
          <p:cNvSpPr/>
          <p:nvPr/>
        </p:nvSpPr>
        <p:spPr>
          <a:xfrm>
            <a:off x="4572000" y="3610967"/>
            <a:ext cx="1831340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Coverage-gap detection</a:t>
            </a:r>
            <a:endParaRPr lang="en-US" sz="1200" dirty="0"/>
          </a:p>
        </p:txBody>
      </p:sp>
      <p:sp>
        <p:nvSpPr>
          <p:cNvPr id="61" name="Text 52"/>
          <p:cNvSpPr/>
          <p:nvPr/>
        </p:nvSpPr>
        <p:spPr>
          <a:xfrm>
            <a:off x="7119461" y="3498586"/>
            <a:ext cx="65293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0B7A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≥90%</a:t>
            </a:r>
            <a:endParaRPr lang="en-US" sz="1500" dirty="0"/>
          </a:p>
        </p:txBody>
      </p:sp>
      <p:sp>
        <p:nvSpPr>
          <p:cNvPr id="62" name="Text 53"/>
          <p:cNvSpPr/>
          <p:nvPr/>
        </p:nvSpPr>
        <p:spPr>
          <a:xfrm>
            <a:off x="6796220" y="3708136"/>
            <a:ext cx="102698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 coverage</a:t>
            </a:r>
            <a:endParaRPr lang="en-US" sz="1200" dirty="0"/>
          </a:p>
        </p:txBody>
      </p:sp>
      <p:sp>
        <p:nvSpPr>
          <p:cNvPr id="63" name="Shape 54"/>
          <p:cNvSpPr/>
          <p:nvPr/>
        </p:nvSpPr>
        <p:spPr>
          <a:xfrm>
            <a:off x="4419600" y="4026231"/>
            <a:ext cx="3352800" cy="0"/>
          </a:xfrm>
          <a:prstGeom prst="line">
            <a:avLst/>
          </a:prstGeom>
          <a:noFill/>
          <a:ln w="6350">
            <a:solidFill>
              <a:srgbClr val="E3E7EE"/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4419600" y="4270441"/>
            <a:ext cx="63500" cy="63500"/>
          </a:xfrm>
          <a:prstGeom prst="roundRect">
            <a:avLst>
              <a:gd name="adj" fmla="val 50000"/>
            </a:avLst>
          </a:prstGeom>
          <a:solidFill>
            <a:srgbClr val="0B7A6F"/>
          </a:solidFill>
          <a:ln/>
        </p:spPr>
      </p:sp>
      <p:sp>
        <p:nvSpPr>
          <p:cNvPr id="65" name="Text 56"/>
          <p:cNvSpPr/>
          <p:nvPr/>
        </p:nvSpPr>
        <p:spPr>
          <a:xfrm>
            <a:off x="4572000" y="4104084"/>
            <a:ext cx="1831340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anomaly detection in logs</a:t>
            </a:r>
            <a:endParaRPr lang="en-US" sz="1200" dirty="0"/>
          </a:p>
        </p:txBody>
      </p:sp>
      <p:sp>
        <p:nvSpPr>
          <p:cNvPr id="66" name="Text 57"/>
          <p:cNvSpPr/>
          <p:nvPr/>
        </p:nvSpPr>
        <p:spPr>
          <a:xfrm>
            <a:off x="7235825" y="4090789"/>
            <a:ext cx="536575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0B7A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&lt;1 hr</a:t>
            </a:r>
            <a:endParaRPr lang="en-US" sz="1500" dirty="0"/>
          </a:p>
        </p:txBody>
      </p:sp>
      <p:sp>
        <p:nvSpPr>
          <p:cNvPr id="67" name="Text 58"/>
          <p:cNvSpPr/>
          <p:nvPr/>
        </p:nvSpPr>
        <p:spPr>
          <a:xfrm>
            <a:off x="6647789" y="4300339"/>
            <a:ext cx="1175411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anomaly → alert</a:t>
            </a:r>
            <a:endParaRPr lang="en-US" sz="1200" dirty="0"/>
          </a:p>
        </p:txBody>
      </p:sp>
      <p:sp>
        <p:nvSpPr>
          <p:cNvPr id="68" name="Shape 59"/>
          <p:cNvSpPr/>
          <p:nvPr/>
        </p:nvSpPr>
        <p:spPr>
          <a:xfrm>
            <a:off x="8077200" y="2165615"/>
            <a:ext cx="3657600" cy="2487745"/>
          </a:xfrm>
          <a:prstGeom prst="roundRect">
            <a:avLst>
              <a:gd name="adj" fmla="val 3574"/>
            </a:avLst>
          </a:prstGeom>
          <a:solidFill>
            <a:srgbClr val="FCFCFD"/>
          </a:solidFill>
          <a:ln/>
          <a:effectLst>
            <a:outerShdw blurRad="25400" dist="6350" dir="5400000" algn="bl" rotWithShape="0">
              <a:srgbClr val="13213F">
                <a:alpha val="12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8077200" y="2165615"/>
            <a:ext cx="3657600" cy="2487745"/>
          </a:xfrm>
          <a:custGeom>
            <a:avLst/>
            <a:gdLst/>
            <a:ahLst/>
            <a:cxnLst/>
            <a:rect l="l" t="t" r="r" b="b"/>
            <a:pathLst>
              <a:path w="3657600" h="2487745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3568700" y="0"/>
                </a:lnTo>
                <a:arcTo wR="88900" hR="88900" stAng="16200000" swAng="5400000"/>
                <a:lnTo>
                  <a:pt x="3657600" y="88900"/>
                </a:lnTo>
                <a:arcTo wR="88900" hR="38100" stAng="0" swAng="-5400000"/>
                <a:lnTo>
                  <a:pt x="88900" y="50800"/>
                </a:lnTo>
                <a:arcTo wR="88900" hR="38100" stAng="16200000" swAng="-5400000"/>
                <a:close/>
              </a:path>
            </a:pathLst>
          </a:custGeom>
          <a:solidFill>
            <a:srgbClr val="A8521C"/>
          </a:solidFill>
          <a:ln/>
        </p:spPr>
      </p:sp>
      <p:sp>
        <p:nvSpPr>
          <p:cNvPr id="70" name="Text 61"/>
          <p:cNvSpPr/>
          <p:nvPr/>
        </p:nvSpPr>
        <p:spPr>
          <a:xfrm>
            <a:off x="8229600" y="2318015"/>
            <a:ext cx="345338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85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 · Accelerated Analysis &amp; Resolution</a:t>
            </a:r>
            <a:endParaRPr lang="en-US" sz="1300" dirty="0"/>
          </a:p>
        </p:txBody>
      </p:sp>
      <p:sp>
        <p:nvSpPr>
          <p:cNvPr id="71" name="Text 62"/>
          <p:cNvSpPr/>
          <p:nvPr/>
        </p:nvSpPr>
        <p:spPr>
          <a:xfrm>
            <a:off x="8229600" y="2587228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Failure analysis → customer claims</a:t>
            </a:r>
            <a:endParaRPr lang="en-US" sz="1200" dirty="0"/>
          </a:p>
        </p:txBody>
      </p:sp>
      <p:sp>
        <p:nvSpPr>
          <p:cNvPr id="72" name="Shape 63"/>
          <p:cNvSpPr/>
          <p:nvPr/>
        </p:nvSpPr>
        <p:spPr>
          <a:xfrm>
            <a:off x="8229600" y="2841823"/>
            <a:ext cx="3352800" cy="0"/>
          </a:xfrm>
          <a:prstGeom prst="line">
            <a:avLst/>
          </a:prstGeom>
          <a:noFill/>
          <a:ln w="6350">
            <a:solidFill>
              <a:srgbClr val="E3E7EE"/>
            </a:solidFill>
            <a:prstDash val="solid"/>
          </a:ln>
        </p:spPr>
      </p:sp>
      <p:sp>
        <p:nvSpPr>
          <p:cNvPr id="73" name="Shape 64"/>
          <p:cNvSpPr/>
          <p:nvPr/>
        </p:nvSpPr>
        <p:spPr>
          <a:xfrm>
            <a:off x="8229600" y="3086034"/>
            <a:ext cx="63500" cy="63500"/>
          </a:xfrm>
          <a:prstGeom prst="roundRect">
            <a:avLst>
              <a:gd name="adj" fmla="val 50000"/>
            </a:avLst>
          </a:prstGeom>
          <a:solidFill>
            <a:srgbClr val="A8521C"/>
          </a:solidFill>
          <a:ln/>
        </p:spPr>
      </p:sp>
      <p:sp>
        <p:nvSpPr>
          <p:cNvPr id="74" name="Text 65"/>
          <p:cNvSpPr/>
          <p:nvPr/>
        </p:nvSpPr>
        <p:spPr>
          <a:xfrm>
            <a:off x="8382000" y="2919677"/>
            <a:ext cx="1831340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log triage &amp; root cause</a:t>
            </a:r>
            <a:endParaRPr lang="en-US" sz="1200" dirty="0"/>
          </a:p>
        </p:txBody>
      </p:sp>
      <p:sp>
        <p:nvSpPr>
          <p:cNvPr id="75" name="Text 66"/>
          <p:cNvSpPr/>
          <p:nvPr/>
        </p:nvSpPr>
        <p:spPr>
          <a:xfrm>
            <a:off x="10914142" y="2906382"/>
            <a:ext cx="668258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A85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~40%</a:t>
            </a:r>
            <a:endParaRPr lang="en-US" sz="1500" dirty="0"/>
          </a:p>
        </p:txBody>
      </p:sp>
      <p:sp>
        <p:nvSpPr>
          <p:cNvPr id="76" name="Text 67"/>
          <p:cNvSpPr/>
          <p:nvPr/>
        </p:nvSpPr>
        <p:spPr>
          <a:xfrm>
            <a:off x="10685661" y="3115932"/>
            <a:ext cx="947539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FA TAT</a:t>
            </a:r>
            <a:endParaRPr lang="en-US" sz="1200" dirty="0"/>
          </a:p>
        </p:txBody>
      </p:sp>
      <p:sp>
        <p:nvSpPr>
          <p:cNvPr id="77" name="Shape 68"/>
          <p:cNvSpPr/>
          <p:nvPr/>
        </p:nvSpPr>
        <p:spPr>
          <a:xfrm>
            <a:off x="8229600" y="3434027"/>
            <a:ext cx="3352800" cy="0"/>
          </a:xfrm>
          <a:prstGeom prst="line">
            <a:avLst/>
          </a:prstGeom>
          <a:noFill/>
          <a:ln w="6350">
            <a:solidFill>
              <a:srgbClr val="E3E7EE"/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8229600" y="3678238"/>
            <a:ext cx="63500" cy="63500"/>
          </a:xfrm>
          <a:prstGeom prst="roundRect">
            <a:avLst>
              <a:gd name="adj" fmla="val 50000"/>
            </a:avLst>
          </a:prstGeom>
          <a:solidFill>
            <a:srgbClr val="A8521C"/>
          </a:solidFill>
          <a:ln/>
        </p:spPr>
      </p:sp>
      <p:sp>
        <p:nvSpPr>
          <p:cNvPr id="79" name="Text 70"/>
          <p:cNvSpPr/>
          <p:nvPr/>
        </p:nvSpPr>
        <p:spPr>
          <a:xfrm>
            <a:off x="8382000" y="3511881"/>
            <a:ext cx="1831340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Auto-generated qualification reports</a:t>
            </a:r>
            <a:endParaRPr lang="en-US" sz="1200" dirty="0"/>
          </a:p>
        </p:txBody>
      </p:sp>
      <p:sp>
        <p:nvSpPr>
          <p:cNvPr id="80" name="Text 71"/>
          <p:cNvSpPr/>
          <p:nvPr/>
        </p:nvSpPr>
        <p:spPr>
          <a:xfrm>
            <a:off x="10930414" y="3498586"/>
            <a:ext cx="65198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A85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~70%</a:t>
            </a:r>
            <a:endParaRPr lang="en-US" sz="1500" dirty="0"/>
          </a:p>
        </p:txBody>
      </p:sp>
      <p:sp>
        <p:nvSpPr>
          <p:cNvPr id="81" name="Text 72"/>
          <p:cNvSpPr/>
          <p:nvPr/>
        </p:nvSpPr>
        <p:spPr>
          <a:xfrm>
            <a:off x="10499593" y="3708136"/>
            <a:ext cx="113360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less report prep</a:t>
            </a:r>
            <a:endParaRPr lang="en-US" sz="1200" dirty="0"/>
          </a:p>
        </p:txBody>
      </p:sp>
      <p:sp>
        <p:nvSpPr>
          <p:cNvPr id="82" name="Shape 73"/>
          <p:cNvSpPr/>
          <p:nvPr/>
        </p:nvSpPr>
        <p:spPr>
          <a:xfrm>
            <a:off x="8229600" y="4026231"/>
            <a:ext cx="3352800" cy="0"/>
          </a:xfrm>
          <a:prstGeom prst="line">
            <a:avLst/>
          </a:prstGeom>
          <a:noFill/>
          <a:ln w="6350">
            <a:solidFill>
              <a:srgbClr val="E3E7EE"/>
            </a:solidFill>
            <a:prstDash val="solid"/>
          </a:ln>
        </p:spPr>
      </p:sp>
      <p:sp>
        <p:nvSpPr>
          <p:cNvPr id="83" name="Shape 74"/>
          <p:cNvSpPr/>
          <p:nvPr/>
        </p:nvSpPr>
        <p:spPr>
          <a:xfrm>
            <a:off x="8229600" y="4270441"/>
            <a:ext cx="63500" cy="63500"/>
          </a:xfrm>
          <a:prstGeom prst="roundRect">
            <a:avLst>
              <a:gd name="adj" fmla="val 50000"/>
            </a:avLst>
          </a:prstGeom>
          <a:solidFill>
            <a:srgbClr val="A8521C"/>
          </a:solidFill>
          <a:ln/>
        </p:spPr>
      </p:sp>
      <p:sp>
        <p:nvSpPr>
          <p:cNvPr id="84" name="Text 75"/>
          <p:cNvSpPr/>
          <p:nvPr/>
        </p:nvSpPr>
        <p:spPr>
          <a:xfrm>
            <a:off x="8382000" y="4104084"/>
            <a:ext cx="1831340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 matching to known failures</a:t>
            </a:r>
            <a:endParaRPr lang="en-US" sz="1200" dirty="0"/>
          </a:p>
        </p:txBody>
      </p:sp>
      <p:sp>
        <p:nvSpPr>
          <p:cNvPr id="85" name="Text 76"/>
          <p:cNvSpPr/>
          <p:nvPr/>
        </p:nvSpPr>
        <p:spPr>
          <a:xfrm>
            <a:off x="10920095" y="4090789"/>
            <a:ext cx="662305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A85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~50%</a:t>
            </a:r>
            <a:endParaRPr lang="en-US" sz="1500" dirty="0"/>
          </a:p>
        </p:txBody>
      </p:sp>
      <p:sp>
        <p:nvSpPr>
          <p:cNvPr id="86" name="Text 77"/>
          <p:cNvSpPr/>
          <p:nvPr/>
        </p:nvSpPr>
        <p:spPr>
          <a:xfrm>
            <a:off x="10498931" y="4300339"/>
            <a:ext cx="1134269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claims matched</a:t>
            </a:r>
            <a:endParaRPr lang="en-US" sz="1200" dirty="0"/>
          </a:p>
        </p:txBody>
      </p:sp>
      <p:sp>
        <p:nvSpPr>
          <p:cNvPr id="87" name="Shape 78"/>
          <p:cNvSpPr/>
          <p:nvPr/>
        </p:nvSpPr>
        <p:spPr>
          <a:xfrm>
            <a:off x="457200" y="4754959"/>
            <a:ext cx="3657600" cy="1041334"/>
          </a:xfrm>
          <a:prstGeom prst="roundRect">
            <a:avLst>
              <a:gd name="adj" fmla="val 8537"/>
            </a:avLst>
          </a:prstGeom>
          <a:solidFill>
            <a:srgbClr val="13213F"/>
          </a:solidFill>
          <a:ln/>
        </p:spPr>
      </p:sp>
      <p:sp>
        <p:nvSpPr>
          <p:cNvPr id="88" name="Text 79"/>
          <p:cNvSpPr/>
          <p:nvPr/>
        </p:nvSpPr>
        <p:spPr>
          <a:xfrm>
            <a:off x="615950" y="487560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lnTo>
                  <a:pt x="101600" y="0"/>
                </a:lnTo>
                <a:arcTo wR="101600" hR="101600" stAng="16200000" swAng="5400000"/>
                <a:lnTo>
                  <a:pt x="203200" y="101600"/>
                </a:lnTo>
                <a:arcTo wR="101600" hR="101600" stAng="0" swAng="5400000"/>
                <a:lnTo>
                  <a:pt x="101600" y="20320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 w="12700">
            <a:solidFill>
              <a:srgbClr val="8FB0FF"/>
            </a:solidFill>
            <a:prstDash val="solid"/>
          </a:ln>
        </p:spPr>
        <p:txBody>
          <a:bodyPr wrap="square" lIns="6350" tIns="0" rIns="6350" bIns="0" rtlCol="0" anchor="ctr">
            <a:normAutofit/>
          </a:bodyPr>
          <a:lstStyle/>
          <a:p>
            <a:pPr marL="0" indent="0" algn="ctr">
              <a:lnSpc>
                <a:spcPts val="1523"/>
              </a:lnSpc>
              <a:buNone/>
            </a:pPr>
            <a:r>
              <a:rPr lang="en-US" sz="1088" b="1" dirty="0">
                <a:solidFill>
                  <a:srgbClr val="8FB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088" dirty="0"/>
          </a:p>
        </p:txBody>
      </p:sp>
      <p:sp>
        <p:nvSpPr>
          <p:cNvPr id="89" name="Text 80"/>
          <p:cNvSpPr/>
          <p:nvPr/>
        </p:nvSpPr>
        <p:spPr>
          <a:xfrm>
            <a:off x="889000" y="4870516"/>
            <a:ext cx="21169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· PRIORITY 1</a:t>
            </a:r>
            <a:endParaRPr lang="en-US" sz="1200" dirty="0"/>
          </a:p>
        </p:txBody>
      </p:sp>
      <p:sp>
        <p:nvSpPr>
          <p:cNvPr id="90" name="Text 81"/>
          <p:cNvSpPr/>
          <p:nvPr/>
        </p:nvSpPr>
        <p:spPr>
          <a:xfrm>
            <a:off x="609600" y="5123259"/>
            <a:ext cx="3453384" cy="33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3F5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Find more, escape less</a:t>
            </a:r>
            <a:endParaRPr lang="en-US" sz="2200" dirty="0"/>
          </a:p>
        </p:txBody>
      </p:sp>
      <p:sp>
        <p:nvSpPr>
          <p:cNvPr id="91" name="Text 82"/>
          <p:cNvSpPr/>
          <p:nvPr/>
        </p:nvSpPr>
        <p:spPr>
          <a:xfrm>
            <a:off x="609600" y="5468673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Earlier detection, fewer customer escapes</a:t>
            </a:r>
            <a:endParaRPr lang="en-US" sz="1200" dirty="0"/>
          </a:p>
        </p:txBody>
      </p:sp>
      <p:sp>
        <p:nvSpPr>
          <p:cNvPr id="92" name="Shape 83"/>
          <p:cNvSpPr/>
          <p:nvPr/>
        </p:nvSpPr>
        <p:spPr>
          <a:xfrm>
            <a:off x="4267200" y="4754959"/>
            <a:ext cx="3657600" cy="1041334"/>
          </a:xfrm>
          <a:prstGeom prst="roundRect">
            <a:avLst>
              <a:gd name="adj" fmla="val 8537"/>
            </a:avLst>
          </a:prstGeom>
          <a:solidFill>
            <a:srgbClr val="13213F"/>
          </a:solidFill>
          <a:ln/>
        </p:spPr>
      </p:sp>
      <p:sp>
        <p:nvSpPr>
          <p:cNvPr id="93" name="Text 84"/>
          <p:cNvSpPr/>
          <p:nvPr/>
        </p:nvSpPr>
        <p:spPr>
          <a:xfrm>
            <a:off x="4425950" y="487560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lnTo>
                  <a:pt x="101600" y="0"/>
                </a:lnTo>
                <a:arcTo wR="101600" hR="101600" stAng="16200000" swAng="5400000"/>
                <a:lnTo>
                  <a:pt x="203200" y="101600"/>
                </a:lnTo>
                <a:arcTo wR="101600" hR="101600" stAng="0" swAng="5400000"/>
                <a:lnTo>
                  <a:pt x="101600" y="20320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 w="12700">
            <a:solidFill>
              <a:srgbClr val="8FB0FF"/>
            </a:solidFill>
            <a:prstDash val="solid"/>
          </a:ln>
        </p:spPr>
        <p:txBody>
          <a:bodyPr wrap="square" lIns="6350" tIns="0" rIns="6350" bIns="0" rtlCol="0" anchor="ctr">
            <a:normAutofit/>
          </a:bodyPr>
          <a:lstStyle/>
          <a:p>
            <a:pPr marL="0" indent="0" algn="ctr">
              <a:lnSpc>
                <a:spcPts val="1523"/>
              </a:lnSpc>
              <a:buNone/>
            </a:pPr>
            <a:r>
              <a:rPr lang="en-US" sz="1088" b="1" dirty="0">
                <a:solidFill>
                  <a:srgbClr val="8FB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088" dirty="0"/>
          </a:p>
        </p:txBody>
      </p:sp>
      <p:sp>
        <p:nvSpPr>
          <p:cNvPr id="94" name="Text 85"/>
          <p:cNvSpPr/>
          <p:nvPr/>
        </p:nvSpPr>
        <p:spPr>
          <a:xfrm>
            <a:off x="4699000" y="4870516"/>
            <a:ext cx="15329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SPEED · TARGET</a:t>
            </a:r>
            <a:endParaRPr lang="en-US" sz="1200" dirty="0"/>
          </a:p>
        </p:txBody>
      </p:sp>
      <p:sp>
        <p:nvSpPr>
          <p:cNvPr id="95" name="Text 86"/>
          <p:cNvSpPr/>
          <p:nvPr/>
        </p:nvSpPr>
        <p:spPr>
          <a:xfrm>
            <a:off x="4419600" y="5123259"/>
            <a:ext cx="3453384" cy="33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3F5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3–4 → ~3 months</a:t>
            </a:r>
            <a:endParaRPr lang="en-US" sz="2200" dirty="0"/>
          </a:p>
        </p:txBody>
      </p:sp>
      <p:sp>
        <p:nvSpPr>
          <p:cNvPr id="96" name="Text 87"/>
          <p:cNvSpPr/>
          <p:nvPr/>
        </p:nvSpPr>
        <p:spPr>
          <a:xfrm>
            <a:off x="4419600" y="5468673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Spec-to-release, ~20–25% faster TAT</a:t>
            </a:r>
            <a:endParaRPr lang="en-US" sz="1200" dirty="0"/>
          </a:p>
        </p:txBody>
      </p:sp>
      <p:sp>
        <p:nvSpPr>
          <p:cNvPr id="97" name="Shape 88"/>
          <p:cNvSpPr/>
          <p:nvPr/>
        </p:nvSpPr>
        <p:spPr>
          <a:xfrm>
            <a:off x="8077200" y="4754959"/>
            <a:ext cx="3657600" cy="1041334"/>
          </a:xfrm>
          <a:prstGeom prst="roundRect">
            <a:avLst>
              <a:gd name="adj" fmla="val 8537"/>
            </a:avLst>
          </a:prstGeom>
          <a:solidFill>
            <a:srgbClr val="13213F"/>
          </a:solidFill>
          <a:ln/>
        </p:spPr>
      </p:sp>
      <p:sp>
        <p:nvSpPr>
          <p:cNvPr id="98" name="Text 89"/>
          <p:cNvSpPr/>
          <p:nvPr/>
        </p:nvSpPr>
        <p:spPr>
          <a:xfrm>
            <a:off x="8235950" y="487560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lnTo>
                  <a:pt x="101600" y="0"/>
                </a:lnTo>
                <a:arcTo wR="101600" hR="101600" stAng="16200000" swAng="5400000"/>
                <a:lnTo>
                  <a:pt x="203200" y="101600"/>
                </a:lnTo>
                <a:arcTo wR="101600" hR="101600" stAng="0" swAng="5400000"/>
                <a:lnTo>
                  <a:pt x="101600" y="20320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 w="12700">
            <a:solidFill>
              <a:srgbClr val="8FB0FF"/>
            </a:solidFill>
            <a:prstDash val="solid"/>
          </a:ln>
        </p:spPr>
        <p:txBody>
          <a:bodyPr wrap="square" lIns="6350" tIns="0" rIns="6350" bIns="0" rtlCol="0" anchor="ctr">
            <a:normAutofit/>
          </a:bodyPr>
          <a:lstStyle/>
          <a:p>
            <a:pPr marL="0" indent="0" algn="ctr">
              <a:lnSpc>
                <a:spcPts val="1523"/>
              </a:lnSpc>
              <a:buNone/>
            </a:pPr>
            <a:r>
              <a:rPr lang="en-US" sz="1088" b="1" dirty="0">
                <a:solidFill>
                  <a:srgbClr val="8FB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088" dirty="0"/>
          </a:p>
        </p:txBody>
      </p:sp>
      <p:sp>
        <p:nvSpPr>
          <p:cNvPr id="99" name="Text 90"/>
          <p:cNvSpPr/>
          <p:nvPr/>
        </p:nvSpPr>
        <p:spPr>
          <a:xfrm>
            <a:off x="8509000" y="4870516"/>
            <a:ext cx="26696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PRODUCTIVITY · MEASURED</a:t>
            </a:r>
            <a:endParaRPr lang="en-US" sz="1200" dirty="0"/>
          </a:p>
        </p:txBody>
      </p:sp>
      <p:sp>
        <p:nvSpPr>
          <p:cNvPr id="100" name="Text 91"/>
          <p:cNvSpPr/>
          <p:nvPr/>
        </p:nvSpPr>
        <p:spPr>
          <a:xfrm>
            <a:off x="8229600" y="5123259"/>
            <a:ext cx="3453384" cy="33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3F5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20–25% less effort</a:t>
            </a:r>
            <a:endParaRPr lang="en-US" sz="2200" dirty="0"/>
          </a:p>
        </p:txBody>
      </p:sp>
      <p:sp>
        <p:nvSpPr>
          <p:cNvPr id="101" name="Text 92"/>
          <p:cNvSpPr/>
          <p:nvPr/>
        </p:nvSpPr>
        <p:spPr>
          <a:xfrm>
            <a:off x="8229600" y="5468673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A, proven in pilots</a:t>
            </a:r>
            <a:endParaRPr lang="en-US" sz="1200" dirty="0"/>
          </a:p>
        </p:txBody>
      </p:sp>
      <p:sp>
        <p:nvSpPr>
          <p:cNvPr id="102" name="Shape 93"/>
          <p:cNvSpPr/>
          <p:nvPr/>
        </p:nvSpPr>
        <p:spPr>
          <a:xfrm>
            <a:off x="457200" y="5897893"/>
            <a:ext cx="11277600" cy="408914"/>
          </a:xfrm>
          <a:prstGeom prst="roundRect">
            <a:avLst>
              <a:gd name="adj" fmla="val 12423"/>
            </a:avLst>
          </a:prstGeom>
          <a:solidFill>
            <a:srgbClr val="E3EAF5"/>
          </a:solidFill>
          <a:ln/>
        </p:spPr>
      </p:sp>
      <p:sp>
        <p:nvSpPr>
          <p:cNvPr id="103" name="Shape 94"/>
          <p:cNvSpPr/>
          <p:nvPr/>
        </p:nvSpPr>
        <p:spPr>
          <a:xfrm>
            <a:off x="457200" y="5897893"/>
            <a:ext cx="11277600" cy="408914"/>
          </a:xfrm>
          <a:custGeom>
            <a:avLst/>
            <a:gdLst/>
            <a:ahLst/>
            <a:cxnLst/>
            <a:rect l="l" t="t" r="r" b="b"/>
            <a:pathLst>
              <a:path w="11277600" h="408914">
                <a:moveTo>
                  <a:pt x="50800" y="408914"/>
                </a:moveTo>
                <a:lnTo>
                  <a:pt x="50800" y="408914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114"/>
                </a:lnTo>
                <a:arcTo wR="12700" hR="50800" stAng="10800000" swAng="-5400000"/>
                <a:close/>
              </a:path>
            </a:pathLst>
          </a:custGeom>
          <a:solidFill>
            <a:srgbClr val="2557A7"/>
          </a:solidFill>
          <a:ln/>
        </p:spPr>
      </p:sp>
      <p:sp>
        <p:nvSpPr>
          <p:cNvPr id="104" name="Text 95"/>
          <p:cNvSpPr/>
          <p:nvPr/>
        </p:nvSpPr>
        <p:spPr>
          <a:xfrm>
            <a:off x="647700" y="5986793"/>
            <a:ext cx="1532930" cy="256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557A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Proposal with DSK</a:t>
            </a:r>
            <a:endParaRPr lang="en-US" sz="1300" dirty="0"/>
          </a:p>
        </p:txBody>
      </p:sp>
      <p:sp>
        <p:nvSpPr>
          <p:cNvPr id="105" name="Text 96"/>
          <p:cNvSpPr/>
          <p:nvPr/>
        </p:nvSpPr>
        <p:spPr>
          <a:xfrm>
            <a:off x="2282230" y="5995657"/>
            <a:ext cx="77096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32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Joint pilot on one product line · Access to spec &amp; failure data · Alignment with HQ AI platforms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6400"/>
            <a:ext cx="116159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557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BACKUP · COGNITIVE ENGINEERING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457200" y="657820"/>
            <a:ext cx="1161592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i="0" dirty="0">
                <a:solidFill>
                  <a:srgbClr val="1321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the Y2027 stage targets were 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1148"/>
            <a:ext cx="11615928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2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Tier-1 values from the Sol PE L3 benchmark, discounted for first-year rollout, plus pilot results and estimates where no benchmark exists.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91775"/>
            <a:ext cx="112776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3550" y="1385425"/>
            <a:ext cx="0" cy="3466174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800" y="1461625"/>
          <a:ext cx="11087100" cy="3326474"/>
        </p:xfrm>
        <a:graphic>
          <a:graphicData uri="http://schemas.openxmlformats.org/drawingml/2006/table">
            <a:tbl>
              <a:tblPr/>
              <a:tblGrid>
                <a:gridCol w="776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5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3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Capability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Y2027 target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Basis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557A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Spec parsing with auto traceability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≥95% reqs traced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L3-1.a / 3.a Tier-1: ≥95% recall and coverage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Benchmark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557A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AI-generated test cases &amp; scripts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~30% less TC effort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Step up from 20–25% proven in Stage A pilots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Pilot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557A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Risk-based plans from past defects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~40% faster planning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plans from RTM + defect history; SME review kept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Estimate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7A6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Smart test selection &amp; prioritization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~30% shorter qual run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L3-5.a: ≥40% suite cut at ≥98% defect catch, discounted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Benchmark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7A6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Coverage-gap detection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≥90% spec coverage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CoverSight gap closure; L3 Tier-1 is ≥95%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Benchmark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7A6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Real-time anomaly detection in logs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&lt;1 hr to alert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Streaming log analysis in-run vs post-run review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Estimate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852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Automated log triage &amp; root cause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~40% faster FA TAT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L3-6.c Tier-1: −40% defect-open → RCA time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Benchmark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852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Auto-generated qualification reports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~70% less report prep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L3-7.c: template and data auto-filled, human sign-off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Estimate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647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852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Claim matching to known failures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~50% claims matched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L3-6.b top-5 recall ≥90%, applied to repeat failures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1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Estimate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991298"/>
            <a:ext cx="11277600" cy="434314"/>
          </a:xfrm>
          <a:prstGeom prst="roundRect">
            <a:avLst>
              <a:gd name="adj" fmla="val 17545"/>
            </a:avLst>
          </a:prstGeom>
          <a:solidFill>
            <a:srgbClr val="13213F"/>
          </a:solidFill>
          <a:ln/>
        </p:spPr>
      </p:sp>
      <p:sp>
        <p:nvSpPr>
          <p:cNvPr id="9" name="Text 6"/>
          <p:cNvSpPr/>
          <p:nvPr/>
        </p:nvSpPr>
        <p:spPr>
          <a:xfrm>
            <a:off x="609600" y="5092898"/>
            <a:ext cx="640093" cy="256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B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Roll-up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51293" y="5105598"/>
            <a:ext cx="10383507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E6EB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gain applies to its own part of the cycle, so spec-to-release shortens ~20–25% (3–4 → ~3 months), not the sum of the stage figures.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gnitive Engineering — Quantified Stage Targets">
  <a:themeElements>
    <a:clrScheme name="Cognitive Engineering — Quantified Stage Targets">
      <a:dk1>
        <a:srgbClr val="13213F"/>
      </a:dk1>
      <a:lt1>
        <a:srgbClr val="F7F8FA"/>
      </a:lt1>
      <a:dk2>
        <a:srgbClr val="4C576E"/>
      </a:dk2>
      <a:lt2>
        <a:srgbClr val="E0E3E7"/>
      </a:lt2>
      <a:accent1>
        <a:srgbClr val="2557A7"/>
      </a:accent1>
      <a:accent2>
        <a:srgbClr val="0B7A6F"/>
      </a:accent2>
      <a:accent3>
        <a:srgbClr val="A8521C"/>
      </a:accent3>
      <a:accent4>
        <a:srgbClr val="8FB0FF"/>
      </a:accent4>
      <a:accent5>
        <a:srgbClr val="5B6478"/>
      </a:accent5>
      <a:accent6>
        <a:srgbClr val="F8E9DD"/>
      </a:accent6>
      <a:hlink>
        <a:srgbClr val="0563C1"/>
      </a:hlink>
      <a:folHlink>
        <a:srgbClr val="954F72"/>
      </a:folHlink>
    </a:clrScheme>
    <a:fontScheme name="Cognitive Engineering — Quantified Stage Targets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875</Words>
  <Application>Microsoft Office PowerPoint</Application>
  <PresentationFormat>Widescreen</PresentationFormat>
  <Paragraphs>119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IBM Plex Sans</vt:lpstr>
      <vt:lpstr>Manrope</vt:lpstr>
      <vt:lpstr>Cognitive Engineering — Quantified Stage Targets</vt:lpstr>
      <vt:lpstr>Cognitive Engineering</vt:lpstr>
      <vt:lpstr>How the Y2027 stage targets were 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 Engineering — Quantified Stage Targets</dc:title>
  <dc:subject/>
  <dc:creator/>
  <cp:lastModifiedBy>rishi atmakuri</cp:lastModifiedBy>
  <cp:revision>1</cp:revision>
  <dcterms:created xsi:type="dcterms:W3CDTF">2026-10-11T11:04:52Z</dcterms:created>
  <dcterms:modified xsi:type="dcterms:W3CDTF">2026-10-11T11:06:46Z</dcterms:modified>
</cp:coreProperties>
</file>