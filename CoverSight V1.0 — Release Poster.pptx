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CoverSight V1.0 release poster. Content follows the draft poster with small edits: "multi-LLM backend" typo fixed, keyword-filter wording clarified, the two real gaps tightened to fit, and the first highlight shortened. Before sharing: confirm the baseline behind 24% (what it was measured against) and confirm AUSE is the exact term used in the spec or test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features list only what the V1.0 poster already shows; move any item that has not shipped into Future Plans. Future Plans: Next (V1.x) extends the shared cross-spec ontology to more protocols, delivers fix scripts as pull requests reviewed by Review Shield, and adds delta mode for spec revisions. Then (V2.0) adds knowledge-graph reasoning across spec chapters, coverage as a release gate with an auto-generated RTM, and rollout to all six product lines. Beyond: risk-weighted coverage from field failures via RootLens, a closed loop with SpecSpark and KAIzen, and certification against the Sol PE L3 benchmark (trace-link precision ≥0.90, recall ≥0.85). Replace Next / Then / Beyond with committed quarters if available, and fill the contact channel in the footer.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background-1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B3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406400" y="689610"/>
            <a:ext cx="487564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4100" dirty="0">
                <a:solidFill>
                  <a:srgbClr val="F7F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41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406400" y="1515110"/>
            <a:ext cx="10972800" cy="453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7F9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406400" y="689610"/>
            <a:ext cx="487564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4100" dirty="0">
                <a:solidFill>
                  <a:srgbClr val="F7F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41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406400" y="1515110"/>
            <a:ext cx="10972800" cy="453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7F9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406400" y="689610"/>
            <a:ext cx="487564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4100" dirty="0">
                <a:solidFill>
                  <a:srgbClr val="F7F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41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406400" y="1515110"/>
            <a:ext cx="10972800" cy="453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7F9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AI net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18000" y="0"/>
            <a:ext cx="7874000" cy="393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2750" y="285750"/>
            <a:ext cx="1838801" cy="314960"/>
          </a:xfrm>
          <a:custGeom>
            <a:avLst/>
            <a:gdLst/>
            <a:ahLst/>
            <a:cxnLst/>
            <a:rect l="l" t="t" r="r" b="b"/>
            <a:pathLst>
              <a:path w="1838801" h="314960">
                <a:moveTo>
                  <a:pt x="157480" y="0"/>
                </a:moveTo>
                <a:lnTo>
                  <a:pt x="1681321" y="0"/>
                </a:lnTo>
                <a:arcTo hR="157480" wR="157480" stAng="16200000" swAng="5400000"/>
                <a:lnTo>
                  <a:pt x="1838801" y="157480"/>
                </a:lnTo>
                <a:arcTo hR="157480" wR="157480" stAng="0" swAng="5400000"/>
                <a:lnTo>
                  <a:pt x="157480" y="314960"/>
                </a:lnTo>
                <a:arcTo hR="157480" wR="157480" stAng="5400000" swAng="5400000"/>
                <a:lnTo>
                  <a:pt x="0" y="157480"/>
                </a:lnTo>
                <a:arcTo hR="157480" wR="157480" stAng="10800000" swAng="5400000"/>
                <a:close/>
              </a:path>
            </a:pathLst>
          </a:custGeom>
          <a:solidFill>
            <a:srgbClr val="FFFFFF">
              <a:alpha val="8000"/>
            </a:srgbClr>
          </a:solidFill>
          <a:ln w="12700">
            <a:solidFill>
              <a:srgbClr val="9DB8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E6E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 V1.0</a:t>
            </a:r>
            <a:endParaRPr lang="en-US" sz="13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406400" y="708660"/>
            <a:ext cx="61480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i="0" spc="600" kern="0" dirty="0">
                <a:solidFill>
                  <a:srgbClr val="F7F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COVERSIGHT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06400" y="1394460"/>
            <a:ext cx="614807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BBD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Test Coverage Gap Analysis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06400" y="1798320"/>
            <a:ext cx="61480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AB6D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October 2026 · Release highlights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6400" y="2131060"/>
            <a:ext cx="614807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7F9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Agentic AI solution that identifies test coverage gaps from developed test scripts against requirement specifications.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2750" y="2701290"/>
            <a:ext cx="1257300" cy="431800"/>
          </a:xfrm>
          <a:custGeom>
            <a:avLst/>
            <a:gdLst/>
            <a:ahLst/>
            <a:cxnLst/>
            <a:rect l="l" t="t" r="r" b="b"/>
            <a:pathLst>
              <a:path w="1257300" h="431800">
                <a:moveTo>
                  <a:pt x="57150" y="0"/>
                </a:moveTo>
                <a:lnTo>
                  <a:pt x="1200150" y="0"/>
                </a:lnTo>
                <a:arcTo hR="57150" wR="57150" stAng="16200000" swAng="5400000"/>
                <a:lnTo>
                  <a:pt x="1257300" y="374650"/>
                </a:lnTo>
                <a:arcTo hR="57150" wR="57150" stAng="0" swAng="5400000"/>
                <a:lnTo>
                  <a:pt x="57150" y="431800"/>
                </a:lnTo>
                <a:arcTo hR="57150" wR="57150" stAng="5400000" swAng="5400000"/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8F0D4"/>
          </a:solidFill>
          <a:ln w="12700">
            <a:solidFill>
              <a:srgbClr val="3E8E41"/>
            </a:solidFill>
            <a:prstDash val="solid"/>
          </a:ln>
        </p:spPr>
        <p:txBody>
          <a:bodyPr wrap="square" lIns="29210" tIns="27940" rIns="29210" bIns="27940" rtlCol="0" anchor="ctr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1222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Requirement Specs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2750" y="3399790"/>
            <a:ext cx="1257300" cy="431800"/>
          </a:xfrm>
          <a:prstGeom prst="roundRect">
            <a:avLst>
              <a:gd name="adj" fmla="val 13235"/>
            </a:avLst>
          </a:prstGeom>
          <a:solidFill>
            <a:srgbClr val="D8F0D4"/>
          </a:solidFill>
          <a:ln w="12700">
            <a:solidFill>
              <a:srgbClr val="3E8E41"/>
            </a:solidFill>
            <a:prstDash val="solid"/>
          </a:ln>
        </p:spPr>
        <p:txBody>
          <a:bodyPr wrap="square" lIns="37871" tIns="12471" rIns="37871" bIns="12471" rtlCol="0" anchor="ctr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1222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Test Scripts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00250" y="2701290"/>
            <a:ext cx="1193800" cy="431800"/>
          </a:xfrm>
          <a:prstGeom prst="roundRect">
            <a:avLst>
              <a:gd name="adj" fmla="val 13235"/>
            </a:avLst>
          </a:prstGeom>
          <a:solidFill>
            <a:srgbClr val="D6E6FB"/>
          </a:solidFill>
          <a:ln w="12700">
            <a:solidFill>
              <a:srgbClr val="3B6FD1"/>
            </a:solidFill>
            <a:prstDash val="solid"/>
          </a:ln>
        </p:spPr>
        <p:txBody>
          <a:bodyPr wrap="square" lIns="37871" tIns="12471" rIns="37871" bIns="12471" rtlCol="0" anchor="ctr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1222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00250" y="3399790"/>
            <a:ext cx="1193800" cy="431800"/>
          </a:xfrm>
          <a:prstGeom prst="roundRect">
            <a:avLst>
              <a:gd name="adj" fmla="val 13235"/>
            </a:avLst>
          </a:prstGeom>
          <a:solidFill>
            <a:srgbClr val="D6E6FB"/>
          </a:solidFill>
          <a:ln w="12700">
            <a:solidFill>
              <a:srgbClr val="3B6FD1"/>
            </a:solidFill>
            <a:prstDash val="solid"/>
          </a:ln>
        </p:spPr>
        <p:txBody>
          <a:bodyPr wrap="square" lIns="37871" tIns="12471" rIns="37871" bIns="12471" rtlCol="0" anchor="ctr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1222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24250" y="2999740"/>
            <a:ext cx="1320800" cy="533400"/>
          </a:xfrm>
          <a:custGeom>
            <a:avLst/>
            <a:gdLst/>
            <a:ahLst/>
            <a:cxnLst/>
            <a:rect l="l" t="t" r="r" b="b"/>
            <a:pathLst>
              <a:path w="1320800" h="533400">
                <a:moveTo>
                  <a:pt x="57150" y="0"/>
                </a:moveTo>
                <a:lnTo>
                  <a:pt x="1263650" y="0"/>
                </a:lnTo>
                <a:arcTo hR="57150" wR="57150" stAng="16200000" swAng="5400000"/>
                <a:lnTo>
                  <a:pt x="1320800" y="476250"/>
                </a:lnTo>
                <a:arcTo hR="57150" wR="57150" stAng="0" swAng="5400000"/>
                <a:lnTo>
                  <a:pt x="57150" y="533400"/>
                </a:lnTo>
                <a:arcTo hR="57150" wR="57150" stAng="5400000" swAng="5400000"/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6E6FB"/>
          </a:solidFill>
          <a:ln w="12700">
            <a:solidFill>
              <a:srgbClr val="3B6FD1"/>
            </a:solidFill>
            <a:prstDash val="solid"/>
          </a:ln>
        </p:spPr>
        <p:txBody>
          <a:bodyPr wrap="square" lIns="29210" tIns="29210" rIns="29210" bIns="29210" rtlCol="0" anchor="ctr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1222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Req + Scenario Gap Analysis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75250" y="2999740"/>
            <a:ext cx="1066800" cy="533400"/>
          </a:xfrm>
          <a:custGeom>
            <a:avLst/>
            <a:gdLst/>
            <a:ahLst/>
            <a:cxnLst/>
            <a:rect l="l" t="t" r="r" b="b"/>
            <a:pathLst>
              <a:path w="1066800" h="533400">
                <a:moveTo>
                  <a:pt x="57150" y="0"/>
                </a:moveTo>
                <a:lnTo>
                  <a:pt x="1009650" y="0"/>
                </a:lnTo>
                <a:arcTo hR="57150" wR="57150" stAng="16200000" swAng="5400000"/>
                <a:lnTo>
                  <a:pt x="1066800" y="476250"/>
                </a:lnTo>
                <a:arcTo hR="57150" wR="57150" stAng="0" swAng="5400000"/>
                <a:lnTo>
                  <a:pt x="57150" y="533400"/>
                </a:lnTo>
                <a:arcTo hR="57150" wR="57150" stAng="5400000" swAng="5400000"/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FFE7C9"/>
          </a:solidFill>
          <a:ln w="12700">
            <a:solidFill>
              <a:srgbClr val="F29A1F"/>
            </a:solidFill>
            <a:prstDash val="solid"/>
          </a:ln>
        </p:spPr>
        <p:txBody>
          <a:bodyPr wrap="square" lIns="29210" tIns="29210" rIns="29210" bIns="29210" rtlCol="0" anchor="ctr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B23A0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Gaps → Fix Scripts</a:t>
            </a:r>
            <a:endParaRPr lang="en-US" sz="1200" dirty="0"/>
          </a:p>
        </p:txBody>
      </p:sp>
      <p:pic>
        <p:nvPicPr>
          <p:cNvPr id="1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25600" y="2866390"/>
            <a:ext cx="419100" cy="101600"/>
          </a:xfrm>
          <a:prstGeom prst="rect">
            <a:avLst/>
          </a:prstGeom>
        </p:spPr>
      </p:pic>
      <p:pic>
        <p:nvPicPr>
          <p:cNvPr id="1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25600" y="3564890"/>
            <a:ext cx="419100" cy="101600"/>
          </a:xfrm>
          <a:prstGeom prst="rect">
            <a:avLst/>
          </a:prstGeom>
        </p:spPr>
      </p:pic>
      <p:pic>
        <p:nvPicPr>
          <p:cNvPr id="1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149600" y="2866390"/>
            <a:ext cx="419100" cy="336550"/>
          </a:xfrm>
          <a:prstGeom prst="rect">
            <a:avLst/>
          </a:prstGeom>
        </p:spPr>
      </p:pic>
      <p:pic>
        <p:nvPicPr>
          <p:cNvPr id="17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149600" y="3329940"/>
            <a:ext cx="419100" cy="336550"/>
          </a:xfrm>
          <a:prstGeom prst="rect">
            <a:avLst/>
          </a:prstGeom>
        </p:spPr>
      </p:pic>
      <p:pic>
        <p:nvPicPr>
          <p:cNvPr id="18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00600" y="3215640"/>
            <a:ext cx="419100" cy="101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12750" y="3945890"/>
            <a:ext cx="5956300" cy="2346960"/>
          </a:xfrm>
          <a:prstGeom prst="roundRect">
            <a:avLst>
              <a:gd name="adj" fmla="val 3517"/>
            </a:avLst>
          </a:prstGeom>
          <a:solidFill>
            <a:srgbClr val="5E8FD6"/>
          </a:solidFill>
          <a:ln w="12700">
            <a:solidFill>
              <a:srgbClr val="9DB8FF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445059" y="4038600"/>
            <a:ext cx="5891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1A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Cross-Cutting Capabilities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530860" y="4351020"/>
            <a:ext cx="2821940" cy="985520"/>
          </a:xfrm>
          <a:prstGeom prst="roundRect">
            <a:avLst>
              <a:gd name="adj" fmla="val 6443"/>
            </a:avLst>
          </a:prstGeom>
          <a:solidFill>
            <a:srgbClr val="F4F7FD"/>
          </a:solidFill>
          <a:ln/>
        </p:spPr>
      </p:sp>
      <p:pic>
        <p:nvPicPr>
          <p:cNvPr id="22" name="Image 6" descr="Search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2460" y="4445000"/>
            <a:ext cx="177800" cy="1778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73760" y="4427220"/>
            <a:ext cx="21683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Keyword-Based Filtering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632460" y="4665980"/>
            <a:ext cx="269730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2B3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User-defined filters drop requirements for unsupported features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3429000" y="4351020"/>
            <a:ext cx="2821940" cy="985520"/>
          </a:xfrm>
          <a:prstGeom prst="roundRect">
            <a:avLst>
              <a:gd name="adj" fmla="val 6443"/>
            </a:avLst>
          </a:prstGeom>
          <a:solidFill>
            <a:srgbClr val="F4F7FD"/>
          </a:solidFill>
          <a:ln/>
        </p:spPr>
      </p:sp>
      <p:pic>
        <p:nvPicPr>
          <p:cNvPr id="26" name="Image 7" descr="Databas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530600" y="4445000"/>
            <a:ext cx="177800" cy="1778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771900" y="4427220"/>
            <a:ext cx="16231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 Vector Stores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3530600" y="4665980"/>
            <a:ext cx="269730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2B3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Three FAISS stores (spec, scenario, code) ground every agent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530860" y="5412740"/>
            <a:ext cx="2821940" cy="787400"/>
          </a:xfrm>
          <a:prstGeom prst="roundRect">
            <a:avLst>
              <a:gd name="adj" fmla="val 8065"/>
            </a:avLst>
          </a:prstGeom>
          <a:solidFill>
            <a:srgbClr val="F4F7FD"/>
          </a:solidFill>
          <a:ln/>
        </p:spPr>
      </p:sp>
      <p:pic>
        <p:nvPicPr>
          <p:cNvPr id="30" name="Image 8" descr="Settings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32460" y="5506720"/>
            <a:ext cx="177800" cy="1778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73760" y="5488940"/>
            <a:ext cx="15403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Multi-LLM Engine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632460" y="5727700"/>
            <a:ext cx="269730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2B3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Pluggable multi-LLM backend, stable on long generations, scalable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3429000" y="5412740"/>
            <a:ext cx="2821940" cy="787400"/>
          </a:xfrm>
          <a:prstGeom prst="roundRect">
            <a:avLst>
              <a:gd name="adj" fmla="val 8065"/>
            </a:avLst>
          </a:prstGeom>
          <a:solidFill>
            <a:srgbClr val="F4F7FD"/>
          </a:solidFill>
          <a:ln/>
        </p:spPr>
      </p:sp>
      <p:pic>
        <p:nvPicPr>
          <p:cNvPr id="34" name="Image 9" descr="CheckCircl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530600" y="5506720"/>
            <a:ext cx="177800" cy="1778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771900" y="5488940"/>
            <a:ext cx="237953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SME Feedback &amp; Validation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3530600" y="5727700"/>
            <a:ext cx="269730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2B3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agent flow tuned by SME review, validated on internal data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8960961" y="279400"/>
            <a:ext cx="2824639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700"/>
              </a:lnSpc>
              <a:buNone/>
            </a:pPr>
            <a:r>
              <a:rPr lang="en-US" sz="6000" b="1" spc="600" kern="0" dirty="0">
                <a:solidFill>
                  <a:srgbClr val="F7F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ZION</a:t>
            </a:r>
            <a:endParaRPr lang="en-US" sz="6000" dirty="0"/>
          </a:p>
        </p:txBody>
      </p:sp>
      <p:sp>
        <p:nvSpPr>
          <p:cNvPr id="38" name="Text 26"/>
          <p:cNvSpPr/>
          <p:nvPr/>
        </p:nvSpPr>
        <p:spPr>
          <a:xfrm>
            <a:off x="10692511" y="1016000"/>
            <a:ext cx="1093089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D6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is ON</a:t>
            </a:r>
            <a:endParaRPr lang="en-US" sz="1700" dirty="0"/>
          </a:p>
        </p:txBody>
      </p:sp>
      <p:sp>
        <p:nvSpPr>
          <p:cNvPr id="39" name="Shape 27"/>
          <p:cNvSpPr/>
          <p:nvPr/>
        </p:nvSpPr>
        <p:spPr>
          <a:xfrm>
            <a:off x="6638925" y="1442085"/>
            <a:ext cx="5137150" cy="2848610"/>
          </a:xfrm>
          <a:prstGeom prst="roundRect">
            <a:avLst>
              <a:gd name="adj" fmla="val 2786"/>
            </a:avLst>
          </a:prstGeom>
          <a:solidFill>
            <a:srgbClr val="FFF4D6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6771640" y="1549400"/>
            <a:ext cx="501787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Outcomes</a:t>
            </a:r>
            <a:endParaRPr lang="en-US" sz="1600" dirty="0"/>
          </a:p>
        </p:txBody>
      </p:sp>
      <p:sp>
        <p:nvSpPr>
          <p:cNvPr id="41" name="Shape 29"/>
          <p:cNvSpPr/>
          <p:nvPr/>
        </p:nvSpPr>
        <p:spPr>
          <a:xfrm>
            <a:off x="6777990" y="1916430"/>
            <a:ext cx="2385060" cy="998220"/>
          </a:xfrm>
          <a:prstGeom prst="roundRect">
            <a:avLst>
              <a:gd name="adj" fmla="val 6997"/>
            </a:avLst>
          </a:prstGeom>
          <a:solidFill>
            <a:srgbClr val="EAF6E7"/>
          </a:solidFill>
          <a:ln w="12700">
            <a:solidFill>
              <a:srgbClr val="4C9A4C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6784340" y="1996440"/>
            <a:ext cx="2372359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5B21B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Coverage Reporting Accuracy</a:t>
            </a:r>
            <a:endParaRPr lang="en-US" sz="1200" dirty="0"/>
          </a:p>
        </p:txBody>
      </p:sp>
      <p:sp>
        <p:nvSpPr>
          <p:cNvPr id="43" name="Text 31"/>
          <p:cNvSpPr/>
          <p:nvPr/>
        </p:nvSpPr>
        <p:spPr>
          <a:xfrm>
            <a:off x="7060406" y="2204720"/>
            <a:ext cx="1874834" cy="416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24% → 95%+</a:t>
            </a:r>
            <a:endParaRPr lang="en-US" sz="2200" dirty="0"/>
          </a:p>
        </p:txBody>
      </p:sp>
      <p:sp>
        <p:nvSpPr>
          <p:cNvPr id="44" name="Text 32"/>
          <p:cNvSpPr/>
          <p:nvPr/>
        </p:nvSpPr>
        <p:spPr>
          <a:xfrm>
            <a:off x="7347212" y="2621280"/>
            <a:ext cx="12465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21B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SME-validated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9251950" y="1916430"/>
            <a:ext cx="2385060" cy="998220"/>
          </a:xfrm>
          <a:prstGeom prst="roundRect">
            <a:avLst>
              <a:gd name="adj" fmla="val 6997"/>
            </a:avLst>
          </a:prstGeom>
          <a:solidFill>
            <a:srgbClr val="EAF6E7"/>
          </a:solidFill>
          <a:ln w="12700">
            <a:solidFill>
              <a:srgbClr val="4C9A4C"/>
            </a:solidFill>
            <a:prstDash val="solid"/>
          </a:ln>
        </p:spPr>
      </p:sp>
      <p:sp>
        <p:nvSpPr>
          <p:cNvPr id="46" name="Text 34"/>
          <p:cNvSpPr/>
          <p:nvPr/>
        </p:nvSpPr>
        <p:spPr>
          <a:xfrm>
            <a:off x="9258300" y="1996440"/>
            <a:ext cx="2372282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5B21B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Scenario Extraction Accuracy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9598819" y="2204720"/>
            <a:ext cx="1742043" cy="416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48% → 98%</a:t>
            </a:r>
            <a:endParaRPr lang="en-US" sz="2200" dirty="0"/>
          </a:p>
        </p:txBody>
      </p:sp>
      <p:sp>
        <p:nvSpPr>
          <p:cNvPr id="48" name="Text 36"/>
          <p:cNvSpPr/>
          <p:nvPr/>
        </p:nvSpPr>
        <p:spPr>
          <a:xfrm>
            <a:off x="9582182" y="2621280"/>
            <a:ext cx="17245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21B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AST smart chunking</a:t>
            </a:r>
            <a:endParaRPr lang="en-US" sz="1200" dirty="0"/>
          </a:p>
        </p:txBody>
      </p:sp>
      <p:sp>
        <p:nvSpPr>
          <p:cNvPr id="49" name="Shape 37"/>
          <p:cNvSpPr/>
          <p:nvPr/>
        </p:nvSpPr>
        <p:spPr>
          <a:xfrm>
            <a:off x="6777990" y="3003550"/>
            <a:ext cx="2385060" cy="1173480"/>
          </a:xfrm>
          <a:prstGeom prst="roundRect">
            <a:avLst>
              <a:gd name="adj" fmla="val 5952"/>
            </a:avLst>
          </a:prstGeom>
          <a:solidFill>
            <a:srgbClr val="EAF6E7"/>
          </a:solidFill>
          <a:ln w="12700">
            <a:solidFill>
              <a:srgbClr val="4C9A4C"/>
            </a:solidFill>
            <a:prstDash val="solid"/>
          </a:ln>
        </p:spPr>
      </p:sp>
      <p:pic>
        <p:nvPicPr>
          <p:cNvPr id="50" name="Image 10" descr="Warning">    </p:cNvPr>
          <p:cNvPicPr>
            <a:picLocks noChangeAspect="1"/>
          </p:cNvPicPr>
          <p:nvPr/>
        </p:nvPicPr>
        <p:blipFill>
          <a:blip r:embed="rId11"/>
          <a:srcRect l="0" r="0" t="-157" b="-157"/>
          <a:stretch/>
        </p:blipFill>
        <p:spPr>
          <a:xfrm>
            <a:off x="6870700" y="3083560"/>
            <a:ext cx="126603" cy="177800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7048103" y="3083560"/>
            <a:ext cx="208290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Critical Warnings — Sanitize Command</a:t>
            </a:r>
            <a:endParaRPr lang="en-US" sz="1200" dirty="0"/>
          </a:p>
        </p:txBody>
      </p:sp>
      <p:sp>
        <p:nvSpPr>
          <p:cNvPr id="52" name="Text 39"/>
          <p:cNvSpPr/>
          <p:nvPr/>
        </p:nvSpPr>
        <p:spPr>
          <a:xfrm>
            <a:off x="6870700" y="3487420"/>
            <a:ext cx="2265629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9A3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Genuine gap found: critical-warning handling for Sanitize had no test.</a:t>
            </a:r>
            <a:endParaRPr lang="en-US" sz="1200" dirty="0"/>
          </a:p>
        </p:txBody>
      </p:sp>
      <p:sp>
        <p:nvSpPr>
          <p:cNvPr id="53" name="Shape 40"/>
          <p:cNvSpPr/>
          <p:nvPr/>
        </p:nvSpPr>
        <p:spPr>
          <a:xfrm>
            <a:off x="9251950" y="3003550"/>
            <a:ext cx="2385060" cy="1173480"/>
          </a:xfrm>
          <a:prstGeom prst="roundRect">
            <a:avLst>
              <a:gd name="adj" fmla="val 5952"/>
            </a:avLst>
          </a:prstGeom>
          <a:solidFill>
            <a:srgbClr val="EAF6E7"/>
          </a:solidFill>
          <a:ln w="12700">
            <a:solidFill>
              <a:srgbClr val="4C9A4C"/>
            </a:solidFill>
            <a:prstDash val="solid"/>
          </a:ln>
        </p:spPr>
      </p:sp>
      <p:pic>
        <p:nvPicPr>
          <p:cNvPr id="54" name="Image 11" descr="Warni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344660" y="3083560"/>
            <a:ext cx="177800" cy="177800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9573260" y="3083560"/>
            <a:ext cx="1677638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AUSE with Sanitize</a:t>
            </a:r>
            <a:endParaRPr lang="en-US" sz="1200" dirty="0"/>
          </a:p>
        </p:txBody>
      </p:sp>
      <p:sp>
        <p:nvSpPr>
          <p:cNvPr id="56" name="Text 42"/>
          <p:cNvSpPr/>
          <p:nvPr/>
        </p:nvSpPr>
        <p:spPr>
          <a:xfrm>
            <a:off x="9344660" y="3304540"/>
            <a:ext cx="2265629" cy="81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i="1" dirty="0">
                <a:solidFill>
                  <a:srgbClr val="9A3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Second real gap: Asynchronous Unexpected Shutdown Error handling during Sanitize lacked tests.</a:t>
            </a:r>
            <a:endParaRPr lang="en-US" sz="1200" dirty="0"/>
          </a:p>
        </p:txBody>
      </p:sp>
      <p:sp>
        <p:nvSpPr>
          <p:cNvPr id="57" name="Shape 43"/>
          <p:cNvSpPr/>
          <p:nvPr/>
        </p:nvSpPr>
        <p:spPr>
          <a:xfrm>
            <a:off x="6635750" y="4420870"/>
            <a:ext cx="5143500" cy="2113280"/>
          </a:xfrm>
          <a:prstGeom prst="roundRect">
            <a:avLst>
              <a:gd name="adj" fmla="val 3906"/>
            </a:avLst>
          </a:prstGeom>
          <a:solidFill>
            <a:srgbClr val="E6EFF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8" name="Text 44"/>
          <p:cNvSpPr/>
          <p:nvPr/>
        </p:nvSpPr>
        <p:spPr>
          <a:xfrm>
            <a:off x="6779260" y="4526280"/>
            <a:ext cx="500217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Highlights</a:t>
            </a:r>
            <a:endParaRPr lang="en-US" sz="1500" dirty="0"/>
          </a:p>
        </p:txBody>
      </p:sp>
      <p:sp>
        <p:nvSpPr>
          <p:cNvPr id="59" name="Text 45"/>
          <p:cNvSpPr/>
          <p:nvPr/>
        </p:nvSpPr>
        <p:spPr>
          <a:xfrm>
            <a:off x="6801866" y="4843780"/>
            <a:ext cx="4974234" cy="161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Two parallel workflows converge into smart gap analysis, one focused agent per task, ending in auto-generated fix scripts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RAG-grounded accuracy: three vector stores keep every agent in real spec and code context, reducing hallucination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Resilient multi-LLM layer: pluggable backends with failover and health checks, no single-provider lock-in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Iterative SME-driven refinement: every agent flow tuned on SME feedback and validated on internal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orative AI network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4318000" y="0"/>
            <a:ext cx="7874000" cy="393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2750" y="285750"/>
            <a:ext cx="3561001" cy="314960"/>
          </a:xfrm>
          <a:custGeom>
            <a:avLst/>
            <a:gdLst/>
            <a:ahLst/>
            <a:cxnLst/>
            <a:rect l="l" t="t" r="r" b="b"/>
            <a:pathLst>
              <a:path w="3561001" h="314960">
                <a:moveTo>
                  <a:pt x="157480" y="0"/>
                </a:moveTo>
                <a:lnTo>
                  <a:pt x="3403521" y="0"/>
                </a:lnTo>
                <a:arcTo hR="157480" wR="157480" stAng="16200000" swAng="5400000"/>
                <a:lnTo>
                  <a:pt x="3561001" y="157480"/>
                </a:lnTo>
                <a:arcTo hR="157480" wR="157480" stAng="0" swAng="5400000"/>
                <a:lnTo>
                  <a:pt x="157480" y="314960"/>
                </a:lnTo>
                <a:arcTo hR="157480" wR="157480" stAng="5400000" swAng="5400000"/>
                <a:lnTo>
                  <a:pt x="0" y="157480"/>
                </a:lnTo>
                <a:arcTo hR="157480" wR="157480" stAng="10800000" swAng="5400000"/>
                <a:close/>
              </a:path>
            </a:pathLst>
          </a:custGeom>
          <a:solidFill>
            <a:srgbClr val="FFFFFF">
              <a:alpha val="8000"/>
            </a:srgbClr>
          </a:solidFill>
          <a:ln w="12700">
            <a:solidFill>
              <a:srgbClr val="9DB8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E6E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 V1.0 · WHAT'S NEXT</a:t>
            </a:r>
            <a:endParaRPr lang="en-US" sz="13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406400" y="670560"/>
            <a:ext cx="3911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i="0" spc="500" kern="0" dirty="0">
                <a:solidFill>
                  <a:srgbClr val="F7F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COVERSIGHT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06400" y="1191260"/>
            <a:ext cx="389576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BD3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 &amp; Future Plans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824085" y="593090"/>
            <a:ext cx="235381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5000" b="1" spc="500" kern="0" dirty="0">
                <a:solidFill>
                  <a:srgbClr val="F7F9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ZION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10821099" y="1209040"/>
            <a:ext cx="9645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D6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is 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12750" y="1621790"/>
            <a:ext cx="5829300" cy="3713480"/>
          </a:xfrm>
          <a:prstGeom prst="roundRect">
            <a:avLst>
              <a:gd name="adj" fmla="val 2223"/>
            </a:avLst>
          </a:prstGeom>
          <a:solidFill>
            <a:srgbClr val="F4F7FD"/>
          </a:solidFill>
          <a:ln w="12700">
            <a:solidFill>
              <a:srgbClr val="9DB8FF"/>
            </a:solidFill>
            <a:prstDash val="solid"/>
          </a:ln>
        </p:spPr>
      </p:sp>
      <p:pic>
        <p:nvPicPr>
          <p:cNvPr id="9" name="Image 1" descr="Sta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6260" y="1771650"/>
            <a:ext cx="203200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5660" y="1739900"/>
            <a:ext cx="24413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 in V1.0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56260" y="2082800"/>
            <a:ext cx="2733040" cy="787400"/>
          </a:xfrm>
          <a:prstGeom prst="roundRect">
            <a:avLst>
              <a:gd name="adj" fmla="val 8065"/>
            </a:avLst>
          </a:prstGeom>
          <a:solidFill>
            <a:srgbClr val="E3ECFA"/>
          </a:solidFill>
          <a:ln/>
        </p:spPr>
      </p:sp>
      <p:pic>
        <p:nvPicPr>
          <p:cNvPr id="12" name="Image 2" descr="Boo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5160" y="2176780"/>
            <a:ext cx="177800" cy="177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6460" y="2159000"/>
            <a:ext cx="19047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Spec → Requirements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5160" y="2397760"/>
            <a:ext cx="263189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B3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Atomic, testable requirements, out-of-scope features filtered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365500" y="2082800"/>
            <a:ext cx="2733040" cy="787400"/>
          </a:xfrm>
          <a:prstGeom prst="roundRect">
            <a:avLst>
              <a:gd name="adj" fmla="val 8065"/>
            </a:avLst>
          </a:prstGeom>
          <a:solidFill>
            <a:srgbClr val="E3ECFA"/>
          </a:solidFill>
          <a:ln/>
        </p:spPr>
      </p:sp>
      <p:pic>
        <p:nvPicPr>
          <p:cNvPr id="16" name="Image 3" descr="Cod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454400" y="2176780"/>
            <a:ext cx="177800" cy="177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95700" y="2159000"/>
            <a:ext cx="17240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Scripts → Scenarios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454400" y="2397760"/>
            <a:ext cx="263189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B3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AST smart chunking infers each test's purpose: 98% accuracy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56260" y="2946400"/>
            <a:ext cx="2733040" cy="787400"/>
          </a:xfrm>
          <a:prstGeom prst="roundRect">
            <a:avLst>
              <a:gd name="adj" fmla="val 8065"/>
            </a:avLst>
          </a:prstGeom>
          <a:solidFill>
            <a:srgbClr val="E3ECFA"/>
          </a:solidFill>
          <a:ln/>
        </p:spPr>
      </p:sp>
      <p:pic>
        <p:nvPicPr>
          <p:cNvPr id="20" name="Image 4" descr="Sear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5160" y="3040380"/>
            <a:ext cx="177800" cy="177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6460" y="3022600"/>
            <a:ext cx="11313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645160" y="3261360"/>
            <a:ext cx="263189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B3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Each requirement matched to real test scenarios: 95%+ accurate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365500" y="2946400"/>
            <a:ext cx="2733040" cy="787400"/>
          </a:xfrm>
          <a:prstGeom prst="roundRect">
            <a:avLst>
              <a:gd name="adj" fmla="val 8065"/>
            </a:avLst>
          </a:prstGeom>
          <a:solidFill>
            <a:srgbClr val="E3ECFA"/>
          </a:solidFill>
          <a:ln/>
        </p:spPr>
      </p:sp>
      <p:pic>
        <p:nvPicPr>
          <p:cNvPr id="24" name="Image 5" descr="Wrench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454400" y="3040380"/>
            <a:ext cx="177800" cy="1778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95700" y="3022600"/>
            <a:ext cx="15435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Gap → Fix Scripts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3454400" y="3261360"/>
            <a:ext cx="263189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B3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draft test script for every gap, ready for engineer review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556260" y="3810000"/>
            <a:ext cx="2733040" cy="787400"/>
          </a:xfrm>
          <a:prstGeom prst="roundRect">
            <a:avLst>
              <a:gd name="adj" fmla="val 8065"/>
            </a:avLst>
          </a:prstGeom>
          <a:solidFill>
            <a:srgbClr val="E3ECFA"/>
          </a:solidFill>
          <a:ln/>
        </p:spPr>
      </p:sp>
      <p:pic>
        <p:nvPicPr>
          <p:cNvPr id="28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5160" y="3903980"/>
            <a:ext cx="177800" cy="1778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86460" y="3886200"/>
            <a:ext cx="18526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Grounded &amp; Resilient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645160" y="4124960"/>
            <a:ext cx="263189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B3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 grounding plus multi-LLM failover, no provider lock-in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3365500" y="3810000"/>
            <a:ext cx="2733040" cy="787400"/>
          </a:xfrm>
          <a:prstGeom prst="roundRect">
            <a:avLst>
              <a:gd name="adj" fmla="val 8065"/>
            </a:avLst>
          </a:prstGeom>
          <a:solidFill>
            <a:srgbClr val="E3ECFA"/>
          </a:solidFill>
          <a:ln/>
        </p:spPr>
      </p:sp>
      <p:pic>
        <p:nvPicPr>
          <p:cNvPr id="32" name="Image 7" descr="Users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454400" y="3903980"/>
            <a:ext cx="177800" cy="1778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695700" y="3886200"/>
            <a:ext cx="129044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A4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SME-Validated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3454400" y="4124960"/>
            <a:ext cx="2631897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B3A6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agent flow tuned on SME feedback and internal data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562610" y="4679950"/>
            <a:ext cx="5529580" cy="530860"/>
          </a:xfrm>
          <a:prstGeom prst="roundRect">
            <a:avLst>
              <a:gd name="adj" fmla="val 10766"/>
            </a:avLst>
          </a:prstGeom>
          <a:solidFill>
            <a:srgbClr val="FFF4D6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6" name="Image 8" descr="Warning">    </p:cNvPr>
          <p:cNvPicPr>
            <a:picLocks noChangeAspect="1"/>
          </p:cNvPicPr>
          <p:nvPr/>
        </p:nvPicPr>
        <p:blipFill>
          <a:blip r:embed="rId9"/>
          <a:srcRect l="-625" r="-625" t="0" b="0"/>
          <a:stretch/>
        </p:blipFill>
        <p:spPr>
          <a:xfrm>
            <a:off x="655320" y="4856480"/>
            <a:ext cx="147876" cy="1778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66696" y="4747260"/>
            <a:ext cx="5286768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9A3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Proof in V1.0:</a:t>
            </a:r>
            <a:r>
              <a:rPr lang="en-US" sz="1200" dirty="0">
                <a:solidFill>
                  <a:srgbClr val="9A34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real missing-test gaps found in Sanitize critical-warning and AUSE handling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6508750" y="1621790"/>
            <a:ext cx="5270500" cy="2956560"/>
          </a:xfrm>
          <a:prstGeom prst="roundRect">
            <a:avLst>
              <a:gd name="adj" fmla="val 2792"/>
            </a:avLst>
          </a:prstGeom>
          <a:solidFill>
            <a:srgbClr val="F4F7FD"/>
          </a:solidFill>
          <a:ln w="12700">
            <a:solidFill>
              <a:srgbClr val="9DB8FF"/>
            </a:solidFill>
            <a:prstDash val="solid"/>
          </a:ln>
        </p:spPr>
      </p:sp>
      <p:pic>
        <p:nvPicPr>
          <p:cNvPr id="39" name="Image 9" descr="PaperPlan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652260" y="1771650"/>
            <a:ext cx="203200" cy="20320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931660" y="1739900"/>
            <a:ext cx="15434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Plans</a:t>
            </a:r>
            <a:endParaRPr lang="en-US" sz="1500" dirty="0"/>
          </a:p>
        </p:txBody>
      </p:sp>
      <p:sp>
        <p:nvSpPr>
          <p:cNvPr id="41" name="Shape 29"/>
          <p:cNvSpPr/>
          <p:nvPr/>
        </p:nvSpPr>
        <p:spPr>
          <a:xfrm>
            <a:off x="6658610" y="2089150"/>
            <a:ext cx="4970780" cy="728980"/>
          </a:xfrm>
          <a:prstGeom prst="roundRect">
            <a:avLst>
              <a:gd name="adj" fmla="val 7840"/>
            </a:avLst>
          </a:prstGeom>
          <a:noFill/>
          <a:ln w="12700">
            <a:solidFill>
              <a:srgbClr val="2557A7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6662420" y="2092960"/>
            <a:ext cx="952500" cy="721360"/>
          </a:xfrm>
          <a:custGeom>
            <a:avLst/>
            <a:gdLst/>
            <a:ahLst/>
            <a:cxnLst/>
            <a:rect l="l" t="t" r="r" b="b"/>
            <a:pathLst>
              <a:path w="952500" h="721360">
                <a:moveTo>
                  <a:pt x="0" y="53340"/>
                </a:moveTo>
                <a:arcTo hR="53340" wR="53340" stAng="10800000" swAng="5400000"/>
                <a:lnTo>
                  <a:pt x="952500" y="0"/>
                </a:lnTo>
                <a:lnTo>
                  <a:pt x="952500" y="721360"/>
                </a:lnTo>
                <a:lnTo>
                  <a:pt x="53340" y="721360"/>
                </a:lnTo>
                <a:arcTo hR="53340" wR="53340" stAng="5400000" swAng="5400000"/>
                <a:close/>
              </a:path>
            </a:pathLst>
          </a:custGeom>
          <a:solidFill>
            <a:srgbClr val="2557A7"/>
          </a:solidFill>
          <a:ln/>
        </p:spPr>
      </p:sp>
      <p:sp>
        <p:nvSpPr>
          <p:cNvPr id="43" name="Text 31"/>
          <p:cNvSpPr/>
          <p:nvPr/>
        </p:nvSpPr>
        <p:spPr>
          <a:xfrm>
            <a:off x="6859778" y="2231390"/>
            <a:ext cx="5577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CFC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</a:t>
            </a:r>
            <a:endParaRPr lang="en-US" sz="1300" dirty="0"/>
          </a:p>
        </p:txBody>
      </p:sp>
      <p:sp>
        <p:nvSpPr>
          <p:cNvPr id="44" name="Text 32"/>
          <p:cNvSpPr/>
          <p:nvPr/>
        </p:nvSpPr>
        <p:spPr>
          <a:xfrm>
            <a:off x="6950750" y="2462530"/>
            <a:ext cx="3757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AF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V1.x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7614920" y="2092960"/>
            <a:ext cx="4010660" cy="721360"/>
          </a:xfrm>
          <a:custGeom>
            <a:avLst/>
            <a:gdLst/>
            <a:ahLst/>
            <a:cxnLst/>
            <a:rect l="l" t="t" r="r" b="b"/>
            <a:pathLst>
              <a:path w="4010660" h="721360">
                <a:moveTo>
                  <a:pt x="3957320" y="0"/>
                </a:moveTo>
                <a:arcTo hR="53340" wR="53340" stAng="16200000" swAng="5400000"/>
                <a:lnTo>
                  <a:pt x="4010660" y="668020"/>
                </a:lnTo>
                <a:arcTo hR="53340" wR="53340" stAng="0" swAng="5400000"/>
                <a:lnTo>
                  <a:pt x="0" y="721360"/>
                </a:lnTo>
                <a:lnTo>
                  <a:pt x="0" y="0"/>
                </a:lnTo>
                <a:close/>
              </a:path>
            </a:pathLst>
          </a:custGeom>
          <a:solidFill>
            <a:srgbClr val="FCFDFF"/>
          </a:solidFill>
          <a:ln/>
        </p:spPr>
      </p:sp>
      <p:sp>
        <p:nvSpPr>
          <p:cNvPr id="46" name="Text 34"/>
          <p:cNvSpPr/>
          <p:nvPr/>
        </p:nvSpPr>
        <p:spPr>
          <a:xfrm>
            <a:off x="7713726" y="2156460"/>
            <a:ext cx="3919906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More specs: SATA, UFS, eMMC, SPDM, OCP, PLDM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Fix scripts as PRs, checked by Review Shield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Delta mode: re-analyse changed spec clauses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6658610" y="2907030"/>
            <a:ext cx="4970780" cy="728980"/>
          </a:xfrm>
          <a:prstGeom prst="roundRect">
            <a:avLst>
              <a:gd name="adj" fmla="val 7840"/>
            </a:avLst>
          </a:prstGeom>
          <a:noFill/>
          <a:ln w="12700">
            <a:solidFill>
              <a:srgbClr val="0B7A6F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6662420" y="2910840"/>
            <a:ext cx="952500" cy="721360"/>
          </a:xfrm>
          <a:custGeom>
            <a:avLst/>
            <a:gdLst/>
            <a:ahLst/>
            <a:cxnLst/>
            <a:rect l="l" t="t" r="r" b="b"/>
            <a:pathLst>
              <a:path w="952500" h="721360">
                <a:moveTo>
                  <a:pt x="0" y="53340"/>
                </a:moveTo>
                <a:arcTo hR="53340" wR="53340" stAng="10800000" swAng="5400000"/>
                <a:lnTo>
                  <a:pt x="952500" y="0"/>
                </a:lnTo>
                <a:lnTo>
                  <a:pt x="952500" y="721360"/>
                </a:lnTo>
                <a:lnTo>
                  <a:pt x="53340" y="721360"/>
                </a:lnTo>
                <a:arcTo hR="53340" wR="53340" stAng="5400000" swAng="5400000"/>
                <a:close/>
              </a:path>
            </a:pathLst>
          </a:custGeom>
          <a:solidFill>
            <a:srgbClr val="0B7A6F"/>
          </a:solidFill>
          <a:ln/>
        </p:spPr>
      </p:sp>
      <p:sp>
        <p:nvSpPr>
          <p:cNvPr id="49" name="Text 37"/>
          <p:cNvSpPr/>
          <p:nvPr/>
        </p:nvSpPr>
        <p:spPr>
          <a:xfrm>
            <a:off x="6849491" y="3049270"/>
            <a:ext cx="57835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CFC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</a:t>
            </a:r>
            <a:endParaRPr lang="en-US" sz="1300" dirty="0"/>
          </a:p>
        </p:txBody>
      </p:sp>
      <p:sp>
        <p:nvSpPr>
          <p:cNvPr id="50" name="Text 38"/>
          <p:cNvSpPr/>
          <p:nvPr/>
        </p:nvSpPr>
        <p:spPr>
          <a:xfrm>
            <a:off x="6945035" y="3280410"/>
            <a:ext cx="3871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DF2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V2.0</a:t>
            </a:r>
            <a:endParaRPr lang="en-US" sz="1200" dirty="0"/>
          </a:p>
        </p:txBody>
      </p:sp>
      <p:sp>
        <p:nvSpPr>
          <p:cNvPr id="51" name="Shape 39"/>
          <p:cNvSpPr/>
          <p:nvPr/>
        </p:nvSpPr>
        <p:spPr>
          <a:xfrm>
            <a:off x="7614920" y="2910840"/>
            <a:ext cx="4010660" cy="721360"/>
          </a:xfrm>
          <a:custGeom>
            <a:avLst/>
            <a:gdLst/>
            <a:ahLst/>
            <a:cxnLst/>
            <a:rect l="l" t="t" r="r" b="b"/>
            <a:pathLst>
              <a:path w="4010660" h="721360">
                <a:moveTo>
                  <a:pt x="3957320" y="0"/>
                </a:moveTo>
                <a:arcTo hR="53340" wR="53340" stAng="16200000" swAng="5400000"/>
                <a:lnTo>
                  <a:pt x="4010660" y="668020"/>
                </a:lnTo>
                <a:arcTo hR="53340" wR="53340" stAng="0" swAng="5400000"/>
                <a:lnTo>
                  <a:pt x="0" y="721360"/>
                </a:lnTo>
                <a:lnTo>
                  <a:pt x="0" y="0"/>
                </a:lnTo>
                <a:close/>
              </a:path>
            </a:pathLst>
          </a:custGeom>
          <a:solidFill>
            <a:srgbClr val="FCFDFF"/>
          </a:solidFill>
          <a:ln/>
        </p:spPr>
      </p:sp>
      <p:sp>
        <p:nvSpPr>
          <p:cNvPr id="52" name="Text 40"/>
          <p:cNvSpPr/>
          <p:nvPr/>
        </p:nvSpPr>
        <p:spPr>
          <a:xfrm>
            <a:off x="7713726" y="2974340"/>
            <a:ext cx="3919906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Knowledge-graph reasoning across spec chapters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Coverage as a release gate, auto-built RTM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All 6 product lines: eMMC to DC SSD</a:t>
            </a:r>
            <a:endParaRPr lang="en-US" sz="1200" dirty="0"/>
          </a:p>
        </p:txBody>
      </p:sp>
      <p:sp>
        <p:nvSpPr>
          <p:cNvPr id="53" name="Shape 41"/>
          <p:cNvSpPr/>
          <p:nvPr/>
        </p:nvSpPr>
        <p:spPr>
          <a:xfrm>
            <a:off x="6658610" y="3724910"/>
            <a:ext cx="4970780" cy="728980"/>
          </a:xfrm>
          <a:prstGeom prst="roundRect">
            <a:avLst>
              <a:gd name="adj" fmla="val 7840"/>
            </a:avLst>
          </a:prstGeom>
          <a:noFill/>
          <a:ln w="12700">
            <a:solidFill>
              <a:srgbClr val="6D28D9"/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6662420" y="3728720"/>
            <a:ext cx="952500" cy="721360"/>
          </a:xfrm>
          <a:custGeom>
            <a:avLst/>
            <a:gdLst/>
            <a:ahLst/>
            <a:cxnLst/>
            <a:rect l="l" t="t" r="r" b="b"/>
            <a:pathLst>
              <a:path w="952500" h="721360">
                <a:moveTo>
                  <a:pt x="0" y="53340"/>
                </a:moveTo>
                <a:arcTo hR="53340" wR="53340" stAng="10800000" swAng="5400000"/>
                <a:lnTo>
                  <a:pt x="952500" y="0"/>
                </a:lnTo>
                <a:lnTo>
                  <a:pt x="952500" y="721360"/>
                </a:lnTo>
                <a:lnTo>
                  <a:pt x="53340" y="721360"/>
                </a:lnTo>
                <a:arcTo hR="53340" wR="53340" stAng="5400000" swAng="5400000"/>
                <a:close/>
              </a:path>
            </a:pathLst>
          </a:custGeom>
          <a:solidFill>
            <a:srgbClr val="6D28D9"/>
          </a:solidFill>
          <a:ln/>
        </p:spPr>
      </p:sp>
      <p:sp>
        <p:nvSpPr>
          <p:cNvPr id="55" name="Text 43"/>
          <p:cNvSpPr/>
          <p:nvPr/>
        </p:nvSpPr>
        <p:spPr>
          <a:xfrm>
            <a:off x="6685288" y="3867150"/>
            <a:ext cx="90668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CFC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BEYOND</a:t>
            </a:r>
            <a:endParaRPr lang="en-US" sz="1300" dirty="0"/>
          </a:p>
        </p:txBody>
      </p:sp>
      <p:sp>
        <p:nvSpPr>
          <p:cNvPr id="56" name="Text 44"/>
          <p:cNvSpPr/>
          <p:nvPr/>
        </p:nvSpPr>
        <p:spPr>
          <a:xfrm>
            <a:off x="6809780" y="4098290"/>
            <a:ext cx="6577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DE4F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Y2027+</a:t>
            </a:r>
            <a:endParaRPr lang="en-US" sz="1200" dirty="0"/>
          </a:p>
        </p:txBody>
      </p:sp>
      <p:sp>
        <p:nvSpPr>
          <p:cNvPr id="57" name="Shape 45"/>
          <p:cNvSpPr/>
          <p:nvPr/>
        </p:nvSpPr>
        <p:spPr>
          <a:xfrm>
            <a:off x="7614920" y="3728720"/>
            <a:ext cx="4010660" cy="721360"/>
          </a:xfrm>
          <a:custGeom>
            <a:avLst/>
            <a:gdLst/>
            <a:ahLst/>
            <a:cxnLst/>
            <a:rect l="l" t="t" r="r" b="b"/>
            <a:pathLst>
              <a:path w="4010660" h="721360">
                <a:moveTo>
                  <a:pt x="3957320" y="0"/>
                </a:moveTo>
                <a:arcTo hR="53340" wR="53340" stAng="16200000" swAng="5400000"/>
                <a:lnTo>
                  <a:pt x="4010660" y="668020"/>
                </a:lnTo>
                <a:arcTo hR="53340" wR="53340" stAng="0" swAng="5400000"/>
                <a:lnTo>
                  <a:pt x="0" y="721360"/>
                </a:lnTo>
                <a:lnTo>
                  <a:pt x="0" y="0"/>
                </a:lnTo>
                <a:close/>
              </a:path>
            </a:pathLst>
          </a:custGeom>
          <a:solidFill>
            <a:srgbClr val="FCFDFF"/>
          </a:solidFill>
          <a:ln/>
        </p:spPr>
      </p:sp>
      <p:sp>
        <p:nvSpPr>
          <p:cNvPr id="58" name="Text 46"/>
          <p:cNvSpPr/>
          <p:nvPr/>
        </p:nvSpPr>
        <p:spPr>
          <a:xfrm>
            <a:off x="7713726" y="3792220"/>
            <a:ext cx="3919906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Risk-weighted coverage from field failures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Closed loop with SpecSpark + KAIzen</a:t>
            </a:r>
            <a:endParaRPr lang="en-US" sz="1200" dirty="0"/>
          </a:p>
          <a:p>
            <a:pPr algn="l" marL="155194" indent="-155194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13213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L3-certified Sol PE coverage standard</a:t>
            </a:r>
            <a:endParaRPr lang="en-US" sz="1200" dirty="0"/>
          </a:p>
        </p:txBody>
      </p:sp>
      <p:sp>
        <p:nvSpPr>
          <p:cNvPr id="59" name="Text 47"/>
          <p:cNvSpPr/>
          <p:nvPr/>
        </p:nvSpPr>
        <p:spPr>
          <a:xfrm>
            <a:off x="235712" y="6466841"/>
            <a:ext cx="117205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CoverSight V1.0 · Part of the Zion AI Quality Platform · Feedback &amp; onboarding: [contact / channel]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Sight V1.0 — Release Poster">
  <a:themeElements>
    <a:clrScheme name="CoverSight V1.0 — Release Poster">
      <a:dk1>
        <a:srgbClr val="1B3B8C"/>
      </a:dk1>
      <a:lt1>
        <a:srgbClr val="F7F9FF"/>
      </a:lt1>
      <a:dk2>
        <a:srgbClr val="314E98"/>
      </a:dk2>
      <a:lt2>
        <a:srgbClr val="C0CAE2"/>
      </a:lt2>
      <a:accent1>
        <a:srgbClr val="0B1A46"/>
      </a:accent1>
      <a:accent2>
        <a:srgbClr val="2B3A63"/>
      </a:accent2>
      <a:accent3>
        <a:srgbClr val="12224A"/>
      </a:accent3>
      <a:accent4>
        <a:srgbClr val="5B21B6"/>
      </a:accent4>
      <a:accent5>
        <a:srgbClr val="13213F"/>
      </a:accent5>
      <a:accent6>
        <a:srgbClr val="C2410C"/>
      </a:accent6>
      <a:hlink>
        <a:srgbClr val="0563C1"/>
      </a:hlink>
      <a:folHlink>
        <a:srgbClr val="954F72"/>
      </a:folHlink>
    </a:clrScheme>
    <a:fontScheme name="CoverSight V1.0 — Release Poster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CoverSight V1.0 — Release Poster</dc:title>
  <dc:subject/>
  <dc:creator/>
  <cp:lastModifiedBy/>
  <cp:revision>1</cp:revision>
  <dcterms:created xsi:type="dcterms:W3CDTF">2026-10-14T04:01:37Z</dcterms:created>
  <dcterms:modified xsi:type="dcterms:W3CDTF">2026-10-14T04:01:37Z</dcterms:modified>
</cp:coreProperties>
</file>