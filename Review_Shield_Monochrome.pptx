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Hours/PR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1F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Human</c:v>
                  </c:pt>
                  <c:pt idx="1">
                    <c:v>AI (Review Shield)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1F1F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1371600"/>
            <a:ext cx="2743200" cy="2743200"/>
          </a:xfrm>
          <a:prstGeom prst="ellipse">
            <a:avLst/>
          </a:prstGeom>
          <a:solidFill>
            <a:srgbClr val="2B2B2B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1737360"/>
            <a:ext cx="2011680" cy="2011680"/>
          </a:xfrm>
          <a:prstGeom prst="ellipse">
            <a:avLst/>
          </a:prstGeom>
          <a:solidFill>
            <a:srgbClr val="15151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2139696"/>
            <a:ext cx="1188720" cy="1207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 CODE  QUALITY 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17830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Shield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E3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Code Review, Org-Wide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faster.  Build better.  Ship with confidence.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617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731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4617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35808" y="4617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47731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4617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248656" y="4617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477316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79008" y="4617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 •  Organization-wide rollout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 is critical — and a bottleneck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does your team spend on code reviews every week? Reviews protect quality, but at scale they slow delivery and strain engineers.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23160"/>
            <a:ext cx="2606040" cy="82296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807208"/>
            <a:ext cx="868680" cy="86868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054096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reviews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96112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wait in queues for an available reviewer, stretching cycle time and time-to-merge.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9584" y="2423160"/>
            <a:ext cx="2606040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584" y="2423160"/>
            <a:ext cx="2606040" cy="8229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3" name="Shape 10"/>
          <p:cNvSpPr/>
          <p:nvPr/>
        </p:nvSpPr>
        <p:spPr>
          <a:xfrm>
            <a:off x="3803904" y="2807208"/>
            <a:ext cx="868680" cy="86868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3054096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85616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 fatigue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785616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attention drifts on long or repetitive diffs — real issues slip through to production.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19088" y="2423160"/>
            <a:ext cx="2606040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19088" y="2423160"/>
            <a:ext cx="2606040" cy="82296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9" name="Shape 15"/>
          <p:cNvSpPr/>
          <p:nvPr/>
        </p:nvSpPr>
        <p:spPr>
          <a:xfrm>
            <a:off x="6693408" y="2807208"/>
            <a:ext cx="868680" cy="86868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3054096"/>
            <a:ext cx="374904" cy="374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standards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675120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by reviewer and repo, creating friction and uneven enforcement.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308592" y="2423160"/>
            <a:ext cx="2606040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08592" y="2423160"/>
            <a:ext cx="2606040" cy="82296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5" name="Shape 20"/>
          <p:cNvSpPr/>
          <p:nvPr/>
        </p:nvSpPr>
        <p:spPr>
          <a:xfrm>
            <a:off x="9582912" y="2807208"/>
            <a:ext cx="868680" cy="86868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054096"/>
            <a:ext cx="374904" cy="374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64624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tooling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9564624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processes are scattered across GitLab, BitBucket and GitHub with no shared view.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peer review vs. AI peer review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ect">
            <a:avLst/>
          </a:prstGeom>
          <a:solidFill>
            <a:srgbClr val="F0F0F0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749808"/>
          </a:xfrm>
          <a:prstGeom prst="rect">
            <a:avLst/>
          </a:prstGeom>
          <a:solidFill>
            <a:srgbClr val="8080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025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7830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Peer Review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37960" y="1783080"/>
            <a:ext cx="5349240" cy="4160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83080"/>
            <a:ext cx="5349240" cy="749808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02536"/>
            <a:ext cx="329184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51192" y="17830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Peer Review  —  Review Shield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77063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in hours or days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77063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1192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the moment a PR opens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914400" y="3200400"/>
            <a:ext cx="480060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812280" y="3200400"/>
            <a:ext cx="4800600" cy="0"/>
          </a:xfrm>
          <a:prstGeom prst="line">
            <a:avLst/>
          </a:prstGeom>
          <a:noFill/>
          <a:ln w="9525">
            <a:solidFill>
              <a:srgbClr val="DCDCD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37413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53312" y="3300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by reviewer &amp; mood</a:t>
            </a:r>
            <a:endParaRPr lang="en-US" sz="13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337413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251192" y="3300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standards across every repo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914400" y="3803904"/>
            <a:ext cx="480060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812280" y="3803904"/>
            <a:ext cx="4800600" cy="0"/>
          </a:xfrm>
          <a:prstGeom prst="line">
            <a:avLst/>
          </a:prstGeom>
          <a:noFill/>
          <a:ln w="9525">
            <a:solidFill>
              <a:srgbClr val="DCDCDC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397764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53312" y="3904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working hours</a:t>
            </a:r>
            <a:endParaRPr lang="en-US" sz="13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8" y="397764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251192" y="3904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24/7, never fatigued</a:t>
            </a:r>
            <a:endParaRPr lang="en-US" sz="1350" dirty="0"/>
          </a:p>
        </p:txBody>
      </p:sp>
      <p:sp>
        <p:nvSpPr>
          <p:cNvPr id="28" name="Shape 18"/>
          <p:cNvSpPr/>
          <p:nvPr/>
        </p:nvSpPr>
        <p:spPr>
          <a:xfrm>
            <a:off x="914400" y="4407408"/>
            <a:ext cx="480060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812280" y="4407408"/>
            <a:ext cx="4800600" cy="0"/>
          </a:xfrm>
          <a:prstGeom prst="line">
            <a:avLst/>
          </a:prstGeom>
          <a:noFill/>
          <a:ln w="9525">
            <a:solidFill>
              <a:srgbClr val="DCDCDC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4581144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353312" y="4507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reads files in isolation</a:t>
            </a:r>
            <a:endParaRPr lang="en-US" sz="13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568" y="4581144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251192" y="4507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Whole-codebase context via Graph RAG</a:t>
            </a:r>
            <a:endParaRPr lang="en-US" sz="1350" dirty="0"/>
          </a:p>
        </p:txBody>
      </p:sp>
      <p:sp>
        <p:nvSpPr>
          <p:cNvPr id="34" name="Shape 22"/>
          <p:cNvSpPr/>
          <p:nvPr/>
        </p:nvSpPr>
        <p:spPr>
          <a:xfrm>
            <a:off x="914400" y="5010912"/>
            <a:ext cx="480060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6812280" y="5010912"/>
            <a:ext cx="4800600" cy="0"/>
          </a:xfrm>
          <a:prstGeom prst="line">
            <a:avLst/>
          </a:prstGeom>
          <a:noFill/>
          <a:ln w="9525">
            <a:solidFill>
              <a:srgbClr val="DCDCDC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88" y="5184648"/>
            <a:ext cx="274320" cy="27432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353312" y="5111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scales linearly with PR volume</a:t>
            </a:r>
            <a:endParaRPr lang="en-US" sz="13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0568" y="5184648"/>
            <a:ext cx="274320" cy="27432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251192" y="5111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1000s of PRs at low marginal cost</a:t>
            </a:r>
            <a:endParaRPr lang="en-US" sz="1350" dirty="0"/>
          </a:p>
        </p:txBody>
      </p:sp>
      <p:sp>
        <p:nvSpPr>
          <p:cNvPr id="40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Shield brings it all together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centralized, AI-powered platform replacing fragmented review processes — with intelligent automation and real-time visibility across the whole organization.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06040" cy="315468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91440" cy="3154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834640"/>
            <a:ext cx="868680" cy="86868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308152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Reviews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intelligent feedback that catches issues before they reach production.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9584" y="2468880"/>
            <a:ext cx="2606040" cy="315468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584" y="2468880"/>
            <a:ext cx="91440" cy="315468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13" name="Shape 10"/>
          <p:cNvSpPr/>
          <p:nvPr/>
        </p:nvSpPr>
        <p:spPr>
          <a:xfrm>
            <a:off x="3822192" y="2834640"/>
            <a:ext cx="868680" cy="86868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08152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03904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Multi-VCS Support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03904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across GitLab, BitBucket, GitHub — and more.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19088" y="2468880"/>
            <a:ext cx="2606040" cy="315468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19088" y="2468880"/>
            <a:ext cx="91440" cy="315468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9" name="Shape 15"/>
          <p:cNvSpPr/>
          <p:nvPr/>
        </p:nvSpPr>
        <p:spPr>
          <a:xfrm>
            <a:off x="6711696" y="2834640"/>
            <a:ext cx="868680" cy="86868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3081528"/>
            <a:ext cx="374904" cy="374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93408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Dashboards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693408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adoption, activity and impact across every team and repo.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308592" y="2468880"/>
            <a:ext cx="2606040" cy="315468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08592" y="2468880"/>
            <a:ext cx="91440" cy="315468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25" name="Shape 20"/>
          <p:cNvSpPr/>
          <p:nvPr/>
        </p:nvSpPr>
        <p:spPr>
          <a:xfrm>
            <a:off x="9601200" y="2834640"/>
            <a:ext cx="868680" cy="86868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088" y="3081528"/>
            <a:ext cx="374904" cy="374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82912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Metrics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582912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saved, issues found, acceptance ratios — all at your fingertips.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end-to-end review flow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856232"/>
            <a:ext cx="0" cy="4272077"/>
          </a:xfrm>
          <a:prstGeom prst="line">
            <a:avLst/>
          </a:prstGeom>
          <a:noFill/>
          <a:ln w="25400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27632"/>
            <a:ext cx="493776" cy="49377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824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57276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webhooks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206240" y="156362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Core Review &amp; Merge webhooks per repo (name + URL) in GitLab, BitBucket or GitHub.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67512" y="2324405"/>
            <a:ext cx="493776" cy="49377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2324405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9269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269541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via Jenkins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206240" y="2260397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URL hits the Jenkins URL, launching an AI peer review for each PR / MR.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667512" y="3021178"/>
            <a:ext cx="493776" cy="49377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" y="302117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7604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296631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&amp; build Graph RAG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206240" y="295717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is cloned and indexed into a code Graph RAG of files, symbols &amp; dependencies.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667512" y="3717950"/>
            <a:ext cx="493776" cy="49377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7512" y="371795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7281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366308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 + retrieve context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206240" y="365394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PR / MR diff, then pull the connected context for it from the Graph RAG.</a:t>
            </a:r>
            <a:endParaRPr lang="en-US" sz="1130" dirty="0"/>
          </a:p>
        </p:txBody>
      </p:sp>
      <p:sp>
        <p:nvSpPr>
          <p:cNvPr id="25" name="Shape 19"/>
          <p:cNvSpPr/>
          <p:nvPr/>
        </p:nvSpPr>
        <p:spPr>
          <a:xfrm>
            <a:off x="667512" y="4414723"/>
            <a:ext cx="493776" cy="49377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67512" y="4414723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469587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20240" y="4359859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with the LLM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206240" y="4350715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change to the LLM together with its Graph RAG context for a deep review.</a:t>
            </a:r>
            <a:endParaRPr lang="en-US" sz="1130" dirty="0"/>
          </a:p>
        </p:txBody>
      </p:sp>
      <p:sp>
        <p:nvSpPr>
          <p:cNvPr id="30" name="Shape 23"/>
          <p:cNvSpPr/>
          <p:nvPr/>
        </p:nvSpPr>
        <p:spPr>
          <a:xfrm>
            <a:off x="667512" y="5111496"/>
            <a:ext cx="493776" cy="49377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67512" y="5111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516636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920240" y="50566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Comments &amp; summary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4206240" y="504748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inline review comments and a concise PR summary back on the PR / MR.</a:t>
            </a:r>
            <a:endParaRPr lang="en-US" sz="1130" dirty="0"/>
          </a:p>
        </p:txBody>
      </p:sp>
      <p:sp>
        <p:nvSpPr>
          <p:cNvPr id="35" name="Shape 27"/>
          <p:cNvSpPr/>
          <p:nvPr/>
        </p:nvSpPr>
        <p:spPr>
          <a:xfrm>
            <a:off x="667512" y="5808269"/>
            <a:ext cx="493776" cy="49377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67512" y="5808269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5863133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920240" y="5753405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check → dashboard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4206240" y="5744261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webhook verifies fixes and streams the data to the Review Shield dashboard.</a:t>
            </a:r>
            <a:endParaRPr lang="en-US" sz="1130" dirty="0"/>
          </a:p>
        </p:txBody>
      </p:sp>
      <p:sp>
        <p:nvSpPr>
          <p:cNvPr id="40" name="Shape 31"/>
          <p:cNvSpPr/>
          <p:nvPr/>
        </p:nvSpPr>
        <p:spPr>
          <a:xfrm>
            <a:off x="8229600" y="1627632"/>
            <a:ext cx="3520440" cy="4892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8503920" y="1828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AT A GLANCE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503920" y="2340864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8512" y="2478024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052560" y="23408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Webhook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8503920" y="2871216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</a:rPr>
              <a:t>▼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8503920" y="3012948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8512" y="3150108"/>
            <a:ext cx="274320" cy="27432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052560" y="30129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Trigger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8503920" y="3543300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</a:rPr>
              <a:t>▼</a:t>
            </a:r>
            <a:endParaRPr lang="en-US" sz="800" dirty="0"/>
          </a:p>
        </p:txBody>
      </p:sp>
      <p:sp>
        <p:nvSpPr>
          <p:cNvPr id="50" name="Shape 39"/>
          <p:cNvSpPr/>
          <p:nvPr/>
        </p:nvSpPr>
        <p:spPr>
          <a:xfrm>
            <a:off x="8503920" y="3685032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8512" y="3822192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052560" y="3685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+ Graph RAG</a:t>
            </a:r>
            <a:endParaRPr lang="en-US" sz="1250" dirty="0"/>
          </a:p>
        </p:txBody>
      </p:sp>
      <p:sp>
        <p:nvSpPr>
          <p:cNvPr id="53" name="Text 41"/>
          <p:cNvSpPr/>
          <p:nvPr/>
        </p:nvSpPr>
        <p:spPr>
          <a:xfrm>
            <a:off x="8503920" y="4215384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</a:rPr>
              <a:t>▼</a:t>
            </a:r>
            <a:endParaRPr lang="en-US" sz="800" dirty="0"/>
          </a:p>
        </p:txBody>
      </p:sp>
      <p:sp>
        <p:nvSpPr>
          <p:cNvPr id="54" name="Shape 42"/>
          <p:cNvSpPr/>
          <p:nvPr/>
        </p:nvSpPr>
        <p:spPr>
          <a:xfrm>
            <a:off x="8503920" y="4357116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8512" y="4494276"/>
            <a:ext cx="274320" cy="27432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9052560" y="43571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Review</a:t>
            </a:r>
            <a:endParaRPr lang="en-US" sz="1250" dirty="0"/>
          </a:p>
        </p:txBody>
      </p:sp>
      <p:sp>
        <p:nvSpPr>
          <p:cNvPr id="57" name="Text 44"/>
          <p:cNvSpPr/>
          <p:nvPr/>
        </p:nvSpPr>
        <p:spPr>
          <a:xfrm>
            <a:off x="8503920" y="4887468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</a:rPr>
              <a:t>▼</a:t>
            </a:r>
            <a:endParaRPr lang="en-US" sz="800" dirty="0"/>
          </a:p>
        </p:txBody>
      </p:sp>
      <p:sp>
        <p:nvSpPr>
          <p:cNvPr id="58" name="Shape 45"/>
          <p:cNvSpPr/>
          <p:nvPr/>
        </p:nvSpPr>
        <p:spPr>
          <a:xfrm>
            <a:off x="8503920" y="5029200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8512" y="5166360"/>
            <a:ext cx="274320" cy="274320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9052560" y="5029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+ Summary</a:t>
            </a:r>
            <a:endParaRPr lang="en-US" sz="1250" dirty="0"/>
          </a:p>
        </p:txBody>
      </p:sp>
      <p:sp>
        <p:nvSpPr>
          <p:cNvPr id="61" name="Text 47"/>
          <p:cNvSpPr/>
          <p:nvPr/>
        </p:nvSpPr>
        <p:spPr>
          <a:xfrm>
            <a:off x="8503920" y="5559552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</a:rPr>
              <a:t>▼</a:t>
            </a:r>
            <a:endParaRPr lang="en-US" sz="800" dirty="0"/>
          </a:p>
        </p:txBody>
      </p:sp>
      <p:sp>
        <p:nvSpPr>
          <p:cNvPr id="62" name="Shape 48"/>
          <p:cNvSpPr/>
          <p:nvPr/>
        </p:nvSpPr>
        <p:spPr>
          <a:xfrm>
            <a:off x="8503920" y="5701284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8512" y="5838444"/>
            <a:ext cx="274320" cy="274320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9052560" y="57012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Shield Dashboard</a:t>
            </a:r>
            <a:endParaRPr lang="en-US" sz="1250" dirty="0"/>
          </a:p>
        </p:txBody>
      </p:sp>
      <p:sp>
        <p:nvSpPr>
          <p:cNvPr id="65" name="Text 5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reviews with code Graph RAG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review a diff in isolation. Review Shield indexes the whole codebase as a graph — functions, classes, imports, call paths — then retrieves the change’s connected context before the LLM ever sees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49240" cy="3566160"/>
          </a:xfrm>
          <a:prstGeom prst="rect">
            <a:avLst/>
          </a:prstGeom>
          <a:solidFill>
            <a:srgbClr val="242424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5349240" cy="64008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14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DB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Diff-only review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4015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changed lines, blind to the rest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0599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16736" y="39867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cross-file and downstream breakage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830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16736" y="46451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judge intent or architectural fit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37667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16736" y="5303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noisy, low-context comments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537960" y="2514600"/>
            <a:ext cx="5349240" cy="3566160"/>
          </a:xfrm>
          <a:prstGeom prst="rect">
            <a:avLst/>
          </a:prstGeom>
          <a:solidFill>
            <a:srgbClr val="2B2B2B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537960" y="2514600"/>
            <a:ext cx="5349240" cy="640080"/>
          </a:xfrm>
          <a:prstGeom prst="rect">
            <a:avLst/>
          </a:prstGeom>
          <a:solidFill>
            <a:srgbClr val="3D3D3D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2697480"/>
            <a:ext cx="310896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51192" y="2514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RAG context-aware review</a:t>
            </a:r>
            <a:endParaRPr lang="en-US" sz="16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568" y="3401568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14616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callers, callees &amp; related modules for the change</a:t>
            </a:r>
            <a:endParaRPr lang="en-US" sz="12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8" y="4059936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214616" y="39867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cross-file regressions and broken contracts</a:t>
            </a:r>
            <a:endParaRPr lang="en-US" sz="12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0568" y="4718304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14616" y="46451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against real architecture &amp; conventions</a:t>
            </a:r>
            <a:endParaRPr lang="en-US" sz="12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568" y="5376672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214616" y="5303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positives, sharper, actionable comments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leadership needs to see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21408"/>
            <a:ext cx="749808" cy="749808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4086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031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Review Activity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90779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review trends and volume over time, by team and repo.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416552" y="1828800"/>
            <a:ext cx="3502152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2121408"/>
            <a:ext cx="749808" cy="749808"/>
          </a:xfrm>
          <a:prstGeom prst="ellipse">
            <a:avLst/>
          </a:prstGeom>
          <a:solidFill>
            <a:srgbClr val="3D3D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4086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1031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vs. Human Effort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90872" y="290779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AI creates leverage versus manual effort.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502152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121408"/>
            <a:ext cx="749808" cy="749808"/>
          </a:xfrm>
          <a:prstGeom prst="ellipse">
            <a:avLst/>
          </a:prstGeom>
          <a:solidFill>
            <a:srgbClr val="4D4D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34086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08592" y="21031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Severity &amp; Categories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67344" y="290779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matters most — by severity and type.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40080" y="3904488"/>
            <a:ext cx="3502152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97096"/>
            <a:ext cx="749808" cy="749808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41655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41788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Leaderboards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498348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Gamify quality and drive healthy adoption across the org.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4416552" y="3904488"/>
            <a:ext cx="3502152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197096"/>
            <a:ext cx="749808" cy="749808"/>
          </a:xfrm>
          <a:prstGeom prst="ellipse">
            <a:avLst/>
          </a:prstGeom>
          <a:solidFill>
            <a:srgbClr val="3D3D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41655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1788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Repositories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90872" y="498348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hotspots, trends and the most active codebases.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8193024" y="3904488"/>
            <a:ext cx="3502152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4197096"/>
            <a:ext cx="749808" cy="749808"/>
          </a:xfrm>
          <a:prstGeom prst="ellipse">
            <a:avLst/>
          </a:prstGeom>
          <a:solidFill>
            <a:srgbClr val="4D4D4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441655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08592" y="41788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Metrics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67344" y="498348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time, acceptance ratio and time saved, live.</a:t>
            </a:r>
            <a:endParaRPr lang="en-US" sz="1180" dirty="0"/>
          </a:p>
        </p:txBody>
      </p:sp>
      <p:sp>
        <p:nvSpPr>
          <p:cNvPr id="34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pilot teams are seeing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7432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9052" y="2606040"/>
            <a:ext cx="768096" cy="768096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28254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 cycles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29584" y="2286000"/>
            <a:ext cx="2606040" cy="27432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8556" y="2606040"/>
            <a:ext cx="768096" cy="768096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8254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3712464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coverage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19088" y="2286000"/>
            <a:ext cx="2606040" cy="27432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38060" y="2606040"/>
            <a:ext cx="768096" cy="768096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6" y="28254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</a:t>
            </a:r>
            <a:endParaRPr lang="en-US" sz="4600" dirty="0"/>
          </a:p>
        </p:txBody>
      </p:sp>
      <p:sp>
        <p:nvSpPr>
          <p:cNvPr id="18" name="Text 13"/>
          <p:cNvSpPr/>
          <p:nvPr/>
        </p:nvSpPr>
        <p:spPr>
          <a:xfrm>
            <a:off x="6601968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FTE-months freed / month*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308592" y="2286000"/>
            <a:ext cx="2606040" cy="27432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27564" y="2606040"/>
            <a:ext cx="768096" cy="768096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020" y="28254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0032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600" dirty="0"/>
          </a:p>
        </p:txBody>
      </p:sp>
      <p:sp>
        <p:nvSpPr>
          <p:cNvPr id="23" name="Text 17"/>
          <p:cNvSpPr/>
          <p:nvPr/>
        </p:nvSpPr>
        <p:spPr>
          <a:xfrm>
            <a:off x="9491472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PRs reviewed consistently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257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significant developer time reclaimed, issues caught before production, and uniform standards enforced across every repository.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Modeled at 420 PRs/month, 2.0h human vs 0.05h AI per review — see the savings model on the next slide.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measure human effort saved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saving is auditable: a transparent formula stack turns each reviewed PR into measurable hours — then into dollars.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672084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91440" cy="1078992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000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— Per-review savings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Saved_PR  =  T_human  −  T_AI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atomic unit — the time delta on every single PR.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02152"/>
            <a:ext cx="672084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02152"/>
            <a:ext cx="91440" cy="107899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118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— Monthly aggregate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13632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Saved_month  =  Saved_PR × (PRs/day × working_days)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426110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per-PR delta across real PR throughput.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764024"/>
            <a:ext cx="672084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764024"/>
            <a:ext cx="91440" cy="1078992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7375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 — Financial translation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Cost_saved  =  Saved_month × senior_eng_rate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522976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hours into dollars at a fully-loaded rate.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2240280"/>
            <a:ext cx="3867912" cy="382219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96312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66760" y="244144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Deriving T_human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955280" y="2990088"/>
            <a:ext cx="3319272" cy="777240"/>
          </a:xfrm>
          <a:prstGeom prst="rect">
            <a:avLst/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92440" y="30632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T_human = T_base(LOC)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K_complexity × K_familiarity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K_risk + T_context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955280" y="393192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K_complexity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55280" y="41330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of the change</a:t>
            </a:r>
            <a:endParaRPr lang="en-US" sz="1030" dirty="0"/>
          </a:p>
        </p:txBody>
      </p:sp>
      <p:sp>
        <p:nvSpPr>
          <p:cNvPr id="27" name="Text 24"/>
          <p:cNvSpPr/>
          <p:nvPr/>
        </p:nvSpPr>
        <p:spPr>
          <a:xfrm>
            <a:off x="7955280" y="445770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K_familiarity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55280" y="465886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ownership — up to 2× if unfamiliar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7955280" y="498348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K_risk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0" y="51846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 tier: /payments, /auth demand more</a:t>
            </a:r>
            <a:endParaRPr lang="en-US" sz="1030" dirty="0"/>
          </a:p>
        </p:txBody>
      </p:sp>
      <p:sp>
        <p:nvSpPr>
          <p:cNvPr id="31" name="Text 28"/>
          <p:cNvSpPr/>
          <p:nvPr/>
        </p:nvSpPr>
        <p:spPr>
          <a:xfrm>
            <a:off x="7955280" y="550926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T_context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955280" y="57104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per-PR overhead (5–15 min)</a:t>
            </a:r>
            <a:endParaRPr lang="en-US" sz="1030" dirty="0"/>
          </a:p>
        </p:txBody>
      </p:sp>
      <p:sp>
        <p:nvSpPr>
          <p:cNvPr id="33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means in dollars &amp; FTE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1430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420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reviewed / month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9584" y="1691640"/>
            <a:ext cx="2606040" cy="11430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6744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1.95 h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639312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19088" y="1691640"/>
            <a:ext cx="2606040" cy="11430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~820 h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528816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per month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08592" y="1691640"/>
            <a:ext cx="2606040" cy="1143000"/>
          </a:xfrm>
          <a:prstGeom prst="rect">
            <a:avLst/>
          </a:prstGeom>
          <a:solidFill>
            <a:srgbClr val="2B2B2B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45752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~5.1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9418320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FTE-months / month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242424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089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FTE_months  =  Monthly_hours_saved  ÷  160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532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0"/>
            <a:ext cx="36576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4224528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~$98K</a:t>
            </a:r>
            <a:endParaRPr lang="en-US" sz="5800" dirty="0"/>
          </a:p>
        </p:txBody>
      </p:sp>
      <p:sp>
        <p:nvSpPr>
          <p:cNvPr id="21" name="Text 18"/>
          <p:cNvSpPr/>
          <p:nvPr/>
        </p:nvSpPr>
        <p:spPr>
          <a:xfrm>
            <a:off x="640080" y="523036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labor saved per month  —  ~$1.18M / year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0080" y="55961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$120/hr fully-loaded senior-engineer rate.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46520" y="310896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E3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time per PR (hours)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46520" y="3383280"/>
          <a:ext cx="5285232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6446520" y="48646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guardrails reported alongside savings:</a:t>
            </a:r>
            <a:endParaRPr lang="en-US" sz="12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521208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75704" y="514807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escape rate — defects that slip past review</a:t>
            </a:r>
            <a:endParaRPr lang="en-US" sz="11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5550408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75704" y="548640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— AI comments dismissed</a:t>
            </a:r>
            <a:endParaRPr lang="en-US" sz="11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888736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75704" y="58247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parity — languages &amp; rules vs. baseline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Review Shield is heading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502152" cy="9144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350008"/>
            <a:ext cx="914400" cy="9144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615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Auto-correct, fix &amp; merge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411480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can auto-apply safe fixes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PRs can be merged automatically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the loop for higher-risk changes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4517136" y="1965960"/>
            <a:ext cx="3502152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7136" y="1965960"/>
            <a:ext cx="3502152" cy="9144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2" name="Shape 9"/>
          <p:cNvSpPr/>
          <p:nvPr/>
        </p:nvSpPr>
        <p:spPr>
          <a:xfrm>
            <a:off x="4809744" y="2350008"/>
            <a:ext cx="914400" cy="9144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1518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91456" y="34290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5 → 1000 repos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09744" y="411480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ingestion &amp; parallel Jenkins agents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cached multi-tenant Graph RAG indexes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token budgets &amp; rate-limit management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8394192" y="1965960"/>
            <a:ext cx="3502152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1965960"/>
            <a:ext cx="3502152" cy="9144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0" y="2350008"/>
            <a:ext cx="914400" cy="9144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61518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68512" y="34290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fallback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686800" y="411480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Jenkins / LLM fails or token limits are hit…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…teams fall back to human peer review seamlessly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dependency — merges are never blocked</a:t>
            </a:r>
            <a:endParaRPr lang="en-US" sz="1230" dirty="0"/>
          </a:p>
        </p:txBody>
      </p:sp>
      <p:sp>
        <p:nvSpPr>
          <p:cNvPr id="22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 a new repo in minutes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029968"/>
            <a:ext cx="0" cy="3410712"/>
          </a:xfrm>
          <a:prstGeom prst="line">
            <a:avLst/>
          </a:prstGeom>
          <a:noFill/>
          <a:ln w="25400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783080"/>
            <a:ext cx="530352" cy="530352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8562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7373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the repo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20640" y="17373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Configure portal and add the repository — name + URL.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03504" y="2624328"/>
            <a:ext cx="530352" cy="530352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26974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25786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the Core Review webhook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20640" y="257860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 / MR open &amp; update events to the Jenkins trigger URL.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603504" y="3465576"/>
            <a:ext cx="530352" cy="530352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3504" y="3465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353872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34198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the Merge webhook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120640" y="341985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merge events to Review Shield so fixes &amp; metrics are captured.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03504" y="4306824"/>
            <a:ext cx="530352" cy="530352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3504" y="4306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43799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42611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a test PR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120640" y="426110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sample PR and confirm an AI review and summary post back.</a:t>
            </a:r>
            <a:endParaRPr lang="en-US" sz="1180" dirty="0"/>
          </a:p>
        </p:txBody>
      </p:sp>
      <p:sp>
        <p:nvSpPr>
          <p:cNvPr id="25" name="Shape 19"/>
          <p:cNvSpPr/>
          <p:nvPr/>
        </p:nvSpPr>
        <p:spPr>
          <a:xfrm>
            <a:off x="603504" y="5148072"/>
            <a:ext cx="530352" cy="530352"/>
          </a:xfrm>
          <a:prstGeom prst="ellipse">
            <a:avLst/>
          </a:prstGeom>
          <a:solidFill>
            <a:srgbClr val="2E2E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03504" y="5148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608" y="5221224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65960" y="510235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dashboards on Zion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120640" y="510235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adoption, activity and impact on the Zion internal portal.</a:t>
            </a:r>
            <a:endParaRPr lang="en-US" sz="1180" dirty="0"/>
          </a:p>
        </p:txBody>
      </p:sp>
      <p:sp>
        <p:nvSpPr>
          <p:cNvPr id="30" name="Shape 23"/>
          <p:cNvSpPr/>
          <p:nvPr/>
        </p:nvSpPr>
        <p:spPr>
          <a:xfrm>
            <a:off x="8275320" y="1783080"/>
            <a:ext cx="3456432" cy="4160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549640" y="201168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WEBHOOKS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549640" y="2441448"/>
            <a:ext cx="2907792" cy="1325880"/>
          </a:xfrm>
          <a:prstGeom prst="rect">
            <a:avLst/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260604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98280" y="25603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webhook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732520" y="2953512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URL  →  Jenkins 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per PR / MR to trigger the AI peer review.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549640" y="3931920"/>
            <a:ext cx="2907792" cy="1325880"/>
          </a:xfrm>
          <a:prstGeom prst="rect">
            <a:avLst/>
          </a:prstGeom>
          <a:solidFill>
            <a:srgbClr val="2B2B2B"/>
          </a:solidFill>
          <a:ln w="9525">
            <a:solidFill>
              <a:srgbClr val="3D3D3D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4096512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098280" y="405079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webhook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8732520" y="4443984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event  →  Review Shield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fixes and feeds the dashboards.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8549640" y="53949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once per repo, in GitLab, BitBucket or GitHub.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BFB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188720"/>
            <a:ext cx="1005840" cy="1024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3774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Let’s elevate code quality — organization-wide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463040" y="342900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just about code. It’s about empowering teams to move faster, build better, and ship with confidence.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981048" y="44348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968" y="47274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86888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your repository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E5E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webhooks in no time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370168" y="44348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 w="15875">
            <a:solidFill>
              <a:srgbClr val="BFBFB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088" y="472744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76008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 the Zion portal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7C7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 &amp; metrics, org-wide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Shield  •  Enterprise AI Code Review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Shield — Enterprise AI Code Review</dc:title>
  <dc:subject>PptxGenJS Presentation</dc:subject>
  <dc:creator>Review Shield</dc:creator>
  <cp:lastModifiedBy>Review Shield</cp:lastModifiedBy>
  <cp:revision>1</cp:revision>
  <dcterms:created xsi:type="dcterms:W3CDTF">2026-05-20T19:05:24Z</dcterms:created>
  <dcterms:modified xsi:type="dcterms:W3CDTF">2026-05-20T19:05:24Z</dcterms:modified>
</cp:coreProperties>
</file>