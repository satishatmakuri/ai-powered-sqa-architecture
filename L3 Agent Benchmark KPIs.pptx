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session: agree one benchmark that every L3 AI solution in Sol PE is measured against, so we build each capability once and reuse it across grp1, grp2 and grp3.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the NL Req Parsing &amp; Classification Agent in phase 1. If grp1, grp2 and grp3 each build one, we pay three times and still cannot say which is best. 90 is the worst case (30 components times 3 groups); the goal is 30 certified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commitments are the whole ask. The rest of the deck explains how scoring works so leaders can hold their teams to it. The same list returns as decisions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exact L3 components from the wf2b wireframe: AI agents, ML models, heuristic algorithms and core business logic. Each one gets its own KPI targets in the wf2c benchmark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Efficacy carries the most weight, but reuse is second at 20%. That is deliberate: a slightly less accurate solution that works for every product line and every group is worth more to Sol PE than a perfect one that only fits one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Gates are pass or fail and are not averaged into the score. A high score cannot buy back a failed gate, in particular G3 on data confidentiality and G4 on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KPI scores 100 when it meets the Target, 60 at the Min floor, linear in between, and 0 below Min. Dimension score is the mean of its KPIs. Ties go to higher efficacy, then lower cost per run, then the solution more groups already use. The 5-point rule stops churn between near-equal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and 2 are where duplication is prevented, before any code is written. Step 8 keeps the standard honest: any group can challenge the champion each quarter with a better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component from our original discussion. Any group building a requirements parser must hit these numbers on this golden set. Min floors apply to efficacy KPIs; missing one fails gate G5.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out the safety-critical ones: false heals in phase 5 and false Go decisions in phase 9 have near-zero tolerance, because a wrong answer there hides a real product defect from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Duplication hides inside components too: an RTM linker, a duplicate-defect finder and a knowledge search all need the same embedding service. Building these ten once is the fastest way to cut total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made up to show the mechanics. The scorecard on the wf2c page does this calculation live: enter each group's dimension scores and it shows composite, tier and 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critical path is the golden datasets. Without a shared, versioned dataset per component, scores from different groups are not comparable, so owners need to be named in month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 and managers in this room hold the second row. The benchmark only works if managers refuse to staff a new build that has not been registered and checked for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each decision in turn. Fill in names and the effective date live, or follow up by email within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2F86"/>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3A2F86"/>
              </a:gs>
              <a:gs pos="60000">
                <a:srgbClr val="1C1842"/>
              </a:gs>
            </a:gsLst>
            <a:path path="circle">
              <a:fillToRect l="85000" t="20000" r="15000" b="80000"/>
            </a:path>
          </a:gradFill>
          <a:ln/>
        </p:spPr>
      </p:sp>
      <p:sp>
        <p:nvSpPr>
          <p:cNvPr id="3" name="Text 1"/>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9A8FF"/>
                </a:solidFill>
                <a:latin typeface="IBM Plex Sans" pitchFamily="34" charset="0"/>
                <a:ea typeface="IBM Plex Sans" pitchFamily="34" charset="-122"/>
                <a:cs typeface="IBM Plex Sans" pitchFamily="34" charset="-120"/>
              </a:rPr>
              <a:t>ZION QUALITY PLATFORM · SOL PE</a:t>
            </a:r>
            <a:endParaRPr lang="en-US" sz="1400" dirty="0"/>
          </a:p>
        </p:txBody>
      </p:sp>
      <p:sp>
        <p:nvSpPr>
          <p:cNvPr id="4" name="Text 2"/>
          <p:cNvSpPr/>
          <p:nvPr/>
        </p:nvSpPr>
        <p:spPr>
          <a:xfrm>
            <a:off x="812800" y="2483743"/>
            <a:ext cx="9810750" cy="1342033"/>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F5F4FA"/>
                </a:solidFill>
                <a:latin typeface="IBM Plex Sans" pitchFamily="34" charset="0"/>
                <a:ea typeface="IBM Plex Sans" pitchFamily="34" charset="-122"/>
                <a:cs typeface="IBM Plex Sans" pitchFamily="34" charset="-120"/>
              </a:rPr>
              <a:t>One benchmark. One certified solution per capability.</a:t>
            </a:r>
            <a:endParaRPr lang="en-US" sz="4800" dirty="0"/>
          </a:p>
        </p:txBody>
      </p:sp>
      <p:sp>
        <p:nvSpPr>
          <p:cNvPr id="5" name="Text 3"/>
          <p:cNvSpPr/>
          <p:nvPr/>
        </p:nvSpPr>
        <p:spPr>
          <a:xfrm>
            <a:off x="812800" y="4054376"/>
            <a:ext cx="850265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4E6"/>
                </a:solidFill>
                <a:latin typeface="IBM Plex Sans" pitchFamily="34" charset="0"/>
                <a:ea typeface="IBM Plex Sans" pitchFamily="34" charset="-122"/>
                <a:cs typeface="IBM Plex Sans" pitchFamily="34" charset="-120"/>
              </a:rPr>
              <a:t>L3 Agent (Controller) reusable solution benchmark KPIs for grp1, grp2 and grp3</a:t>
            </a:r>
            <a:endParaRPr lang="en-US" sz="1800" dirty="0"/>
          </a:p>
        </p:txBody>
      </p:sp>
      <p:sp>
        <p:nvSpPr>
          <p:cNvPr id="6" name="Text 4"/>
          <p:cNvSpPr/>
          <p:nvPr/>
        </p:nvSpPr>
        <p:spPr>
          <a:xfrm>
            <a:off x="812800" y="5796359"/>
            <a:ext cx="317960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4E6"/>
                </a:solidFill>
                <a:latin typeface="IBM Plex Sans" pitchFamily="34" charset="0"/>
                <a:ea typeface="IBM Plex Sans" pitchFamily="34" charset="-122"/>
                <a:cs typeface="IBM Plex Sans" pitchFamily="34" charset="-120"/>
              </a:rPr>
              <a:t>Satish · Technical Director, SSIR Sol PE</a:t>
            </a:r>
            <a:endParaRPr lang="en-US" sz="1400" dirty="0"/>
          </a:p>
        </p:txBody>
      </p:sp>
      <p:sp>
        <p:nvSpPr>
          <p:cNvPr id="7" name="Text 5"/>
          <p:cNvSpPr/>
          <p:nvPr/>
        </p:nvSpPr>
        <p:spPr>
          <a:xfrm>
            <a:off x="7194649" y="5796359"/>
            <a:ext cx="431008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4E6"/>
                </a:solidFill>
                <a:latin typeface="IBM Plex Sans" pitchFamily="34" charset="0"/>
                <a:ea typeface="IBM Plex Sans" pitchFamily="34" charset="-122"/>
                <a:cs typeface="IBM Plex Sans" pitchFamily="34" charset="-120"/>
              </a:rPr>
              <a:t>Group leaders &amp; managers review ·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FA"/>
        </a:solidFill>
      </p:bgPr>
    </p:bg>
    <p:spTree>
      <p:nvGrpSpPr>
        <p:cNvPr id="1" name=""/>
        <p:cNvGrpSpPr/>
        <p:nvPr/>
      </p:nvGrpSpPr>
      <p:grpSpPr>
        <a:xfrm>
          <a:off x="0" y="0"/>
          <a:ext cx="0" cy="0"/>
          <a:chOff x="0" y="0"/>
          <a:chExt cx="0" cy="0"/>
        </a:xfrm>
      </p:grpSpPr>
      <p:sp>
        <p:nvSpPr>
          <p:cNvPr id="2" name="Text 0"/>
          <p:cNvSpPr/>
          <p:nvPr/>
        </p:nvSpPr>
        <p:spPr>
          <a:xfrm>
            <a:off x="812800" y="81280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1842"/>
                </a:solidFill>
                <a:latin typeface="IBM Plex Sans" pitchFamily="34" charset="0"/>
                <a:ea typeface="IBM Plex Sans" pitchFamily="34" charset="-122"/>
                <a:cs typeface="IBM Plex Sans" pitchFamily="34" charset="-120"/>
              </a:rPr>
              <a:t>Without a common benchmark, each group builds its own version</a:t>
            </a:r>
            <a:endParaRPr lang="en-US" sz="3200" dirty="0"/>
          </a:p>
        </p:txBody>
      </p:sp>
      <p:sp>
        <p:nvSpPr>
          <p:cNvPr id="3" name="Shape 1"/>
          <p:cNvSpPr/>
          <p:nvPr/>
        </p:nvSpPr>
        <p:spPr>
          <a:xfrm>
            <a:off x="815975" y="2116336"/>
            <a:ext cx="3384550" cy="2616200"/>
          </a:xfrm>
          <a:prstGeom prst="roundRect">
            <a:avLst>
              <a:gd name="adj" fmla="val 3762"/>
            </a:avLst>
          </a:prstGeom>
          <a:solidFill>
            <a:srgbClr val="FCFCFE"/>
          </a:solidFill>
          <a:ln w="6350">
            <a:solidFill>
              <a:srgbClr val="DDD9EE"/>
            </a:solidFill>
            <a:prstDash val="solid"/>
          </a:ln>
        </p:spPr>
      </p:sp>
      <p:sp>
        <p:nvSpPr>
          <p:cNvPr id="4" name="Text 2"/>
          <p:cNvSpPr/>
          <p:nvPr/>
        </p:nvSpPr>
        <p:spPr>
          <a:xfrm>
            <a:off x="1073150" y="2373511"/>
            <a:ext cx="295630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6D4AE0"/>
                </a:solidFill>
                <a:latin typeface="JetBrains Mono" pitchFamily="34" charset="0"/>
                <a:ea typeface="JetBrains Mono" pitchFamily="34" charset="-122"/>
                <a:cs typeface="JetBrains Mono" pitchFamily="34" charset="-120"/>
              </a:rPr>
              <a:t>30</a:t>
            </a:r>
            <a:endParaRPr lang="en-US" sz="6000" dirty="0"/>
          </a:p>
        </p:txBody>
      </p:sp>
      <p:sp>
        <p:nvSpPr>
          <p:cNvPr id="5" name="Text 3"/>
          <p:cNvSpPr/>
          <p:nvPr/>
        </p:nvSpPr>
        <p:spPr>
          <a:xfrm>
            <a:off x="1073150" y="3211711"/>
            <a:ext cx="295630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B4868"/>
                </a:solidFill>
                <a:latin typeface="IBM Plex Sans" pitchFamily="34" charset="0"/>
                <a:ea typeface="IBM Plex Sans" pitchFamily="34" charset="-122"/>
                <a:cs typeface="IBM Plex Sans" pitchFamily="34" charset="-120"/>
              </a:rPr>
              <a:t>L3 components across the 10 STLC phases</a:t>
            </a:r>
            <a:endParaRPr lang="en-US" sz="1500" dirty="0"/>
          </a:p>
        </p:txBody>
      </p:sp>
      <p:sp>
        <p:nvSpPr>
          <p:cNvPr id="6" name="Shape 4"/>
          <p:cNvSpPr/>
          <p:nvPr/>
        </p:nvSpPr>
        <p:spPr>
          <a:xfrm>
            <a:off x="4410075" y="2116336"/>
            <a:ext cx="3384550" cy="2616200"/>
          </a:xfrm>
          <a:prstGeom prst="roundRect">
            <a:avLst>
              <a:gd name="adj" fmla="val 3762"/>
            </a:avLst>
          </a:prstGeom>
          <a:solidFill>
            <a:srgbClr val="FCFCFE"/>
          </a:solidFill>
          <a:ln w="6350">
            <a:solidFill>
              <a:srgbClr val="DDD9EE"/>
            </a:solidFill>
            <a:prstDash val="solid"/>
          </a:ln>
        </p:spPr>
      </p:sp>
      <p:sp>
        <p:nvSpPr>
          <p:cNvPr id="7" name="Text 5"/>
          <p:cNvSpPr/>
          <p:nvPr/>
        </p:nvSpPr>
        <p:spPr>
          <a:xfrm>
            <a:off x="4667250" y="2373511"/>
            <a:ext cx="295630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6D4AE0"/>
                </a:solidFill>
                <a:latin typeface="JetBrains Mono" pitchFamily="34" charset="0"/>
                <a:ea typeface="JetBrains Mono" pitchFamily="34" charset="-122"/>
                <a:cs typeface="JetBrains Mono" pitchFamily="34" charset="-120"/>
              </a:rPr>
              <a:t>3</a:t>
            </a:r>
            <a:endParaRPr lang="en-US" sz="6000" dirty="0"/>
          </a:p>
        </p:txBody>
      </p:sp>
      <p:sp>
        <p:nvSpPr>
          <p:cNvPr id="8" name="Text 6"/>
          <p:cNvSpPr/>
          <p:nvPr/>
        </p:nvSpPr>
        <p:spPr>
          <a:xfrm>
            <a:off x="4667250" y="3211711"/>
            <a:ext cx="295630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B4868"/>
                </a:solidFill>
                <a:latin typeface="IBM Plex Sans" pitchFamily="34" charset="0"/>
                <a:ea typeface="IBM Plex Sans" pitchFamily="34" charset="-122"/>
                <a:cs typeface="IBM Plex Sans" pitchFamily="34" charset="-120"/>
              </a:rPr>
              <a:t>Sol PE groups developing AI solutions in parallel</a:t>
            </a:r>
            <a:endParaRPr lang="en-US" sz="1500" dirty="0"/>
          </a:p>
        </p:txBody>
      </p:sp>
      <p:sp>
        <p:nvSpPr>
          <p:cNvPr id="9" name="Shape 7"/>
          <p:cNvSpPr/>
          <p:nvPr/>
        </p:nvSpPr>
        <p:spPr>
          <a:xfrm>
            <a:off x="8001000" y="2113161"/>
            <a:ext cx="3378200" cy="2622550"/>
          </a:xfrm>
          <a:prstGeom prst="roundRect">
            <a:avLst>
              <a:gd name="adj" fmla="val 3874"/>
            </a:avLst>
          </a:prstGeom>
          <a:solidFill>
            <a:srgbClr val="1C1842"/>
          </a:solidFill>
          <a:ln/>
        </p:spPr>
      </p:sp>
      <p:sp>
        <p:nvSpPr>
          <p:cNvPr id="10" name="Text 8"/>
          <p:cNvSpPr/>
          <p:nvPr/>
        </p:nvSpPr>
        <p:spPr>
          <a:xfrm>
            <a:off x="8255000" y="2367161"/>
            <a:ext cx="2956306" cy="1549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9A8FF"/>
                </a:solidFill>
                <a:latin typeface="JetBrains Mono" pitchFamily="34" charset="0"/>
                <a:ea typeface="JetBrains Mono" pitchFamily="34" charset="-122"/>
                <a:cs typeface="JetBrains Mono" pitchFamily="34" charset="-120"/>
              </a:rPr>
              <a:t>90 → 30</a:t>
            </a:r>
            <a:endParaRPr lang="en-US" sz="6000" dirty="0"/>
          </a:p>
        </p:txBody>
      </p:sp>
      <p:sp>
        <p:nvSpPr>
          <p:cNvPr id="11" name="Text 9"/>
          <p:cNvSpPr/>
          <p:nvPr/>
        </p:nvSpPr>
        <p:spPr>
          <a:xfrm>
            <a:off x="8255000" y="3967361"/>
            <a:ext cx="295630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4E0F5"/>
                </a:solidFill>
                <a:latin typeface="IBM Plex Sans" pitchFamily="34" charset="0"/>
                <a:ea typeface="IBM Plex Sans" pitchFamily="34" charset="-122"/>
                <a:cs typeface="IBM Plex Sans" pitchFamily="34" charset="-120"/>
              </a:rPr>
              <a:t>possible parallel builds, reduced to one certified build each</a:t>
            </a:r>
            <a:endParaRPr lang="en-US" sz="1500" dirty="0"/>
          </a:p>
        </p:txBody>
      </p:sp>
      <p:sp>
        <p:nvSpPr>
          <p:cNvPr id="12" name="Text 10"/>
          <p:cNvSpPr/>
          <p:nvPr/>
        </p:nvSpPr>
        <p:spPr>
          <a:xfrm>
            <a:off x="812800" y="5142111"/>
            <a:ext cx="981075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B4868"/>
                </a:solidFill>
                <a:latin typeface="IBM Plex Sans" pitchFamily="34" charset="0"/>
                <a:ea typeface="IBM Plex Sans" pitchFamily="34" charset="-122"/>
                <a:cs typeface="IBM Plex Sans" pitchFamily="34" charset="-120"/>
              </a:rPr>
              <a:t>Duplicate agents split our effort, give different answers to the same question, and leave no objective way to say which one is better.</a:t>
            </a:r>
            <a:endParaRPr lang="en-US" sz="18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Zion Quality Platform · L3 Agent benchmark KPIs</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FA"/>
        </a:solidFill>
      </p:bgPr>
    </p:bg>
    <p:spTree>
      <p:nvGrpSpPr>
        <p:cNvPr id="1" name=""/>
        <p:cNvGrpSpPr/>
        <p:nvPr/>
      </p:nvGrpSpPr>
      <p:grpSpPr>
        <a:xfrm>
          <a:off x="0" y="0"/>
          <a:ext cx="0" cy="0"/>
          <a:chOff x="0" y="0"/>
          <a:chExt cx="0" cy="0"/>
        </a:xfrm>
      </p:grpSpPr>
      <p:sp>
        <p:nvSpPr>
          <p:cNvPr id="2" name="Text 0"/>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1842"/>
                </a:solidFill>
                <a:latin typeface="IBM Plex Sans" pitchFamily="34" charset="0"/>
                <a:ea typeface="IBM Plex Sans" pitchFamily="34" charset="-122"/>
                <a:cs typeface="IBM Plex Sans" pitchFamily="34" charset="-120"/>
              </a:rPr>
              <a:t>What we are asking every group leader to commit to</a:t>
            </a:r>
            <a:endParaRPr lang="en-US" sz="3200" dirty="0"/>
          </a:p>
        </p:txBody>
      </p:sp>
      <p:sp>
        <p:nvSpPr>
          <p:cNvPr id="3" name="Shape 1"/>
          <p:cNvSpPr/>
          <p:nvPr/>
        </p:nvSpPr>
        <p:spPr>
          <a:xfrm>
            <a:off x="815975" y="1669355"/>
            <a:ext cx="2482850" cy="2967434"/>
          </a:xfrm>
          <a:prstGeom prst="roundRect">
            <a:avLst>
              <a:gd name="adj" fmla="val 3964"/>
            </a:avLst>
          </a:prstGeom>
          <a:solidFill>
            <a:srgbClr val="FCFCFE"/>
          </a:solidFill>
          <a:ln w="6350">
            <a:solidFill>
              <a:srgbClr val="DDD9EE"/>
            </a:solidFill>
            <a:prstDash val="solid"/>
          </a:ln>
        </p:spPr>
      </p:sp>
      <p:pic>
        <p:nvPicPr>
          <p:cNvPr id="4" name="Image 0" descr="Search">    </p:cNvPr>
          <p:cNvPicPr>
            <a:picLocks noChangeAspect="1"/>
          </p:cNvPicPr>
          <p:nvPr/>
        </p:nvPicPr>
        <p:blipFill>
          <a:blip r:embed="rId1"/>
          <a:srcRect l="0" r="0" t="0" b="0"/>
          <a:stretch/>
        </p:blipFill>
        <p:spPr>
          <a:xfrm>
            <a:off x="1073150" y="1926530"/>
            <a:ext cx="406400" cy="406400"/>
          </a:xfrm>
          <a:prstGeom prst="rect">
            <a:avLst/>
          </a:prstGeom>
        </p:spPr>
      </p:pic>
      <p:sp>
        <p:nvSpPr>
          <p:cNvPr id="5" name="Text 2"/>
          <p:cNvSpPr/>
          <p:nvPr/>
        </p:nvSpPr>
        <p:spPr>
          <a:xfrm>
            <a:off x="1073150" y="2459930"/>
            <a:ext cx="2027555"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842"/>
                </a:solidFill>
                <a:latin typeface="IBM Plex Sans" pitchFamily="34" charset="0"/>
                <a:ea typeface="IBM Plex Sans" pitchFamily="34" charset="-122"/>
                <a:cs typeface="IBM Plex Sans" pitchFamily="34" charset="-120"/>
              </a:rPr>
              <a:t>Register before you build</a:t>
            </a:r>
            <a:endParaRPr lang="en-US" sz="1800" dirty="0"/>
          </a:p>
        </p:txBody>
      </p:sp>
      <p:sp>
        <p:nvSpPr>
          <p:cNvPr id="6" name="Text 3"/>
          <p:cNvSpPr/>
          <p:nvPr/>
        </p:nvSpPr>
        <p:spPr>
          <a:xfrm>
            <a:off x="1073150" y="3135412"/>
            <a:ext cx="2027555" cy="126960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4868"/>
                </a:solidFill>
                <a:latin typeface="IBM Plex Sans" pitchFamily="34" charset="0"/>
                <a:ea typeface="IBM Plex Sans" pitchFamily="34" charset="-122"/>
                <a:cs typeface="IBM Plex Sans" pitchFamily="34" charset="-120"/>
              </a:rPr>
              <a:t>Every new L3 solution is filed in the Zion Capability Registry first, so duplicates are caught on day one.</a:t>
            </a:r>
            <a:endParaRPr lang="en-US" sz="1400" dirty="0"/>
          </a:p>
        </p:txBody>
      </p:sp>
      <p:sp>
        <p:nvSpPr>
          <p:cNvPr id="7" name="Shape 4"/>
          <p:cNvSpPr/>
          <p:nvPr/>
        </p:nvSpPr>
        <p:spPr>
          <a:xfrm>
            <a:off x="3508375" y="1669355"/>
            <a:ext cx="2482850" cy="2967434"/>
          </a:xfrm>
          <a:prstGeom prst="roundRect">
            <a:avLst>
              <a:gd name="adj" fmla="val 3964"/>
            </a:avLst>
          </a:prstGeom>
          <a:solidFill>
            <a:srgbClr val="FCFCFE"/>
          </a:solidFill>
          <a:ln w="6350">
            <a:solidFill>
              <a:srgbClr val="DDD9EE"/>
            </a:solidFill>
            <a:prstDash val="solid"/>
          </a:ln>
        </p:spPr>
      </p:sp>
      <p:pic>
        <p:nvPicPr>
          <p:cNvPr id="8" name="Image 1" descr="Chart">    </p:cNvPr>
          <p:cNvPicPr>
            <a:picLocks noChangeAspect="1"/>
          </p:cNvPicPr>
          <p:nvPr/>
        </p:nvPicPr>
        <p:blipFill>
          <a:blip r:embed="rId2"/>
          <a:srcRect l="0" r="0" t="0" b="0"/>
          <a:stretch/>
        </p:blipFill>
        <p:spPr>
          <a:xfrm>
            <a:off x="3765550" y="1926530"/>
            <a:ext cx="406400" cy="406400"/>
          </a:xfrm>
          <a:prstGeom prst="rect">
            <a:avLst/>
          </a:prstGeom>
        </p:spPr>
      </p:pic>
      <p:sp>
        <p:nvSpPr>
          <p:cNvPr id="9" name="Text 5"/>
          <p:cNvSpPr/>
          <p:nvPr/>
        </p:nvSpPr>
        <p:spPr>
          <a:xfrm>
            <a:off x="3765550" y="2459930"/>
            <a:ext cx="2027555"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842"/>
                </a:solidFill>
                <a:latin typeface="IBM Plex Sans" pitchFamily="34" charset="0"/>
                <a:ea typeface="IBM Plex Sans" pitchFamily="34" charset="-122"/>
                <a:cs typeface="IBM Plex Sans" pitchFamily="34" charset="-120"/>
              </a:rPr>
              <a:t>Benchmark on the shared set</a:t>
            </a:r>
            <a:endParaRPr lang="en-US" sz="1800" dirty="0"/>
          </a:p>
        </p:txBody>
      </p:sp>
      <p:sp>
        <p:nvSpPr>
          <p:cNvPr id="10" name="Text 6"/>
          <p:cNvSpPr/>
          <p:nvPr/>
        </p:nvSpPr>
        <p:spPr>
          <a:xfrm>
            <a:off x="3765550" y="3135412"/>
            <a:ext cx="202755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4868"/>
                </a:solidFill>
                <a:latin typeface="IBM Plex Sans" pitchFamily="34" charset="0"/>
                <a:ea typeface="IBM Plex Sans" pitchFamily="34" charset="-122"/>
                <a:cs typeface="IBM Plex Sans" pitchFamily="34" charset="-120"/>
              </a:rPr>
              <a:t>Every solution is measured on the same golden dataset and the same KPI targets.</a:t>
            </a:r>
            <a:endParaRPr lang="en-US" sz="1400" dirty="0"/>
          </a:p>
        </p:txBody>
      </p:sp>
      <p:sp>
        <p:nvSpPr>
          <p:cNvPr id="11" name="Shape 7"/>
          <p:cNvSpPr/>
          <p:nvPr/>
        </p:nvSpPr>
        <p:spPr>
          <a:xfrm>
            <a:off x="6200775" y="1669355"/>
            <a:ext cx="2482850" cy="2967434"/>
          </a:xfrm>
          <a:prstGeom prst="roundRect">
            <a:avLst>
              <a:gd name="adj" fmla="val 3964"/>
            </a:avLst>
          </a:prstGeom>
          <a:solidFill>
            <a:srgbClr val="FCFCFE"/>
          </a:solidFill>
          <a:ln w="6350">
            <a:solidFill>
              <a:srgbClr val="DDD9EE"/>
            </a:solidFill>
            <a:prstDash val="solid"/>
          </a:ln>
        </p:spPr>
      </p:sp>
      <p:pic>
        <p:nvPicPr>
          <p:cNvPr id="12" name="Image 2" descr="Verified">    </p:cNvPr>
          <p:cNvPicPr>
            <a:picLocks noChangeAspect="1"/>
          </p:cNvPicPr>
          <p:nvPr/>
        </p:nvPicPr>
        <p:blipFill>
          <a:blip r:embed="rId3"/>
          <a:srcRect l="0" r="0" t="0" b="0"/>
          <a:stretch/>
        </p:blipFill>
        <p:spPr>
          <a:xfrm>
            <a:off x="6457950" y="1926530"/>
            <a:ext cx="406400" cy="406400"/>
          </a:xfrm>
          <a:prstGeom prst="rect">
            <a:avLst/>
          </a:prstGeom>
        </p:spPr>
      </p:pic>
      <p:sp>
        <p:nvSpPr>
          <p:cNvPr id="13" name="Text 8"/>
          <p:cNvSpPr/>
          <p:nvPr/>
        </p:nvSpPr>
        <p:spPr>
          <a:xfrm>
            <a:off x="6457950" y="2459930"/>
            <a:ext cx="2027555"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842"/>
                </a:solidFill>
                <a:latin typeface="IBM Plex Sans" pitchFamily="34" charset="0"/>
                <a:ea typeface="IBM Plex Sans" pitchFamily="34" charset="-122"/>
                <a:cs typeface="IBM Plex Sans" pitchFamily="34" charset="-120"/>
              </a:rPr>
              <a:t>Adopt the Tier-1 winner</a:t>
            </a:r>
            <a:endParaRPr lang="en-US" sz="1800" dirty="0"/>
          </a:p>
        </p:txBody>
      </p:sp>
      <p:sp>
        <p:nvSpPr>
          <p:cNvPr id="14" name="Text 9"/>
          <p:cNvSpPr/>
          <p:nvPr/>
        </p:nvSpPr>
        <p:spPr>
          <a:xfrm>
            <a:off x="6457950" y="3135412"/>
            <a:ext cx="2027555" cy="126960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4868"/>
                </a:solidFill>
                <a:latin typeface="IBM Plex Sans" pitchFamily="34" charset="0"/>
                <a:ea typeface="IBM Plex Sans" pitchFamily="34" charset="-122"/>
                <a:cs typeface="IBM Plex Sans" pitchFamily="34" charset="-120"/>
              </a:rPr>
              <a:t>When a capability has a certified solution, groups reuse and improve it instead of building their own.</a:t>
            </a:r>
            <a:endParaRPr lang="en-US" sz="1400" dirty="0"/>
          </a:p>
        </p:txBody>
      </p:sp>
      <p:sp>
        <p:nvSpPr>
          <p:cNvPr id="15" name="Shape 10"/>
          <p:cNvSpPr/>
          <p:nvPr/>
        </p:nvSpPr>
        <p:spPr>
          <a:xfrm>
            <a:off x="8893175" y="1669355"/>
            <a:ext cx="2482850" cy="2967434"/>
          </a:xfrm>
          <a:prstGeom prst="roundRect">
            <a:avLst>
              <a:gd name="adj" fmla="val 3964"/>
            </a:avLst>
          </a:prstGeom>
          <a:solidFill>
            <a:srgbClr val="FCFCFE"/>
          </a:solidFill>
          <a:ln w="6350">
            <a:solidFill>
              <a:srgbClr val="DDD9EE"/>
            </a:solidFill>
            <a:prstDash val="solid"/>
          </a:ln>
        </p:spPr>
      </p:sp>
      <p:pic>
        <p:nvPicPr>
          <p:cNvPr id="16" name="Image 3" descr="Users">    </p:cNvPr>
          <p:cNvPicPr>
            <a:picLocks noChangeAspect="1"/>
          </p:cNvPicPr>
          <p:nvPr/>
        </p:nvPicPr>
        <p:blipFill>
          <a:blip r:embed="rId4"/>
          <a:srcRect l="0" r="0" t="0" b="0"/>
          <a:stretch/>
        </p:blipFill>
        <p:spPr>
          <a:xfrm>
            <a:off x="9150350" y="1926530"/>
            <a:ext cx="406400" cy="406400"/>
          </a:xfrm>
          <a:prstGeom prst="rect">
            <a:avLst/>
          </a:prstGeom>
        </p:spPr>
      </p:pic>
      <p:sp>
        <p:nvSpPr>
          <p:cNvPr id="17" name="Text 11"/>
          <p:cNvSpPr/>
          <p:nvPr/>
        </p:nvSpPr>
        <p:spPr>
          <a:xfrm>
            <a:off x="9150350" y="2459930"/>
            <a:ext cx="2027555"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842"/>
                </a:solidFill>
                <a:latin typeface="IBM Plex Sans" pitchFamily="34" charset="0"/>
                <a:ea typeface="IBM Plex Sans" pitchFamily="34" charset="-122"/>
                <a:cs typeface="IBM Plex Sans" pitchFamily="34" charset="-120"/>
              </a:rPr>
              <a:t>Staff the review board</a:t>
            </a:r>
            <a:endParaRPr lang="en-US" sz="1800" dirty="0"/>
          </a:p>
        </p:txBody>
      </p:sp>
      <p:sp>
        <p:nvSpPr>
          <p:cNvPr id="18" name="Text 12"/>
          <p:cNvSpPr/>
          <p:nvPr/>
        </p:nvSpPr>
        <p:spPr>
          <a:xfrm>
            <a:off x="9150350" y="3135412"/>
            <a:ext cx="202755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4868"/>
                </a:solidFill>
                <a:latin typeface="IBM Plex Sans" pitchFamily="34" charset="0"/>
                <a:ea typeface="IBM Plex Sans" pitchFamily="34" charset="-122"/>
                <a:cs typeface="IBM Plex Sans" pitchFamily="34" charset="-120"/>
              </a:rPr>
              <a:t>Each group nominates a lead and an AI champion to validate scores and assign tiers.</a:t>
            </a:r>
            <a:endParaRPr lang="en-US" sz="1400" dirty="0"/>
          </a:p>
        </p:txBody>
      </p:sp>
      <p:sp>
        <p:nvSpPr>
          <p:cNvPr id="19"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Zion Quality Platform · L3 Agent benchmark KPIs</a:t>
            </a:r>
            <a:endParaRPr lang="en-US" sz="1200" dirty="0"/>
          </a:p>
        </p:txBody>
      </p:sp>
      <p:sp>
        <p:nvSpPr>
          <p:cNvPr id="20"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E"/>
        </a:solidFill>
      </p:bgPr>
    </p:bg>
    <p:spTree>
      <p:nvGrpSpPr>
        <p:cNvPr id="1" name=""/>
        <p:cNvGrpSpPr/>
        <p:nvPr/>
      </p:nvGrpSpPr>
      <p:grpSpPr>
        <a:xfrm>
          <a:off x="0" y="0"/>
          <a:ext cx="0" cy="0"/>
          <a:chOff x="0" y="0"/>
          <a:chExt cx="0" cy="0"/>
        </a:xfrm>
      </p:grpSpPr>
      <p:sp>
        <p:nvSpPr>
          <p:cNvPr id="2" name="Text 0"/>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1842"/>
                </a:solidFill>
                <a:latin typeface="IBM Plex Sans" pitchFamily="34" charset="0"/>
                <a:ea typeface="IBM Plex Sans" pitchFamily="34" charset="-122"/>
                <a:cs typeface="IBM Plex Sans" pitchFamily="34" charset="-120"/>
              </a:rPr>
              <a:t>30 L3 components are in scope, three per STLC phase</a:t>
            </a:r>
            <a:endParaRPr lang="en-US" sz="3200" dirty="0"/>
          </a:p>
        </p:txBody>
      </p:sp>
      <p:sp>
        <p:nvSpPr>
          <p:cNvPr id="3" name="Shape 1"/>
          <p:cNvSpPr/>
          <p:nvPr/>
        </p:nvSpPr>
        <p:spPr>
          <a:xfrm>
            <a:off x="812800" y="1567755"/>
            <a:ext cx="5130800" cy="0"/>
          </a:xfrm>
          <a:prstGeom prst="line">
            <a:avLst/>
          </a:prstGeom>
          <a:noFill/>
          <a:ln w="6350">
            <a:solidFill>
              <a:srgbClr val="DDD9EE"/>
            </a:solidFill>
            <a:prstDash val="solid"/>
          </a:ln>
        </p:spPr>
      </p:sp>
      <p:sp>
        <p:nvSpPr>
          <p:cNvPr id="4" name="Text 2"/>
          <p:cNvSpPr/>
          <p:nvPr/>
        </p:nvSpPr>
        <p:spPr>
          <a:xfrm>
            <a:off x="812800" y="1672530"/>
            <a:ext cx="1638300" cy="619522"/>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B82F6"/>
                </a:solidFill>
                <a:latin typeface="IBM Plex Sans" pitchFamily="34" charset="0"/>
                <a:ea typeface="IBM Plex Sans" pitchFamily="34" charset="-122"/>
                <a:cs typeface="IBM Plex Sans" pitchFamily="34" charset="-120"/>
              </a:rPr>
              <a:t>1 · Requirements Analysis &amp; Review</a:t>
            </a:r>
            <a:endParaRPr lang="en-US" sz="1200" dirty="0"/>
          </a:p>
        </p:txBody>
      </p:sp>
      <p:sp>
        <p:nvSpPr>
          <p:cNvPr id="5" name="Text 3"/>
          <p:cNvSpPr/>
          <p:nvPr/>
        </p:nvSpPr>
        <p:spPr>
          <a:xfrm>
            <a:off x="2552700" y="1672530"/>
            <a:ext cx="3492627"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NL Req Parsing &amp; Classification Agent · Feasibility &amp; Quality Analyzer · RTM Auto-Generator + Risk Scoring</a:t>
            </a:r>
            <a:endParaRPr lang="en-US" sz="1200" dirty="0"/>
          </a:p>
        </p:txBody>
      </p:sp>
      <p:sp>
        <p:nvSpPr>
          <p:cNvPr id="6" name="Shape 4"/>
          <p:cNvSpPr/>
          <p:nvPr/>
        </p:nvSpPr>
        <p:spPr>
          <a:xfrm>
            <a:off x="812800" y="2371427"/>
            <a:ext cx="5130800" cy="0"/>
          </a:xfrm>
          <a:prstGeom prst="line">
            <a:avLst/>
          </a:prstGeom>
          <a:noFill/>
          <a:ln w="6350">
            <a:solidFill>
              <a:srgbClr val="DDD9EE"/>
            </a:solidFill>
            <a:prstDash val="solid"/>
          </a:ln>
        </p:spPr>
      </p:sp>
      <p:sp>
        <p:nvSpPr>
          <p:cNvPr id="7" name="Text 5"/>
          <p:cNvSpPr/>
          <p:nvPr/>
        </p:nvSpPr>
        <p:spPr>
          <a:xfrm>
            <a:off x="812800" y="2476202"/>
            <a:ext cx="1638300" cy="421481"/>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7C5CE6"/>
                </a:solidFill>
                <a:latin typeface="IBM Plex Sans" pitchFamily="34" charset="0"/>
                <a:ea typeface="IBM Plex Sans" pitchFamily="34" charset="-122"/>
                <a:cs typeface="IBM Plex Sans" pitchFamily="34" charset="-120"/>
              </a:rPr>
              <a:t>2 · Test Planning</a:t>
            </a:r>
            <a:endParaRPr lang="en-US" sz="1200" dirty="0"/>
          </a:p>
        </p:txBody>
      </p:sp>
      <p:sp>
        <p:nvSpPr>
          <p:cNvPr id="8" name="Text 6"/>
          <p:cNvSpPr/>
          <p:nvPr/>
        </p:nvSpPr>
        <p:spPr>
          <a:xfrm>
            <a:off x="2552700" y="2476202"/>
            <a:ext cx="349262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Test Strategy AI Advisor · Effort Estimator ML Model · Risk Scoring &amp; Plan Generator</a:t>
            </a:r>
            <a:endParaRPr lang="en-US" sz="1200" dirty="0"/>
          </a:p>
        </p:txBody>
      </p:sp>
      <p:sp>
        <p:nvSpPr>
          <p:cNvPr id="9" name="Shape 7"/>
          <p:cNvSpPr/>
          <p:nvPr/>
        </p:nvSpPr>
        <p:spPr>
          <a:xfrm>
            <a:off x="812800" y="2977059"/>
            <a:ext cx="5130800" cy="0"/>
          </a:xfrm>
          <a:prstGeom prst="line">
            <a:avLst/>
          </a:prstGeom>
          <a:noFill/>
          <a:ln w="6350">
            <a:solidFill>
              <a:srgbClr val="DDD9EE"/>
            </a:solidFill>
            <a:prstDash val="solid"/>
          </a:ln>
        </p:spPr>
      </p:sp>
      <p:sp>
        <p:nvSpPr>
          <p:cNvPr id="10" name="Text 8"/>
          <p:cNvSpPr/>
          <p:nvPr/>
        </p:nvSpPr>
        <p:spPr>
          <a:xfrm>
            <a:off x="812800" y="3081834"/>
            <a:ext cx="1638300" cy="619522"/>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C8307E"/>
                </a:solidFill>
                <a:latin typeface="IBM Plex Sans" pitchFamily="34" charset="0"/>
                <a:ea typeface="IBM Plex Sans" pitchFamily="34" charset="-122"/>
                <a:cs typeface="IBM Plex Sans" pitchFamily="34" charset="-120"/>
              </a:rPr>
              <a:t>3 · Test Design &amp; Development</a:t>
            </a:r>
            <a:endParaRPr lang="en-US" sz="1200" dirty="0"/>
          </a:p>
        </p:txBody>
      </p:sp>
      <p:sp>
        <p:nvSpPr>
          <p:cNvPr id="11" name="Text 9"/>
          <p:cNvSpPr/>
          <p:nvPr/>
        </p:nvSpPr>
        <p:spPr>
          <a:xfrm>
            <a:off x="2552700" y="3081834"/>
            <a:ext cx="3492627"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Scenario + LLM Test Case Gen Agent · BDD Writer &amp; Data Synth Agent · Script Dev/Review &amp; Coverage Agent</a:t>
            </a:r>
            <a:endParaRPr lang="en-US" sz="1200" dirty="0"/>
          </a:p>
        </p:txBody>
      </p:sp>
      <p:sp>
        <p:nvSpPr>
          <p:cNvPr id="12" name="Shape 10"/>
          <p:cNvSpPr/>
          <p:nvPr/>
        </p:nvSpPr>
        <p:spPr>
          <a:xfrm>
            <a:off x="812800" y="3780730"/>
            <a:ext cx="5130800" cy="0"/>
          </a:xfrm>
          <a:prstGeom prst="line">
            <a:avLst/>
          </a:prstGeom>
          <a:noFill/>
          <a:ln w="6350">
            <a:solidFill>
              <a:srgbClr val="DDD9EE"/>
            </a:solidFill>
            <a:prstDash val="solid"/>
          </a:ln>
        </p:spPr>
      </p:sp>
      <p:sp>
        <p:nvSpPr>
          <p:cNvPr id="13" name="Text 11"/>
          <p:cNvSpPr/>
          <p:nvPr/>
        </p:nvSpPr>
        <p:spPr>
          <a:xfrm>
            <a:off x="812800" y="3885505"/>
            <a:ext cx="1638300" cy="421481"/>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26B00"/>
                </a:solidFill>
                <a:latin typeface="IBM Plex Sans" pitchFamily="34" charset="0"/>
                <a:ea typeface="IBM Plex Sans" pitchFamily="34" charset="-122"/>
                <a:cs typeface="IBM Plex Sans" pitchFamily="34" charset="-120"/>
              </a:rPr>
              <a:t>4 · Test Environment Setup</a:t>
            </a:r>
            <a:endParaRPr lang="en-US" sz="1200" dirty="0"/>
          </a:p>
        </p:txBody>
      </p:sp>
      <p:sp>
        <p:nvSpPr>
          <p:cNvPr id="14" name="Text 12"/>
          <p:cNvSpPr/>
          <p:nvPr/>
        </p:nvSpPr>
        <p:spPr>
          <a:xfrm>
            <a:off x="2552700" y="3885505"/>
            <a:ext cx="349262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IaC Provisioner Agent · Env Validator &amp; Drift Detector · Access &amp; Security Recommender</a:t>
            </a:r>
            <a:endParaRPr lang="en-US" sz="1200" dirty="0"/>
          </a:p>
        </p:txBody>
      </p:sp>
      <p:sp>
        <p:nvSpPr>
          <p:cNvPr id="15" name="Shape 13"/>
          <p:cNvSpPr/>
          <p:nvPr/>
        </p:nvSpPr>
        <p:spPr>
          <a:xfrm>
            <a:off x="812800" y="4386362"/>
            <a:ext cx="5130800" cy="0"/>
          </a:xfrm>
          <a:prstGeom prst="line">
            <a:avLst/>
          </a:prstGeom>
          <a:noFill/>
          <a:ln w="6350">
            <a:solidFill>
              <a:srgbClr val="DDD9EE"/>
            </a:solidFill>
            <a:prstDash val="solid"/>
          </a:ln>
        </p:spPr>
      </p:sp>
      <p:sp>
        <p:nvSpPr>
          <p:cNvPr id="16" name="Shape 14"/>
          <p:cNvSpPr/>
          <p:nvPr/>
        </p:nvSpPr>
        <p:spPr>
          <a:xfrm>
            <a:off x="812800" y="4991993"/>
            <a:ext cx="5130800" cy="0"/>
          </a:xfrm>
          <a:prstGeom prst="line">
            <a:avLst/>
          </a:prstGeom>
          <a:noFill/>
          <a:ln w="6350">
            <a:solidFill>
              <a:srgbClr val="DDD9EE"/>
            </a:solidFill>
            <a:prstDash val="solid"/>
          </a:ln>
        </p:spPr>
      </p:sp>
      <p:sp>
        <p:nvSpPr>
          <p:cNvPr id="17" name="Text 15"/>
          <p:cNvSpPr/>
          <p:nvPr/>
        </p:nvSpPr>
        <p:spPr>
          <a:xfrm>
            <a:off x="812800" y="4491137"/>
            <a:ext cx="1638300" cy="421481"/>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E8A62"/>
                </a:solidFill>
                <a:latin typeface="IBM Plex Sans" pitchFamily="34" charset="0"/>
                <a:ea typeface="IBM Plex Sans" pitchFamily="34" charset="-122"/>
                <a:cs typeface="IBM Plex Sans" pitchFamily="34" charset="-120"/>
              </a:rPr>
              <a:t>5 · Test Execution</a:t>
            </a:r>
            <a:endParaRPr lang="en-US" sz="1200" dirty="0"/>
          </a:p>
        </p:txBody>
      </p:sp>
      <p:sp>
        <p:nvSpPr>
          <p:cNvPr id="18" name="Text 16"/>
          <p:cNvSpPr/>
          <p:nvPr/>
        </p:nvSpPr>
        <p:spPr>
          <a:xfrm>
            <a:off x="2552700" y="4491137"/>
            <a:ext cx="349262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Test Orchestrator Agent · Self-Healing Script Agent · Visual AI + Perf Analyzer</a:t>
            </a:r>
            <a:endParaRPr lang="en-US" sz="1200" dirty="0"/>
          </a:p>
        </p:txBody>
      </p:sp>
      <p:sp>
        <p:nvSpPr>
          <p:cNvPr id="19" name="Shape 17"/>
          <p:cNvSpPr/>
          <p:nvPr/>
        </p:nvSpPr>
        <p:spPr>
          <a:xfrm>
            <a:off x="6248400" y="1567755"/>
            <a:ext cx="5130800" cy="0"/>
          </a:xfrm>
          <a:prstGeom prst="line">
            <a:avLst/>
          </a:prstGeom>
          <a:noFill/>
          <a:ln w="6350">
            <a:solidFill>
              <a:srgbClr val="DDD9EE"/>
            </a:solidFill>
            <a:prstDash val="solid"/>
          </a:ln>
        </p:spPr>
      </p:sp>
      <p:sp>
        <p:nvSpPr>
          <p:cNvPr id="20" name="Text 18"/>
          <p:cNvSpPr/>
          <p:nvPr/>
        </p:nvSpPr>
        <p:spPr>
          <a:xfrm>
            <a:off x="6248400" y="1672530"/>
            <a:ext cx="1638300" cy="421481"/>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C62F2F"/>
                </a:solidFill>
                <a:latin typeface="IBM Plex Sans" pitchFamily="34" charset="0"/>
                <a:ea typeface="IBM Plex Sans" pitchFamily="34" charset="-122"/>
                <a:cs typeface="IBM Plex Sans" pitchFamily="34" charset="-120"/>
              </a:rPr>
              <a:t>6 · Defect Management</a:t>
            </a:r>
            <a:endParaRPr lang="en-US" sz="1200" dirty="0"/>
          </a:p>
        </p:txBody>
      </p:sp>
      <p:sp>
        <p:nvSpPr>
          <p:cNvPr id="21" name="Text 19"/>
          <p:cNvSpPr/>
          <p:nvPr/>
        </p:nvSpPr>
        <p:spPr>
          <a:xfrm>
            <a:off x="7988300" y="1672530"/>
            <a:ext cx="349262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Defect Classifier &amp; Severity AI · Duplicate Detector Agent · RCA Analyzer + Pattern Detector</a:t>
            </a:r>
            <a:endParaRPr lang="en-US" sz="1200" dirty="0"/>
          </a:p>
        </p:txBody>
      </p:sp>
      <p:sp>
        <p:nvSpPr>
          <p:cNvPr id="22" name="Shape 20"/>
          <p:cNvSpPr/>
          <p:nvPr/>
        </p:nvSpPr>
        <p:spPr>
          <a:xfrm>
            <a:off x="6248400" y="2173387"/>
            <a:ext cx="5130800" cy="0"/>
          </a:xfrm>
          <a:prstGeom prst="line">
            <a:avLst/>
          </a:prstGeom>
          <a:noFill/>
          <a:ln w="6350">
            <a:solidFill>
              <a:srgbClr val="DDD9EE"/>
            </a:solidFill>
            <a:prstDash val="solid"/>
          </a:ln>
        </p:spPr>
      </p:sp>
      <p:sp>
        <p:nvSpPr>
          <p:cNvPr id="23" name="Text 21"/>
          <p:cNvSpPr/>
          <p:nvPr/>
        </p:nvSpPr>
        <p:spPr>
          <a:xfrm>
            <a:off x="6248400" y="2278162"/>
            <a:ext cx="1638300" cy="421481"/>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A7F96"/>
                </a:solidFill>
                <a:latin typeface="IBM Plex Sans" pitchFamily="34" charset="0"/>
                <a:ea typeface="IBM Plex Sans" pitchFamily="34" charset="-122"/>
                <a:cs typeface="IBM Plex Sans" pitchFamily="34" charset="-120"/>
              </a:rPr>
              <a:t>7 · Test Reporting &amp; Metrics</a:t>
            </a:r>
            <a:endParaRPr lang="en-US" sz="1200" dirty="0"/>
          </a:p>
        </p:txBody>
      </p:sp>
      <p:sp>
        <p:nvSpPr>
          <p:cNvPr id="24" name="Text 22"/>
          <p:cNvSpPr/>
          <p:nvPr/>
        </p:nvSpPr>
        <p:spPr>
          <a:xfrm>
            <a:off x="7988300" y="2278162"/>
            <a:ext cx="349262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Metrics Analytics Intelligence · Predictive QA ML Model · Auto Report Generator Agent</a:t>
            </a:r>
            <a:endParaRPr lang="en-US" sz="1200" dirty="0"/>
          </a:p>
        </p:txBody>
      </p:sp>
      <p:sp>
        <p:nvSpPr>
          <p:cNvPr id="25" name="Shape 23"/>
          <p:cNvSpPr/>
          <p:nvPr/>
        </p:nvSpPr>
        <p:spPr>
          <a:xfrm>
            <a:off x="6248400" y="2779018"/>
            <a:ext cx="5130800" cy="0"/>
          </a:xfrm>
          <a:prstGeom prst="line">
            <a:avLst/>
          </a:prstGeom>
          <a:noFill/>
          <a:ln w="6350">
            <a:solidFill>
              <a:srgbClr val="DDD9EE"/>
            </a:solidFill>
            <a:prstDash val="solid"/>
          </a:ln>
        </p:spPr>
      </p:sp>
      <p:sp>
        <p:nvSpPr>
          <p:cNvPr id="26" name="Text 24"/>
          <p:cNvSpPr/>
          <p:nvPr/>
        </p:nvSpPr>
        <p:spPr>
          <a:xfrm>
            <a:off x="6248400" y="2883793"/>
            <a:ext cx="1638300" cy="421481"/>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6803C"/>
                </a:solidFill>
                <a:latin typeface="IBM Plex Sans" pitchFamily="34" charset="0"/>
                <a:ea typeface="IBM Plex Sans" pitchFamily="34" charset="-122"/>
                <a:cs typeface="IBM Plex Sans" pitchFamily="34" charset="-120"/>
              </a:rPr>
              <a:t>8 · Test Closure</a:t>
            </a:r>
            <a:endParaRPr lang="en-US" sz="1200" dirty="0"/>
          </a:p>
        </p:txBody>
      </p:sp>
      <p:sp>
        <p:nvSpPr>
          <p:cNvPr id="27" name="Text 25"/>
          <p:cNvSpPr/>
          <p:nvPr/>
        </p:nvSpPr>
        <p:spPr>
          <a:xfrm>
            <a:off x="7988300" y="2883793"/>
            <a:ext cx="349262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Exit Criteria Evaluator Agent · Knowledge Extractor Agent · Process Optimizer Agent</a:t>
            </a:r>
            <a:endParaRPr lang="en-US" sz="1200" dirty="0"/>
          </a:p>
        </p:txBody>
      </p:sp>
      <p:sp>
        <p:nvSpPr>
          <p:cNvPr id="28" name="Shape 26"/>
          <p:cNvSpPr/>
          <p:nvPr/>
        </p:nvSpPr>
        <p:spPr>
          <a:xfrm>
            <a:off x="6248400" y="3384649"/>
            <a:ext cx="5130800" cy="0"/>
          </a:xfrm>
          <a:prstGeom prst="line">
            <a:avLst/>
          </a:prstGeom>
          <a:noFill/>
          <a:ln w="6350">
            <a:solidFill>
              <a:srgbClr val="DDD9EE"/>
            </a:solidFill>
            <a:prstDash val="solid"/>
          </a:ln>
        </p:spPr>
      </p:sp>
      <p:sp>
        <p:nvSpPr>
          <p:cNvPr id="29" name="Text 27"/>
          <p:cNvSpPr/>
          <p:nvPr/>
        </p:nvSpPr>
        <p:spPr>
          <a:xfrm>
            <a:off x="6248400" y="3489424"/>
            <a:ext cx="1638300" cy="421481"/>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C2560C"/>
                </a:solidFill>
                <a:latin typeface="IBM Plex Sans" pitchFamily="34" charset="0"/>
                <a:ea typeface="IBM Plex Sans" pitchFamily="34" charset="-122"/>
                <a:cs typeface="IBM Plex Sans" pitchFamily="34" charset="-120"/>
              </a:rPr>
              <a:t>9 · Customer Release</a:t>
            </a:r>
            <a:endParaRPr lang="en-US" sz="1200" dirty="0"/>
          </a:p>
        </p:txBody>
      </p:sp>
      <p:sp>
        <p:nvSpPr>
          <p:cNvPr id="30" name="Text 28"/>
          <p:cNvSpPr/>
          <p:nvPr/>
        </p:nvSpPr>
        <p:spPr>
          <a:xfrm>
            <a:off x="7988300" y="3489424"/>
            <a:ext cx="349262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Release Gate Validator Agent · Deployment Verifier Agent · Comms Drafter &amp; Rollback Agent</a:t>
            </a:r>
            <a:endParaRPr lang="en-US" sz="1200" dirty="0"/>
          </a:p>
        </p:txBody>
      </p:sp>
      <p:sp>
        <p:nvSpPr>
          <p:cNvPr id="31" name="Shape 29"/>
          <p:cNvSpPr/>
          <p:nvPr/>
        </p:nvSpPr>
        <p:spPr>
          <a:xfrm>
            <a:off x="6248400" y="3990280"/>
            <a:ext cx="5130800" cy="0"/>
          </a:xfrm>
          <a:prstGeom prst="line">
            <a:avLst/>
          </a:prstGeom>
          <a:noFill/>
          <a:ln w="6350">
            <a:solidFill>
              <a:srgbClr val="DDD9EE"/>
            </a:solidFill>
            <a:prstDash val="solid"/>
          </a:ln>
        </p:spPr>
      </p:sp>
      <p:sp>
        <p:nvSpPr>
          <p:cNvPr id="32" name="Shape 30"/>
          <p:cNvSpPr/>
          <p:nvPr/>
        </p:nvSpPr>
        <p:spPr>
          <a:xfrm>
            <a:off x="6248400" y="4595912"/>
            <a:ext cx="5130800" cy="0"/>
          </a:xfrm>
          <a:prstGeom prst="line">
            <a:avLst/>
          </a:prstGeom>
          <a:noFill/>
          <a:ln w="6350">
            <a:solidFill>
              <a:srgbClr val="DDD9EE"/>
            </a:solidFill>
            <a:prstDash val="solid"/>
          </a:ln>
        </p:spPr>
      </p:sp>
      <p:sp>
        <p:nvSpPr>
          <p:cNvPr id="33" name="Text 31"/>
          <p:cNvSpPr/>
          <p:nvPr/>
        </p:nvSpPr>
        <p:spPr>
          <a:xfrm>
            <a:off x="6248400" y="4095055"/>
            <a:ext cx="1638300" cy="421481"/>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6D3FD6"/>
                </a:solidFill>
                <a:latin typeface="IBM Plex Sans" pitchFamily="34" charset="0"/>
                <a:ea typeface="IBM Plex Sans" pitchFamily="34" charset="-122"/>
                <a:cs typeface="IBM Plex Sans" pitchFamily="34" charset="-120"/>
              </a:rPr>
              <a:t>10 · Post-Release &amp; Monitoring</a:t>
            </a:r>
            <a:endParaRPr lang="en-US" sz="1200" dirty="0"/>
          </a:p>
        </p:txBody>
      </p:sp>
      <p:sp>
        <p:nvSpPr>
          <p:cNvPr id="34" name="Text 32"/>
          <p:cNvSpPr/>
          <p:nvPr/>
        </p:nvSpPr>
        <p:spPr>
          <a:xfrm>
            <a:off x="7988300" y="4095055"/>
            <a:ext cx="349262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Anomaly Detection Agent · Customer Feedback Analyzer · Hotfix Triage &amp; MLOps Pipeline</a:t>
            </a:r>
            <a:endParaRPr lang="en-US" sz="1200" dirty="0"/>
          </a:p>
        </p:txBody>
      </p:sp>
      <p:sp>
        <p:nvSpPr>
          <p:cNvPr id="35" name="Text 3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Source: wf2b STLC × 4 layers, L3 Agent (Controller) row</a:t>
            </a:r>
            <a:endParaRPr lang="en-US" sz="1200" dirty="0"/>
          </a:p>
        </p:txBody>
      </p:sp>
      <p:sp>
        <p:nvSpPr>
          <p:cNvPr id="36" name="Text 3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FA"/>
        </a:solidFill>
      </p:bgPr>
    </p:bg>
    <p:spTree>
      <p:nvGrpSpPr>
        <p:cNvPr id="1" name=""/>
        <p:cNvGrpSpPr/>
        <p:nvPr/>
      </p:nvGrpSpPr>
      <p:grpSpPr>
        <a:xfrm>
          <a:off x="0" y="0"/>
          <a:ext cx="0" cy="0"/>
          <a:chOff x="0" y="0"/>
          <a:chExt cx="0" cy="0"/>
        </a:xfrm>
      </p:grpSpPr>
      <p:sp>
        <p:nvSpPr>
          <p:cNvPr id="2" name="Text 0"/>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1842"/>
                </a:solidFill>
                <a:latin typeface="IBM Plex Sans" pitchFamily="34" charset="0"/>
                <a:ea typeface="IBM Plex Sans" pitchFamily="34" charset="-122"/>
                <a:cs typeface="IBM Plex Sans" pitchFamily="34" charset="-120"/>
              </a:rPr>
              <a:t>Every solution is scored on six weighted dimensions</a:t>
            </a:r>
            <a:endParaRPr lang="en-US" sz="3200" dirty="0"/>
          </a:p>
        </p:txBody>
      </p:sp>
      <p:sp>
        <p:nvSpPr>
          <p:cNvPr id="3" name="Shape 1"/>
          <p:cNvSpPr/>
          <p:nvPr/>
        </p:nvSpPr>
        <p:spPr>
          <a:xfrm>
            <a:off x="812800" y="1618555"/>
            <a:ext cx="10566400" cy="0"/>
          </a:xfrm>
          <a:prstGeom prst="line">
            <a:avLst/>
          </a:prstGeom>
          <a:noFill/>
          <a:ln w="6350">
            <a:solidFill>
              <a:srgbClr val="DDD9EE"/>
            </a:solidFill>
            <a:prstDash val="solid"/>
          </a:ln>
        </p:spPr>
      </p:sp>
      <p:sp>
        <p:nvSpPr>
          <p:cNvPr id="4" name="Text 2"/>
          <p:cNvSpPr/>
          <p:nvPr/>
        </p:nvSpPr>
        <p:spPr>
          <a:xfrm>
            <a:off x="812800" y="1819771"/>
            <a:ext cx="26162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842"/>
                </a:solidFill>
                <a:latin typeface="IBM Plex Sans" pitchFamily="34" charset="0"/>
                <a:ea typeface="IBM Plex Sans" pitchFamily="34" charset="-122"/>
                <a:cs typeface="IBM Plex Sans" pitchFamily="34" charset="-120"/>
              </a:rPr>
              <a:t>D1 · Functional efficacy</a:t>
            </a:r>
            <a:endParaRPr lang="en-US" sz="1500" dirty="0"/>
          </a:p>
        </p:txBody>
      </p:sp>
      <p:sp>
        <p:nvSpPr>
          <p:cNvPr id="5" name="Shape 3"/>
          <p:cNvSpPr/>
          <p:nvPr/>
        </p:nvSpPr>
        <p:spPr>
          <a:xfrm>
            <a:off x="3556000" y="1845171"/>
            <a:ext cx="3556000" cy="177800"/>
          </a:xfrm>
          <a:prstGeom prst="roundRect">
            <a:avLst>
              <a:gd name="adj" fmla="val 21429"/>
            </a:avLst>
          </a:prstGeom>
          <a:solidFill>
            <a:srgbClr val="6D4AE0"/>
          </a:solidFill>
          <a:ln/>
        </p:spPr>
      </p:sp>
      <p:sp>
        <p:nvSpPr>
          <p:cNvPr id="6" name="Text 4"/>
          <p:cNvSpPr/>
          <p:nvPr/>
        </p:nvSpPr>
        <p:spPr>
          <a:xfrm>
            <a:off x="7315200" y="1774031"/>
            <a:ext cx="7493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6D4AE0"/>
                </a:solidFill>
                <a:latin typeface="JetBrains Mono" pitchFamily="34" charset="0"/>
                <a:ea typeface="JetBrains Mono" pitchFamily="34" charset="-122"/>
                <a:cs typeface="JetBrains Mono" pitchFamily="34" charset="-120"/>
              </a:rPr>
              <a:t>30%</a:t>
            </a:r>
            <a:endParaRPr lang="en-US" sz="1800" dirty="0"/>
          </a:p>
        </p:txBody>
      </p:sp>
      <p:sp>
        <p:nvSpPr>
          <p:cNvPr id="7" name="Text 5"/>
          <p:cNvSpPr/>
          <p:nvPr/>
        </p:nvSpPr>
        <p:spPr>
          <a:xfrm>
            <a:off x="8216900" y="1736030"/>
            <a:ext cx="325716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Component KPIs on the shared golden dataset</a:t>
            </a:r>
            <a:endParaRPr lang="en-US" sz="1200" dirty="0"/>
          </a:p>
        </p:txBody>
      </p:sp>
      <p:sp>
        <p:nvSpPr>
          <p:cNvPr id="8" name="Shape 6"/>
          <p:cNvSpPr/>
          <p:nvPr/>
        </p:nvSpPr>
        <p:spPr>
          <a:xfrm>
            <a:off x="812800" y="2249587"/>
            <a:ext cx="10566400" cy="0"/>
          </a:xfrm>
          <a:prstGeom prst="line">
            <a:avLst/>
          </a:prstGeom>
          <a:noFill/>
          <a:ln w="6350">
            <a:solidFill>
              <a:srgbClr val="DDD9EE"/>
            </a:solidFill>
            <a:prstDash val="solid"/>
          </a:ln>
        </p:spPr>
      </p:sp>
      <p:sp>
        <p:nvSpPr>
          <p:cNvPr id="9" name="Text 7"/>
          <p:cNvSpPr/>
          <p:nvPr/>
        </p:nvSpPr>
        <p:spPr>
          <a:xfrm>
            <a:off x="812800" y="2450802"/>
            <a:ext cx="26162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842"/>
                </a:solidFill>
                <a:latin typeface="IBM Plex Sans" pitchFamily="34" charset="0"/>
                <a:ea typeface="IBM Plex Sans" pitchFamily="34" charset="-122"/>
                <a:cs typeface="IBM Plex Sans" pitchFamily="34" charset="-120"/>
              </a:rPr>
              <a:t>D2 · Reuse &amp; genericity</a:t>
            </a:r>
            <a:endParaRPr lang="en-US" sz="1500" dirty="0"/>
          </a:p>
        </p:txBody>
      </p:sp>
      <p:sp>
        <p:nvSpPr>
          <p:cNvPr id="10" name="Shape 8"/>
          <p:cNvSpPr/>
          <p:nvPr/>
        </p:nvSpPr>
        <p:spPr>
          <a:xfrm>
            <a:off x="3556000" y="2476202"/>
            <a:ext cx="2368550" cy="177800"/>
          </a:xfrm>
          <a:prstGeom prst="roundRect">
            <a:avLst>
              <a:gd name="adj" fmla="val 21429"/>
            </a:avLst>
          </a:prstGeom>
          <a:solidFill>
            <a:srgbClr val="6D4AE0"/>
          </a:solidFill>
          <a:ln/>
        </p:spPr>
      </p:sp>
      <p:sp>
        <p:nvSpPr>
          <p:cNvPr id="11" name="Text 9"/>
          <p:cNvSpPr/>
          <p:nvPr/>
        </p:nvSpPr>
        <p:spPr>
          <a:xfrm>
            <a:off x="7315200" y="2405063"/>
            <a:ext cx="7493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6D4AE0"/>
                </a:solidFill>
                <a:latin typeface="JetBrains Mono" pitchFamily="34" charset="0"/>
                <a:ea typeface="JetBrains Mono" pitchFamily="34" charset="-122"/>
                <a:cs typeface="JetBrains Mono" pitchFamily="34" charset="-120"/>
              </a:rPr>
              <a:t>20%</a:t>
            </a:r>
            <a:endParaRPr lang="en-US" sz="1800" dirty="0"/>
          </a:p>
        </p:txBody>
      </p:sp>
      <p:sp>
        <p:nvSpPr>
          <p:cNvPr id="12" name="Text 10"/>
          <p:cNvSpPr/>
          <p:nvPr/>
        </p:nvSpPr>
        <p:spPr>
          <a:xfrm>
            <a:off x="8216900" y="2367062"/>
            <a:ext cx="325716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Runs on ≥3 product lines, config over code, ≥2 groups adopt</a:t>
            </a:r>
            <a:endParaRPr lang="en-US" sz="1200" dirty="0"/>
          </a:p>
        </p:txBody>
      </p:sp>
      <p:sp>
        <p:nvSpPr>
          <p:cNvPr id="13" name="Shape 11"/>
          <p:cNvSpPr/>
          <p:nvPr/>
        </p:nvSpPr>
        <p:spPr>
          <a:xfrm>
            <a:off x="812800" y="2880618"/>
            <a:ext cx="10566400" cy="0"/>
          </a:xfrm>
          <a:prstGeom prst="line">
            <a:avLst/>
          </a:prstGeom>
          <a:noFill/>
          <a:ln w="6350">
            <a:solidFill>
              <a:srgbClr val="DDD9EE"/>
            </a:solidFill>
            <a:prstDash val="solid"/>
          </a:ln>
        </p:spPr>
      </p:sp>
      <p:sp>
        <p:nvSpPr>
          <p:cNvPr id="14" name="Text 12"/>
          <p:cNvSpPr/>
          <p:nvPr/>
        </p:nvSpPr>
        <p:spPr>
          <a:xfrm>
            <a:off x="812800" y="2998093"/>
            <a:ext cx="26162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842"/>
                </a:solidFill>
                <a:latin typeface="IBM Plex Sans" pitchFamily="34" charset="0"/>
                <a:ea typeface="IBM Plex Sans" pitchFamily="34" charset="-122"/>
                <a:cs typeface="IBM Plex Sans" pitchFamily="34" charset="-120"/>
              </a:rPr>
              <a:t>D3 · Scalability &amp; performance</a:t>
            </a:r>
            <a:endParaRPr lang="en-US" sz="1500" dirty="0"/>
          </a:p>
        </p:txBody>
      </p:sp>
      <p:sp>
        <p:nvSpPr>
          <p:cNvPr id="15" name="Shape 13"/>
          <p:cNvSpPr/>
          <p:nvPr/>
        </p:nvSpPr>
        <p:spPr>
          <a:xfrm>
            <a:off x="3556000" y="3137793"/>
            <a:ext cx="1778000" cy="177800"/>
          </a:xfrm>
          <a:prstGeom prst="roundRect">
            <a:avLst>
              <a:gd name="adj" fmla="val 21429"/>
            </a:avLst>
          </a:prstGeom>
          <a:solidFill>
            <a:srgbClr val="8E74EA"/>
          </a:solidFill>
          <a:ln/>
        </p:spPr>
      </p:sp>
      <p:sp>
        <p:nvSpPr>
          <p:cNvPr id="16" name="Text 14"/>
          <p:cNvSpPr/>
          <p:nvPr/>
        </p:nvSpPr>
        <p:spPr>
          <a:xfrm>
            <a:off x="7315200" y="3066653"/>
            <a:ext cx="7493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6D4AE0"/>
                </a:solidFill>
                <a:latin typeface="JetBrains Mono" pitchFamily="34" charset="0"/>
                <a:ea typeface="JetBrains Mono" pitchFamily="34" charset="-122"/>
                <a:cs typeface="JetBrains Mono" pitchFamily="34" charset="-120"/>
              </a:rPr>
              <a:t>15%</a:t>
            </a:r>
            <a:endParaRPr lang="en-US" sz="1800" dirty="0"/>
          </a:p>
        </p:txBody>
      </p:sp>
      <p:sp>
        <p:nvSpPr>
          <p:cNvPr id="17" name="Text 15"/>
          <p:cNvSpPr/>
          <p:nvPr/>
        </p:nvSpPr>
        <p:spPr>
          <a:xfrm>
            <a:off x="8216900" y="3127673"/>
            <a:ext cx="3257169"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p95 latency, 10× load, cost per 1k runs</a:t>
            </a:r>
            <a:endParaRPr lang="en-US" sz="1200" dirty="0"/>
          </a:p>
        </p:txBody>
      </p:sp>
      <p:sp>
        <p:nvSpPr>
          <p:cNvPr id="18" name="Shape 16"/>
          <p:cNvSpPr/>
          <p:nvPr/>
        </p:nvSpPr>
        <p:spPr>
          <a:xfrm>
            <a:off x="812800" y="3572768"/>
            <a:ext cx="10566400" cy="0"/>
          </a:xfrm>
          <a:prstGeom prst="line">
            <a:avLst/>
          </a:prstGeom>
          <a:noFill/>
          <a:ln w="6350">
            <a:solidFill>
              <a:srgbClr val="DDD9EE"/>
            </a:solidFill>
            <a:prstDash val="solid"/>
          </a:ln>
        </p:spPr>
      </p:sp>
      <p:sp>
        <p:nvSpPr>
          <p:cNvPr id="19" name="Text 17"/>
          <p:cNvSpPr/>
          <p:nvPr/>
        </p:nvSpPr>
        <p:spPr>
          <a:xfrm>
            <a:off x="812800" y="3735884"/>
            <a:ext cx="26162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842"/>
                </a:solidFill>
                <a:latin typeface="IBM Plex Sans" pitchFamily="34" charset="0"/>
                <a:ea typeface="IBM Plex Sans" pitchFamily="34" charset="-122"/>
                <a:cs typeface="IBM Plex Sans" pitchFamily="34" charset="-120"/>
              </a:rPr>
              <a:t>D4 · Reliability &amp; trust</a:t>
            </a:r>
            <a:endParaRPr lang="en-US" sz="1500" dirty="0"/>
          </a:p>
        </p:txBody>
      </p:sp>
      <p:sp>
        <p:nvSpPr>
          <p:cNvPr id="20" name="Shape 18"/>
          <p:cNvSpPr/>
          <p:nvPr/>
        </p:nvSpPr>
        <p:spPr>
          <a:xfrm>
            <a:off x="3556000" y="3761284"/>
            <a:ext cx="1187450" cy="177800"/>
          </a:xfrm>
          <a:prstGeom prst="roundRect">
            <a:avLst>
              <a:gd name="adj" fmla="val 21429"/>
            </a:avLst>
          </a:prstGeom>
          <a:solidFill>
            <a:srgbClr val="8E74EA"/>
          </a:solidFill>
          <a:ln/>
        </p:spPr>
      </p:sp>
      <p:sp>
        <p:nvSpPr>
          <p:cNvPr id="21" name="Text 19"/>
          <p:cNvSpPr/>
          <p:nvPr/>
        </p:nvSpPr>
        <p:spPr>
          <a:xfrm>
            <a:off x="7315200" y="3690243"/>
            <a:ext cx="7493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6D4AE0"/>
                </a:solidFill>
                <a:latin typeface="JetBrains Mono" pitchFamily="34" charset="0"/>
                <a:ea typeface="JetBrains Mono" pitchFamily="34" charset="-122"/>
                <a:cs typeface="JetBrains Mono" pitchFamily="34" charset="-120"/>
              </a:rPr>
              <a:t>10%</a:t>
            </a:r>
            <a:endParaRPr lang="en-US" sz="1800" dirty="0"/>
          </a:p>
        </p:txBody>
      </p:sp>
      <p:sp>
        <p:nvSpPr>
          <p:cNvPr id="22" name="Text 20"/>
          <p:cNvSpPr/>
          <p:nvPr/>
        </p:nvSpPr>
        <p:spPr>
          <a:xfrm>
            <a:off x="8216900" y="3751163"/>
            <a:ext cx="3257169"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Consistency ≥95%, evidence on every output</a:t>
            </a:r>
            <a:endParaRPr lang="en-US" sz="1200" dirty="0"/>
          </a:p>
        </p:txBody>
      </p:sp>
      <p:sp>
        <p:nvSpPr>
          <p:cNvPr id="23" name="Shape 21"/>
          <p:cNvSpPr/>
          <p:nvPr/>
        </p:nvSpPr>
        <p:spPr>
          <a:xfrm>
            <a:off x="812800" y="4127698"/>
            <a:ext cx="10566400" cy="0"/>
          </a:xfrm>
          <a:prstGeom prst="line">
            <a:avLst/>
          </a:prstGeom>
          <a:noFill/>
          <a:ln w="6350">
            <a:solidFill>
              <a:srgbClr val="DDD9EE"/>
            </a:solidFill>
            <a:prstDash val="solid"/>
          </a:ln>
        </p:spPr>
      </p:sp>
      <p:sp>
        <p:nvSpPr>
          <p:cNvPr id="24" name="Text 22"/>
          <p:cNvSpPr/>
          <p:nvPr/>
        </p:nvSpPr>
        <p:spPr>
          <a:xfrm>
            <a:off x="812800" y="4290814"/>
            <a:ext cx="26162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842"/>
                </a:solidFill>
                <a:latin typeface="IBM Plex Sans" pitchFamily="34" charset="0"/>
                <a:ea typeface="IBM Plex Sans" pitchFamily="34" charset="-122"/>
                <a:cs typeface="IBM Plex Sans" pitchFamily="34" charset="-120"/>
              </a:rPr>
              <a:t>D5 · Business value</a:t>
            </a:r>
            <a:endParaRPr lang="en-US" sz="1500" dirty="0"/>
          </a:p>
        </p:txBody>
      </p:sp>
      <p:sp>
        <p:nvSpPr>
          <p:cNvPr id="25" name="Shape 23"/>
          <p:cNvSpPr/>
          <p:nvPr/>
        </p:nvSpPr>
        <p:spPr>
          <a:xfrm>
            <a:off x="3556000" y="4316214"/>
            <a:ext cx="1778000" cy="177800"/>
          </a:xfrm>
          <a:prstGeom prst="roundRect">
            <a:avLst>
              <a:gd name="adj" fmla="val 21429"/>
            </a:avLst>
          </a:prstGeom>
          <a:solidFill>
            <a:srgbClr val="8E74EA"/>
          </a:solidFill>
          <a:ln/>
        </p:spPr>
      </p:sp>
      <p:sp>
        <p:nvSpPr>
          <p:cNvPr id="26" name="Text 24"/>
          <p:cNvSpPr/>
          <p:nvPr/>
        </p:nvSpPr>
        <p:spPr>
          <a:xfrm>
            <a:off x="7315200" y="4245173"/>
            <a:ext cx="7493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6D4AE0"/>
                </a:solidFill>
                <a:latin typeface="JetBrains Mono" pitchFamily="34" charset="0"/>
                <a:ea typeface="JetBrains Mono" pitchFamily="34" charset="-122"/>
                <a:cs typeface="JetBrains Mono" pitchFamily="34" charset="-120"/>
              </a:rPr>
              <a:t>15%</a:t>
            </a:r>
            <a:endParaRPr lang="en-US" sz="1800" dirty="0"/>
          </a:p>
        </p:txBody>
      </p:sp>
      <p:sp>
        <p:nvSpPr>
          <p:cNvPr id="27" name="Text 25"/>
          <p:cNvSpPr/>
          <p:nvPr/>
        </p:nvSpPr>
        <p:spPr>
          <a:xfrm>
            <a:off x="8216900" y="4306094"/>
            <a:ext cx="3257169"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Effort saved, SME accept-without-edit rate</a:t>
            </a:r>
            <a:endParaRPr lang="en-US" sz="1200" dirty="0"/>
          </a:p>
        </p:txBody>
      </p:sp>
      <p:sp>
        <p:nvSpPr>
          <p:cNvPr id="28" name="Shape 26"/>
          <p:cNvSpPr/>
          <p:nvPr/>
        </p:nvSpPr>
        <p:spPr>
          <a:xfrm>
            <a:off x="812800" y="4682629"/>
            <a:ext cx="10566400" cy="0"/>
          </a:xfrm>
          <a:prstGeom prst="line">
            <a:avLst/>
          </a:prstGeom>
          <a:noFill/>
          <a:ln w="6350">
            <a:solidFill>
              <a:srgbClr val="DDD9EE"/>
            </a:solidFill>
            <a:prstDash val="solid"/>
          </a:ln>
        </p:spPr>
      </p:sp>
      <p:sp>
        <p:nvSpPr>
          <p:cNvPr id="29" name="Shape 27"/>
          <p:cNvSpPr/>
          <p:nvPr/>
        </p:nvSpPr>
        <p:spPr>
          <a:xfrm>
            <a:off x="812800" y="5374779"/>
            <a:ext cx="10566400" cy="0"/>
          </a:xfrm>
          <a:prstGeom prst="line">
            <a:avLst/>
          </a:prstGeom>
          <a:noFill/>
          <a:ln w="6350">
            <a:solidFill>
              <a:srgbClr val="DDD9EE"/>
            </a:solidFill>
            <a:prstDash val="solid"/>
          </a:ln>
        </p:spPr>
      </p:sp>
      <p:sp>
        <p:nvSpPr>
          <p:cNvPr id="30" name="Text 28"/>
          <p:cNvSpPr/>
          <p:nvPr/>
        </p:nvSpPr>
        <p:spPr>
          <a:xfrm>
            <a:off x="812800" y="4800104"/>
            <a:ext cx="26162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842"/>
                </a:solidFill>
                <a:latin typeface="IBM Plex Sans" pitchFamily="34" charset="0"/>
                <a:ea typeface="IBM Plex Sans" pitchFamily="34" charset="-122"/>
                <a:cs typeface="IBM Plex Sans" pitchFamily="34" charset="-120"/>
              </a:rPr>
              <a:t>D6 · Governance &amp; maintainability</a:t>
            </a:r>
            <a:endParaRPr lang="en-US" sz="1500" dirty="0"/>
          </a:p>
        </p:txBody>
      </p:sp>
      <p:sp>
        <p:nvSpPr>
          <p:cNvPr id="31" name="Shape 29"/>
          <p:cNvSpPr/>
          <p:nvPr/>
        </p:nvSpPr>
        <p:spPr>
          <a:xfrm>
            <a:off x="3556000" y="4939804"/>
            <a:ext cx="1187450" cy="177800"/>
          </a:xfrm>
          <a:prstGeom prst="roundRect">
            <a:avLst>
              <a:gd name="adj" fmla="val 21429"/>
            </a:avLst>
          </a:prstGeom>
          <a:solidFill>
            <a:srgbClr val="8E74EA"/>
          </a:solidFill>
          <a:ln/>
        </p:spPr>
      </p:sp>
      <p:sp>
        <p:nvSpPr>
          <p:cNvPr id="32" name="Text 30"/>
          <p:cNvSpPr/>
          <p:nvPr/>
        </p:nvSpPr>
        <p:spPr>
          <a:xfrm>
            <a:off x="7315200" y="4868664"/>
            <a:ext cx="7493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6D4AE0"/>
                </a:solidFill>
                <a:latin typeface="JetBrains Mono" pitchFamily="34" charset="0"/>
                <a:ea typeface="JetBrains Mono" pitchFamily="34" charset="-122"/>
                <a:cs typeface="JetBrains Mono" pitchFamily="34" charset="-120"/>
              </a:rPr>
              <a:t>10%</a:t>
            </a:r>
            <a:endParaRPr lang="en-US" sz="1800" dirty="0"/>
          </a:p>
        </p:txBody>
      </p:sp>
      <p:sp>
        <p:nvSpPr>
          <p:cNvPr id="33" name="Text 31"/>
          <p:cNvSpPr/>
          <p:nvPr/>
        </p:nvSpPr>
        <p:spPr>
          <a:xfrm>
            <a:off x="8216900" y="4830663"/>
            <a:ext cx="325716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4868"/>
                </a:solidFill>
                <a:latin typeface="IBM Plex Sans" pitchFamily="34" charset="0"/>
                <a:ea typeface="IBM Plex Sans" pitchFamily="34" charset="-122"/>
                <a:cs typeface="IBM Plex Sans" pitchFamily="34" charset="-120"/>
              </a:rPr>
              <a:t>≥80% test coverage, model card, named owner, SLA</a:t>
            </a:r>
            <a:endParaRPr lang="en-US" sz="1200" dirty="0"/>
          </a:p>
        </p:txBody>
      </p:sp>
      <p:sp>
        <p:nvSpPr>
          <p:cNvPr id="34" name="Text 3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Weights are fixed across all 30 components so rankings are comparable</a:t>
            </a:r>
            <a:endParaRPr lang="en-US" sz="1200" dirty="0"/>
          </a:p>
        </p:txBody>
      </p:sp>
      <p:sp>
        <p:nvSpPr>
          <p:cNvPr id="35" name="Text 3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FA"/>
        </a:solidFill>
      </p:bgPr>
    </p:bg>
    <p:spTree>
      <p:nvGrpSpPr>
        <p:cNvPr id="1" name=""/>
        <p:cNvGrpSpPr/>
        <p:nvPr/>
      </p:nvGrpSpPr>
      <p:grpSpPr>
        <a:xfrm>
          <a:off x="0" y="0"/>
          <a:ext cx="0" cy="0"/>
          <a:chOff x="0" y="0"/>
          <a:chExt cx="0" cy="0"/>
        </a:xfrm>
      </p:grpSpPr>
      <p:sp>
        <p:nvSpPr>
          <p:cNvPr id="2" name="Text 0"/>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1842"/>
                </a:solidFill>
                <a:latin typeface="IBM Plex Sans" pitchFamily="34" charset="0"/>
                <a:ea typeface="IBM Plex Sans" pitchFamily="34" charset="-122"/>
                <a:cs typeface="IBM Plex Sans" pitchFamily="34" charset="-120"/>
              </a:rPr>
              <a:t>Six gates: fail any one and the solution is not eligible</a:t>
            </a:r>
            <a:endParaRPr lang="en-US" sz="3200" dirty="0"/>
          </a:p>
        </p:txBody>
      </p:sp>
      <p:sp>
        <p:nvSpPr>
          <p:cNvPr id="3" name="Shape 1"/>
          <p:cNvSpPr/>
          <p:nvPr/>
        </p:nvSpPr>
        <p:spPr>
          <a:xfrm>
            <a:off x="815975" y="1618555"/>
            <a:ext cx="3380284" cy="1773932"/>
          </a:xfrm>
          <a:prstGeom prst="roundRect">
            <a:avLst>
              <a:gd name="adj" fmla="val 5548"/>
            </a:avLst>
          </a:prstGeom>
          <a:solidFill>
            <a:srgbClr val="FCFCFE"/>
          </a:solidFill>
          <a:ln w="6350">
            <a:solidFill>
              <a:srgbClr val="DDD9EE"/>
            </a:solidFill>
            <a:prstDash val="solid"/>
          </a:ln>
        </p:spPr>
      </p:sp>
      <p:sp>
        <p:nvSpPr>
          <p:cNvPr id="4" name="Text 2"/>
          <p:cNvSpPr/>
          <p:nvPr/>
        </p:nvSpPr>
        <p:spPr>
          <a:xfrm>
            <a:off x="1047750" y="1850330"/>
            <a:ext cx="300423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3262A"/>
                </a:solidFill>
                <a:latin typeface="JetBrains Mono" pitchFamily="34" charset="0"/>
                <a:ea typeface="JetBrains Mono" pitchFamily="34" charset="-122"/>
                <a:cs typeface="JetBrains Mono" pitchFamily="34" charset="-120"/>
              </a:rPr>
              <a:t>G1</a:t>
            </a:r>
            <a:endParaRPr lang="en-US" sz="1400" dirty="0"/>
          </a:p>
        </p:txBody>
      </p:sp>
      <p:sp>
        <p:nvSpPr>
          <p:cNvPr id="5" name="Text 3"/>
          <p:cNvSpPr/>
          <p:nvPr/>
        </p:nvSpPr>
        <p:spPr>
          <a:xfrm>
            <a:off x="1047750" y="2188071"/>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842"/>
                </a:solidFill>
                <a:latin typeface="IBM Plex Sans" pitchFamily="34" charset="0"/>
                <a:ea typeface="IBM Plex Sans" pitchFamily="34" charset="-122"/>
                <a:cs typeface="IBM Plex Sans" pitchFamily="34" charset="-120"/>
              </a:rPr>
              <a:t>Registered first</a:t>
            </a:r>
            <a:endParaRPr lang="en-US" sz="1600" dirty="0"/>
          </a:p>
        </p:txBody>
      </p:sp>
      <p:sp>
        <p:nvSpPr>
          <p:cNvPr id="6" name="Text 4"/>
          <p:cNvSpPr/>
          <p:nvPr/>
        </p:nvSpPr>
        <p:spPr>
          <a:xfrm>
            <a:off x="1047750" y="2520752"/>
            <a:ext cx="300423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Filed in the Zion Capability Registry before development starts, with the duplicate check done.</a:t>
            </a:r>
            <a:endParaRPr lang="en-US" sz="1200" dirty="0"/>
          </a:p>
        </p:txBody>
      </p:sp>
      <p:sp>
        <p:nvSpPr>
          <p:cNvPr id="7" name="Shape 5"/>
          <p:cNvSpPr/>
          <p:nvPr/>
        </p:nvSpPr>
        <p:spPr>
          <a:xfrm>
            <a:off x="4405809" y="1618555"/>
            <a:ext cx="3380284" cy="1773932"/>
          </a:xfrm>
          <a:prstGeom prst="roundRect">
            <a:avLst>
              <a:gd name="adj" fmla="val 5548"/>
            </a:avLst>
          </a:prstGeom>
          <a:solidFill>
            <a:srgbClr val="FCFCFE"/>
          </a:solidFill>
          <a:ln w="6350">
            <a:solidFill>
              <a:srgbClr val="DDD9EE"/>
            </a:solidFill>
            <a:prstDash val="solid"/>
          </a:ln>
        </p:spPr>
      </p:sp>
      <p:sp>
        <p:nvSpPr>
          <p:cNvPr id="8" name="Text 6"/>
          <p:cNvSpPr/>
          <p:nvPr/>
        </p:nvSpPr>
        <p:spPr>
          <a:xfrm>
            <a:off x="4637584" y="1850330"/>
            <a:ext cx="300423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3262A"/>
                </a:solidFill>
                <a:latin typeface="JetBrains Mono" pitchFamily="34" charset="0"/>
                <a:ea typeface="JetBrains Mono" pitchFamily="34" charset="-122"/>
                <a:cs typeface="JetBrains Mono" pitchFamily="34" charset="-120"/>
              </a:rPr>
              <a:t>G2</a:t>
            </a:r>
            <a:endParaRPr lang="en-US" sz="1400" dirty="0"/>
          </a:p>
        </p:txBody>
      </p:sp>
      <p:sp>
        <p:nvSpPr>
          <p:cNvPr id="9" name="Text 7"/>
          <p:cNvSpPr/>
          <p:nvPr/>
        </p:nvSpPr>
        <p:spPr>
          <a:xfrm>
            <a:off x="4637584" y="2188071"/>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842"/>
                </a:solidFill>
                <a:latin typeface="IBM Plex Sans" pitchFamily="34" charset="0"/>
                <a:ea typeface="IBM Plex Sans" pitchFamily="34" charset="-122"/>
                <a:cs typeface="IBM Plex Sans" pitchFamily="34" charset="-120"/>
              </a:rPr>
              <a:t>Reproducible benchmark</a:t>
            </a:r>
            <a:endParaRPr lang="en-US" sz="1600" dirty="0"/>
          </a:p>
        </p:txBody>
      </p:sp>
      <p:sp>
        <p:nvSpPr>
          <p:cNvPr id="10" name="Text 8"/>
          <p:cNvSpPr/>
          <p:nvPr/>
        </p:nvSpPr>
        <p:spPr>
          <a:xfrm>
            <a:off x="4637584" y="2520752"/>
            <a:ext cx="300423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Run on the shared golden dataset with a scripted, versioned harness and fixed seeds.</a:t>
            </a:r>
            <a:endParaRPr lang="en-US" sz="1200" dirty="0"/>
          </a:p>
        </p:txBody>
      </p:sp>
      <p:sp>
        <p:nvSpPr>
          <p:cNvPr id="11" name="Shape 9"/>
          <p:cNvSpPr/>
          <p:nvPr/>
        </p:nvSpPr>
        <p:spPr>
          <a:xfrm>
            <a:off x="7995642" y="1618555"/>
            <a:ext cx="3380284" cy="1773932"/>
          </a:xfrm>
          <a:prstGeom prst="roundRect">
            <a:avLst>
              <a:gd name="adj" fmla="val 5548"/>
            </a:avLst>
          </a:prstGeom>
          <a:solidFill>
            <a:srgbClr val="FCFCFE"/>
          </a:solidFill>
          <a:ln w="6350">
            <a:solidFill>
              <a:srgbClr val="DDD9EE"/>
            </a:solidFill>
            <a:prstDash val="solid"/>
          </a:ln>
        </p:spPr>
      </p:sp>
      <p:sp>
        <p:nvSpPr>
          <p:cNvPr id="12" name="Text 10"/>
          <p:cNvSpPr/>
          <p:nvPr/>
        </p:nvSpPr>
        <p:spPr>
          <a:xfrm>
            <a:off x="8227417" y="1850330"/>
            <a:ext cx="300423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3262A"/>
                </a:solidFill>
                <a:latin typeface="JetBrains Mono" pitchFamily="34" charset="0"/>
                <a:ea typeface="JetBrains Mono" pitchFamily="34" charset="-122"/>
                <a:cs typeface="JetBrains Mono" pitchFamily="34" charset="-120"/>
              </a:rPr>
              <a:t>G3</a:t>
            </a:r>
            <a:endParaRPr lang="en-US" sz="1400" dirty="0"/>
          </a:p>
        </p:txBody>
      </p:sp>
      <p:sp>
        <p:nvSpPr>
          <p:cNvPr id="13" name="Text 11"/>
          <p:cNvSpPr/>
          <p:nvPr/>
        </p:nvSpPr>
        <p:spPr>
          <a:xfrm>
            <a:off x="8227417" y="2188071"/>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842"/>
                </a:solidFill>
                <a:latin typeface="IBM Plex Sans" pitchFamily="34" charset="0"/>
                <a:ea typeface="IBM Plex Sans" pitchFamily="34" charset="-122"/>
                <a:cs typeface="IBM Plex Sans" pitchFamily="34" charset="-120"/>
              </a:rPr>
              <a:t>Data stays on-prem</a:t>
            </a:r>
            <a:endParaRPr lang="en-US" sz="1600" dirty="0"/>
          </a:p>
        </p:txBody>
      </p:sp>
      <p:sp>
        <p:nvSpPr>
          <p:cNvPr id="14" name="Text 12"/>
          <p:cNvSpPr/>
          <p:nvPr/>
        </p:nvSpPr>
        <p:spPr>
          <a:xfrm>
            <a:off x="8227417" y="2520752"/>
            <a:ext cx="300423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Customer specs, logs and telemetry go only through the approved on-prem LLM gateway.</a:t>
            </a:r>
            <a:endParaRPr lang="en-US" sz="1200" dirty="0"/>
          </a:p>
        </p:txBody>
      </p:sp>
      <p:sp>
        <p:nvSpPr>
          <p:cNvPr id="15" name="Shape 13"/>
          <p:cNvSpPr/>
          <p:nvPr/>
        </p:nvSpPr>
        <p:spPr>
          <a:xfrm>
            <a:off x="815975" y="3602038"/>
            <a:ext cx="3380284" cy="1773932"/>
          </a:xfrm>
          <a:prstGeom prst="roundRect">
            <a:avLst>
              <a:gd name="adj" fmla="val 5548"/>
            </a:avLst>
          </a:prstGeom>
          <a:solidFill>
            <a:srgbClr val="FCFCFE"/>
          </a:solidFill>
          <a:ln w="6350">
            <a:solidFill>
              <a:srgbClr val="DDD9EE"/>
            </a:solidFill>
            <a:prstDash val="solid"/>
          </a:ln>
        </p:spPr>
      </p:sp>
      <p:sp>
        <p:nvSpPr>
          <p:cNvPr id="16" name="Text 14"/>
          <p:cNvSpPr/>
          <p:nvPr/>
        </p:nvSpPr>
        <p:spPr>
          <a:xfrm>
            <a:off x="1047750" y="3833812"/>
            <a:ext cx="300423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3262A"/>
                </a:solidFill>
                <a:latin typeface="JetBrains Mono" pitchFamily="34" charset="0"/>
                <a:ea typeface="JetBrains Mono" pitchFamily="34" charset="-122"/>
                <a:cs typeface="JetBrains Mono" pitchFamily="34" charset="-120"/>
              </a:rPr>
              <a:t>G4</a:t>
            </a:r>
            <a:endParaRPr lang="en-US" sz="1400" dirty="0"/>
          </a:p>
        </p:txBody>
      </p:sp>
      <p:sp>
        <p:nvSpPr>
          <p:cNvPr id="17" name="Text 15"/>
          <p:cNvSpPr/>
          <p:nvPr/>
        </p:nvSpPr>
        <p:spPr>
          <a:xfrm>
            <a:off x="1047750" y="4171553"/>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842"/>
                </a:solidFill>
                <a:latin typeface="IBM Plex Sans" pitchFamily="34" charset="0"/>
                <a:ea typeface="IBM Plex Sans" pitchFamily="34" charset="-122"/>
                <a:cs typeface="IBM Plex Sans" pitchFamily="34" charset="-120"/>
              </a:rPr>
              <a:t>Human in the loop</a:t>
            </a:r>
            <a:endParaRPr lang="en-US" sz="1600" dirty="0"/>
          </a:p>
        </p:txBody>
      </p:sp>
      <p:sp>
        <p:nvSpPr>
          <p:cNvPr id="18" name="Text 16"/>
          <p:cNvSpPr/>
          <p:nvPr/>
        </p:nvSpPr>
        <p:spPr>
          <a:xfrm>
            <a:off x="1047750" y="4504234"/>
            <a:ext cx="300423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People approve irreversible actions: closing defects, access grants, release Go, healed scripts.</a:t>
            </a:r>
            <a:endParaRPr lang="en-US" sz="1200" dirty="0"/>
          </a:p>
        </p:txBody>
      </p:sp>
      <p:sp>
        <p:nvSpPr>
          <p:cNvPr id="19" name="Shape 17"/>
          <p:cNvSpPr/>
          <p:nvPr/>
        </p:nvSpPr>
        <p:spPr>
          <a:xfrm>
            <a:off x="4405809" y="3602038"/>
            <a:ext cx="3380284" cy="1773932"/>
          </a:xfrm>
          <a:prstGeom prst="roundRect">
            <a:avLst>
              <a:gd name="adj" fmla="val 5548"/>
            </a:avLst>
          </a:prstGeom>
          <a:solidFill>
            <a:srgbClr val="FCFCFE"/>
          </a:solidFill>
          <a:ln w="6350">
            <a:solidFill>
              <a:srgbClr val="DDD9EE"/>
            </a:solidFill>
            <a:prstDash val="solid"/>
          </a:ln>
        </p:spPr>
      </p:sp>
      <p:sp>
        <p:nvSpPr>
          <p:cNvPr id="20" name="Text 18"/>
          <p:cNvSpPr/>
          <p:nvPr/>
        </p:nvSpPr>
        <p:spPr>
          <a:xfrm>
            <a:off x="4637584" y="3833812"/>
            <a:ext cx="300423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3262A"/>
                </a:solidFill>
                <a:latin typeface="JetBrains Mono" pitchFamily="34" charset="0"/>
                <a:ea typeface="JetBrains Mono" pitchFamily="34" charset="-122"/>
                <a:cs typeface="JetBrains Mono" pitchFamily="34" charset="-120"/>
              </a:rPr>
              <a:t>G5</a:t>
            </a:r>
            <a:endParaRPr lang="en-US" sz="1400" dirty="0"/>
          </a:p>
        </p:txBody>
      </p:sp>
      <p:sp>
        <p:nvSpPr>
          <p:cNvPr id="21" name="Text 19"/>
          <p:cNvSpPr/>
          <p:nvPr/>
        </p:nvSpPr>
        <p:spPr>
          <a:xfrm>
            <a:off x="4637584" y="4171553"/>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842"/>
                </a:solidFill>
                <a:latin typeface="IBM Plex Sans" pitchFamily="34" charset="0"/>
                <a:ea typeface="IBM Plex Sans" pitchFamily="34" charset="-122"/>
                <a:cs typeface="IBM Plex Sans" pitchFamily="34" charset="-120"/>
              </a:rPr>
              <a:t>Efficacy floors met</a:t>
            </a:r>
            <a:endParaRPr lang="en-US" sz="1600" dirty="0"/>
          </a:p>
        </p:txBody>
      </p:sp>
      <p:sp>
        <p:nvSpPr>
          <p:cNvPr id="22" name="Text 20"/>
          <p:cNvSpPr/>
          <p:nvPr/>
        </p:nvSpPr>
        <p:spPr>
          <a:xfrm>
            <a:off x="4637584" y="4504234"/>
            <a:ext cx="30042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Every efficacy KPI is at or above its Min value on the golden set.</a:t>
            </a:r>
            <a:endParaRPr lang="en-US" sz="1200" dirty="0"/>
          </a:p>
        </p:txBody>
      </p:sp>
      <p:sp>
        <p:nvSpPr>
          <p:cNvPr id="23" name="Shape 21"/>
          <p:cNvSpPr/>
          <p:nvPr/>
        </p:nvSpPr>
        <p:spPr>
          <a:xfrm>
            <a:off x="7995642" y="3602038"/>
            <a:ext cx="3380284" cy="1773932"/>
          </a:xfrm>
          <a:prstGeom prst="roundRect">
            <a:avLst>
              <a:gd name="adj" fmla="val 5548"/>
            </a:avLst>
          </a:prstGeom>
          <a:solidFill>
            <a:srgbClr val="FCFCFE"/>
          </a:solidFill>
          <a:ln w="6350">
            <a:solidFill>
              <a:srgbClr val="DDD9EE"/>
            </a:solidFill>
            <a:prstDash val="solid"/>
          </a:ln>
        </p:spPr>
      </p:sp>
      <p:sp>
        <p:nvSpPr>
          <p:cNvPr id="24" name="Text 22"/>
          <p:cNvSpPr/>
          <p:nvPr/>
        </p:nvSpPr>
        <p:spPr>
          <a:xfrm>
            <a:off x="8227417" y="3833812"/>
            <a:ext cx="300423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3262A"/>
                </a:solidFill>
                <a:latin typeface="JetBrains Mono" pitchFamily="34" charset="0"/>
                <a:ea typeface="JetBrains Mono" pitchFamily="34" charset="-122"/>
                <a:cs typeface="JetBrains Mono" pitchFamily="34" charset="-120"/>
              </a:rPr>
              <a:t>G6</a:t>
            </a:r>
            <a:endParaRPr lang="en-US" sz="1400" dirty="0"/>
          </a:p>
        </p:txBody>
      </p:sp>
      <p:sp>
        <p:nvSpPr>
          <p:cNvPr id="25" name="Text 23"/>
          <p:cNvSpPr/>
          <p:nvPr/>
        </p:nvSpPr>
        <p:spPr>
          <a:xfrm>
            <a:off x="8227417" y="4171553"/>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842"/>
                </a:solidFill>
                <a:latin typeface="IBM Plex Sans" pitchFamily="34" charset="0"/>
                <a:ea typeface="IBM Plex Sans" pitchFamily="34" charset="-122"/>
                <a:cs typeface="IBM Plex Sans" pitchFamily="34" charset="-120"/>
              </a:rPr>
              <a:t>Documentation complete</a:t>
            </a:r>
            <a:endParaRPr lang="en-US" sz="1600" dirty="0"/>
          </a:p>
        </p:txBody>
      </p:sp>
      <p:sp>
        <p:nvSpPr>
          <p:cNvPr id="26" name="Text 24"/>
          <p:cNvSpPr/>
          <p:nvPr/>
        </p:nvSpPr>
        <p:spPr>
          <a:xfrm>
            <a:off x="8227417" y="4504234"/>
            <a:ext cx="30042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README, I/O contract, model card, runbook and benchmark report.</a:t>
            </a:r>
            <a:endParaRPr lang="en-US" sz="1200" dirty="0"/>
          </a:p>
        </p:txBody>
      </p:sp>
      <p:sp>
        <p:nvSpPr>
          <p:cNvPr id="27" name="Text 2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Zion Quality Platform · L3 Agent benchmark KPIs</a:t>
            </a:r>
            <a:endParaRPr lang="en-US" sz="1200" dirty="0"/>
          </a:p>
        </p:txBody>
      </p:sp>
      <p:sp>
        <p:nvSpPr>
          <p:cNvPr id="28" name="Text 2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E"/>
        </a:solidFill>
      </p:bgPr>
    </p:bg>
    <p:spTree>
      <p:nvGrpSpPr>
        <p:cNvPr id="1" name=""/>
        <p:cNvGrpSpPr/>
        <p:nvPr/>
      </p:nvGrpSpPr>
      <p:grpSpPr>
        <a:xfrm>
          <a:off x="0" y="0"/>
          <a:ext cx="0" cy="0"/>
          <a:chOff x="0" y="0"/>
          <a:chExt cx="0" cy="0"/>
        </a:xfrm>
      </p:grpSpPr>
      <p:sp>
        <p:nvSpPr>
          <p:cNvPr id="2" name="Text 0"/>
          <p:cNvSpPr/>
          <p:nvPr/>
        </p:nvSpPr>
        <p:spPr>
          <a:xfrm>
            <a:off x="812800" y="81280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1842"/>
                </a:solidFill>
                <a:latin typeface="IBM Plex Sans" pitchFamily="34" charset="0"/>
                <a:ea typeface="IBM Plex Sans" pitchFamily="34" charset="-122"/>
                <a:cs typeface="IBM Plex Sans" pitchFamily="34" charset="-120"/>
              </a:rPr>
              <a:t>The composite score sets the tier, and the tier sets what happens next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2011561"/>
          <a:ext cx="10566400" cy="2617788"/>
        </p:xfrm>
        <a:graphic>
          <a:graphicData uri="http://schemas.openxmlformats.org/drawingml/2006/table">
            <a:tbl>
              <a:tblPr/>
              <a:tblGrid>
                <a:gridCol w="2535936"/>
                <a:gridCol w="2113280"/>
                <a:gridCol w="5917184"/>
              </a:tblGrid>
              <a:tr h="359271">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Tier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Composite score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What it means for the groups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r>
              <a:tr h="590352">
                <a:tc>
                  <a:txBody>
                    <a:bodyPr/>
                    <a:lstStyle/>
                    <a:p>
                      <a:pPr indent="0" marL="0">
                        <a:lnSpc>
                          <a:spcPts val="1820"/>
                        </a:lnSpc>
                        <a:buNone/>
                      </a:pPr>
                      <a:r>
                        <a:rPr lang="en-US" sz="1300" dirty="0">
                          <a:solidFill>
                            <a:srgbClr val="1F6B40"/>
                          </a:solidFill>
                          <a:latin typeface="IBM Plex Sans" pitchFamily="34" charset="0"/>
                          <a:ea typeface="IBM Plex Sans" pitchFamily="34" charset="-122"/>
                          <a:cs typeface="IBM Plex Sans" pitchFamily="34" charset="-120"/>
                        </a:rPr>
                        <a:t>Tier 1 · Certified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3F4EA"/>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85 or more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3F4EA"/>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Platform standard. All three groups reuse it; new builds of this capability stop.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3F4EA"/>
                    </a:solidFill>
                  </a:tcPr>
                </a:tc>
              </a:tr>
              <a:tr h="359271">
                <a:tc>
                  <a:txBody>
                    <a:bodyPr/>
                    <a:lstStyle/>
                    <a:p>
                      <a:pPr indent="0" marL="0">
                        <a:lnSpc>
                          <a:spcPts val="1820"/>
                        </a:lnSpc>
                        <a:buNone/>
                      </a:pPr>
                      <a:r>
                        <a:rPr lang="en-US" sz="1300" dirty="0">
                          <a:solidFill>
                            <a:srgbClr val="1D5F99"/>
                          </a:solidFill>
                          <a:latin typeface="IBM Plex Sans" pitchFamily="34" charset="0"/>
                          <a:ea typeface="IBM Plex Sans" pitchFamily="34" charset="-122"/>
                          <a:cs typeface="IBM Plex Sans" pitchFamily="34" charset="-120"/>
                        </a:rPr>
                        <a:t>Tier 2 · Conditional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2EEF9"/>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75 to 84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2EEF9"/>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Reusable with a named improvement plan; re-benchmarked next quarter.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2EEF9"/>
                    </a:solidFill>
                  </a:tcPr>
                </a:tc>
              </a:tr>
              <a:tr h="359271">
                <a:tc>
                  <a:txBody>
                    <a:bodyPr/>
                    <a:lstStyle/>
                    <a:p>
                      <a:pPr indent="0" marL="0">
                        <a:lnSpc>
                          <a:spcPts val="1820"/>
                        </a:lnSpc>
                        <a:buNone/>
                      </a:pPr>
                      <a:r>
                        <a:rPr lang="en-US" sz="1300" dirty="0">
                          <a:solidFill>
                            <a:srgbClr val="7A4F00"/>
                          </a:solidFill>
                          <a:latin typeface="IBM Plex Sans" pitchFamily="34" charset="0"/>
                          <a:ea typeface="IBM Plex Sans" pitchFamily="34" charset="-122"/>
                          <a:cs typeface="IBM Plex Sans" pitchFamily="34" charset="-120"/>
                        </a:rPr>
                        <a:t>Tier 3 · Group-local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FBF0D9"/>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60 to 74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FBF0D9"/>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Used inside the owning group only; not in the shared catalog.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FBF0D9"/>
                    </a:solidFill>
                  </a:tcPr>
                </a:tc>
              </a:tr>
              <a:tr h="359271">
                <a:tc>
                  <a:txBody>
                    <a:bodyPr/>
                    <a:lstStyle/>
                    <a:p>
                      <a:pPr indent="0" marL="0">
                        <a:lnSpc>
                          <a:spcPts val="1820"/>
                        </a:lnSpc>
                        <a:buNone/>
                      </a:pPr>
                      <a:r>
                        <a:rPr lang="en-US" sz="1300" dirty="0">
                          <a:solidFill>
                            <a:srgbClr val="8C3910"/>
                          </a:solidFill>
                          <a:latin typeface="IBM Plex Sans" pitchFamily="34" charset="0"/>
                          <a:ea typeface="IBM Plex Sans" pitchFamily="34" charset="-122"/>
                          <a:cs typeface="IBM Plex Sans" pitchFamily="34" charset="-120"/>
                        </a:rPr>
                        <a:t>Tier 4 · Rework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FCE6DA"/>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45 to 59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FCE6DA"/>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Not for production; merge the effort into the leading solution.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FCE6DA"/>
                    </a:solidFill>
                  </a:tcPr>
                </a:tc>
              </a:tr>
              <a:tr h="590352">
                <a:tc>
                  <a:txBody>
                    <a:bodyPr/>
                    <a:lstStyle/>
                    <a:p>
                      <a:pPr indent="0" marL="0">
                        <a:lnSpc>
                          <a:spcPts val="1820"/>
                        </a:lnSpc>
                        <a:buNone/>
                      </a:pPr>
                      <a:r>
                        <a:rPr lang="en-US" sz="1300" dirty="0">
                          <a:solidFill>
                            <a:srgbClr val="A3262A"/>
                          </a:solidFill>
                          <a:latin typeface="IBM Plex Sans" pitchFamily="34" charset="0"/>
                          <a:ea typeface="IBM Plex Sans" pitchFamily="34" charset="-122"/>
                          <a:cs typeface="IBM Plex Sans" pitchFamily="34" charset="-120"/>
                        </a:rPr>
                        <a:t>Not eligible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FBE3E3"/>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Below 45, or any gate failed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FBE3E3"/>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Retire it, or fix the failed gate and resubmit.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FBE3E3"/>
                    </a:solidFill>
                  </a:tcPr>
                </a:tc>
              </a:tr>
            </a:tbl>
          </a:graphicData>
        </a:graphic>
      </p:graphicFrame>
      <p:sp>
        <p:nvSpPr>
          <p:cNvPr id="4" name="Shape 1"/>
          <p:cNvSpPr/>
          <p:nvPr/>
        </p:nvSpPr>
        <p:spPr>
          <a:xfrm>
            <a:off x="812800" y="4946848"/>
            <a:ext cx="10566400" cy="482600"/>
          </a:xfrm>
          <a:prstGeom prst="roundRect">
            <a:avLst>
              <a:gd name="adj" fmla="val 15789"/>
            </a:avLst>
          </a:prstGeom>
          <a:solidFill>
            <a:srgbClr val="EDE8FC"/>
          </a:solidFill>
          <a:ln/>
        </p:spPr>
      </p:sp>
      <p:sp>
        <p:nvSpPr>
          <p:cNvPr id="5" name="Text 2"/>
          <p:cNvSpPr/>
          <p:nvPr/>
        </p:nvSpPr>
        <p:spPr>
          <a:xfrm>
            <a:off x="990600" y="5073848"/>
            <a:ext cx="1051712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B4868"/>
                </a:solidFill>
                <a:latin typeface="JetBrains Mono" pitchFamily="34" charset="0"/>
                <a:ea typeface="JetBrains Mono" pitchFamily="34" charset="-122"/>
                <a:cs typeface="JetBrains Mono" pitchFamily="34" charset="-120"/>
              </a:rPr>
              <a:t>Composite = 0.30·D1 + 0.20·D2 + 0.15·D3 + 0.10·D4 + 0.15·D5 + 0.10·D6</a:t>
            </a:r>
            <a:endParaRPr lang="en-US" sz="1200" dirty="0"/>
          </a:p>
        </p:txBody>
      </p:sp>
      <p:sp>
        <p:nvSpPr>
          <p:cNvPr id="6" name="Text 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A challenger replaces the champion only if it scores at least 5 points higher with no gate regression</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FA"/>
        </a:solidFill>
      </p:bgPr>
    </p:bg>
    <p:spTree>
      <p:nvGrpSpPr>
        <p:cNvPr id="1" name=""/>
        <p:cNvGrpSpPr/>
        <p:nvPr/>
      </p:nvGrpSpPr>
      <p:grpSpPr>
        <a:xfrm>
          <a:off x="0" y="0"/>
          <a:ext cx="0" cy="0"/>
          <a:chOff x="0" y="0"/>
          <a:chExt cx="0" cy="0"/>
        </a:xfrm>
      </p:grpSpPr>
      <p:sp>
        <p:nvSpPr>
          <p:cNvPr id="2" name="Text 0"/>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1842"/>
                </a:solidFill>
                <a:latin typeface="IBM Plex Sans" pitchFamily="34" charset="0"/>
                <a:ea typeface="IBM Plex Sans" pitchFamily="34" charset="-122"/>
                <a:cs typeface="IBM Plex Sans" pitchFamily="34" charset="-120"/>
              </a:rPr>
              <a:t>Eight steps from idea to certified component</a:t>
            </a:r>
            <a:endParaRPr lang="en-US" sz="3200" dirty="0"/>
          </a:p>
        </p:txBody>
      </p:sp>
      <p:sp>
        <p:nvSpPr>
          <p:cNvPr id="3" name="Shape 1"/>
          <p:cNvSpPr/>
          <p:nvPr/>
        </p:nvSpPr>
        <p:spPr>
          <a:xfrm>
            <a:off x="815975" y="1618555"/>
            <a:ext cx="2520950" cy="1657152"/>
          </a:xfrm>
          <a:prstGeom prst="roundRect">
            <a:avLst>
              <a:gd name="adj" fmla="val 5939"/>
            </a:avLst>
          </a:prstGeom>
          <a:solidFill>
            <a:srgbClr val="FCFCFE"/>
          </a:solidFill>
          <a:ln w="6350">
            <a:solidFill>
              <a:srgbClr val="DDD9EE"/>
            </a:solidFill>
            <a:prstDash val="solid"/>
          </a:ln>
        </p:spPr>
      </p:sp>
      <p:sp>
        <p:nvSpPr>
          <p:cNvPr id="4" name="Text 2"/>
          <p:cNvSpPr/>
          <p:nvPr/>
        </p:nvSpPr>
        <p:spPr>
          <a:xfrm>
            <a:off x="1022350" y="1824930"/>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D4AE0"/>
                </a:solidFill>
                <a:latin typeface="JetBrains Mono" pitchFamily="34" charset="0"/>
                <a:ea typeface="JetBrains Mono" pitchFamily="34" charset="-122"/>
                <a:cs typeface="JetBrains Mono" pitchFamily="34" charset="-120"/>
              </a:rPr>
              <a:t>01</a:t>
            </a:r>
            <a:endParaRPr lang="en-US" sz="1400" dirty="0"/>
          </a:p>
        </p:txBody>
      </p:sp>
      <p:sp>
        <p:nvSpPr>
          <p:cNvPr id="5" name="Text 3"/>
          <p:cNvSpPr/>
          <p:nvPr/>
        </p:nvSpPr>
        <p:spPr>
          <a:xfrm>
            <a:off x="1022350" y="213727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842"/>
                </a:solidFill>
                <a:latin typeface="IBM Plex Sans" pitchFamily="34" charset="0"/>
                <a:ea typeface="IBM Plex Sans" pitchFamily="34" charset="-122"/>
                <a:cs typeface="IBM Plex Sans" pitchFamily="34" charset="-120"/>
              </a:rPr>
              <a:t>Register intent</a:t>
            </a:r>
            <a:endParaRPr lang="en-US" sz="1500" dirty="0"/>
          </a:p>
        </p:txBody>
      </p:sp>
      <p:sp>
        <p:nvSpPr>
          <p:cNvPr id="6" name="Text 4"/>
          <p:cNvSpPr/>
          <p:nvPr/>
        </p:nvSpPr>
        <p:spPr>
          <a:xfrm>
            <a:off x="1022350" y="242937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File the capability with its L3 ID, e.g. L3-1.a.</a:t>
            </a:r>
            <a:endParaRPr lang="en-US" sz="1200" dirty="0"/>
          </a:p>
        </p:txBody>
      </p:sp>
      <p:sp>
        <p:nvSpPr>
          <p:cNvPr id="7" name="Shape 5"/>
          <p:cNvSpPr/>
          <p:nvPr/>
        </p:nvSpPr>
        <p:spPr>
          <a:xfrm>
            <a:off x="3495675" y="1618555"/>
            <a:ext cx="2520950" cy="1657152"/>
          </a:xfrm>
          <a:prstGeom prst="roundRect">
            <a:avLst>
              <a:gd name="adj" fmla="val 5939"/>
            </a:avLst>
          </a:prstGeom>
          <a:solidFill>
            <a:srgbClr val="FCFCFE"/>
          </a:solidFill>
          <a:ln w="6350">
            <a:solidFill>
              <a:srgbClr val="DDD9EE"/>
            </a:solidFill>
            <a:prstDash val="solid"/>
          </a:ln>
        </p:spPr>
      </p:sp>
      <p:sp>
        <p:nvSpPr>
          <p:cNvPr id="8" name="Text 6"/>
          <p:cNvSpPr/>
          <p:nvPr/>
        </p:nvSpPr>
        <p:spPr>
          <a:xfrm>
            <a:off x="3702050" y="1824930"/>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D4AE0"/>
                </a:solidFill>
                <a:latin typeface="JetBrains Mono" pitchFamily="34" charset="0"/>
                <a:ea typeface="JetBrains Mono" pitchFamily="34" charset="-122"/>
                <a:cs typeface="JetBrains Mono" pitchFamily="34" charset="-120"/>
              </a:rPr>
              <a:t>02</a:t>
            </a:r>
            <a:endParaRPr lang="en-US" sz="1400" dirty="0"/>
          </a:p>
        </p:txBody>
      </p:sp>
      <p:sp>
        <p:nvSpPr>
          <p:cNvPr id="9" name="Text 7"/>
          <p:cNvSpPr/>
          <p:nvPr/>
        </p:nvSpPr>
        <p:spPr>
          <a:xfrm>
            <a:off x="3702050" y="213727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842"/>
                </a:solidFill>
                <a:latin typeface="IBM Plex Sans" pitchFamily="34" charset="0"/>
                <a:ea typeface="IBM Plex Sans" pitchFamily="34" charset="-122"/>
                <a:cs typeface="IBM Plex Sans" pitchFamily="34" charset="-120"/>
              </a:rPr>
              <a:t>Duplicate check</a:t>
            </a:r>
            <a:endParaRPr lang="en-US" sz="1500" dirty="0"/>
          </a:p>
        </p:txBody>
      </p:sp>
      <p:sp>
        <p:nvSpPr>
          <p:cNvPr id="10" name="Text 8"/>
          <p:cNvSpPr/>
          <p:nvPr/>
        </p:nvSpPr>
        <p:spPr>
          <a:xfrm>
            <a:off x="3702050" y="242937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A Tier-1 or Tier-2 solution exists? Extend it instead.</a:t>
            </a:r>
            <a:endParaRPr lang="en-US" sz="1200" dirty="0"/>
          </a:p>
        </p:txBody>
      </p:sp>
      <p:sp>
        <p:nvSpPr>
          <p:cNvPr id="11" name="Shape 9"/>
          <p:cNvSpPr/>
          <p:nvPr/>
        </p:nvSpPr>
        <p:spPr>
          <a:xfrm>
            <a:off x="6175375" y="1618555"/>
            <a:ext cx="2520950" cy="1657152"/>
          </a:xfrm>
          <a:prstGeom prst="roundRect">
            <a:avLst>
              <a:gd name="adj" fmla="val 5939"/>
            </a:avLst>
          </a:prstGeom>
          <a:solidFill>
            <a:srgbClr val="FCFCFE"/>
          </a:solidFill>
          <a:ln w="6350">
            <a:solidFill>
              <a:srgbClr val="DDD9EE"/>
            </a:solidFill>
            <a:prstDash val="solid"/>
          </a:ln>
        </p:spPr>
      </p:sp>
      <p:sp>
        <p:nvSpPr>
          <p:cNvPr id="12" name="Text 10"/>
          <p:cNvSpPr/>
          <p:nvPr/>
        </p:nvSpPr>
        <p:spPr>
          <a:xfrm>
            <a:off x="6381750" y="1824930"/>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D4AE0"/>
                </a:solidFill>
                <a:latin typeface="JetBrains Mono" pitchFamily="34" charset="0"/>
                <a:ea typeface="JetBrains Mono" pitchFamily="34" charset="-122"/>
                <a:cs typeface="JetBrains Mono" pitchFamily="34" charset="-120"/>
              </a:rPr>
              <a:t>03</a:t>
            </a:r>
            <a:endParaRPr lang="en-US" sz="1400" dirty="0"/>
          </a:p>
        </p:txBody>
      </p:sp>
      <p:sp>
        <p:nvSpPr>
          <p:cNvPr id="13" name="Text 11"/>
          <p:cNvSpPr/>
          <p:nvPr/>
        </p:nvSpPr>
        <p:spPr>
          <a:xfrm>
            <a:off x="6381750" y="213727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842"/>
                </a:solidFill>
                <a:latin typeface="IBM Plex Sans" pitchFamily="34" charset="0"/>
                <a:ea typeface="IBM Plex Sans" pitchFamily="34" charset="-122"/>
                <a:cs typeface="IBM Plex Sans" pitchFamily="34" charset="-120"/>
              </a:rPr>
              <a:t>Build to contract</a:t>
            </a:r>
            <a:endParaRPr lang="en-US" sz="1500" dirty="0"/>
          </a:p>
        </p:txBody>
      </p:sp>
      <p:sp>
        <p:nvSpPr>
          <p:cNvPr id="14" name="Text 12"/>
          <p:cNvSpPr/>
          <p:nvPr/>
        </p:nvSpPr>
        <p:spPr>
          <a:xfrm>
            <a:off x="6381750" y="242937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Standard I/O contract, on the shared services.</a:t>
            </a:r>
            <a:endParaRPr lang="en-US" sz="1200" dirty="0"/>
          </a:p>
        </p:txBody>
      </p:sp>
      <p:sp>
        <p:nvSpPr>
          <p:cNvPr id="15" name="Shape 13"/>
          <p:cNvSpPr/>
          <p:nvPr/>
        </p:nvSpPr>
        <p:spPr>
          <a:xfrm>
            <a:off x="8855075" y="1618555"/>
            <a:ext cx="2520950" cy="1657152"/>
          </a:xfrm>
          <a:prstGeom prst="roundRect">
            <a:avLst>
              <a:gd name="adj" fmla="val 5939"/>
            </a:avLst>
          </a:prstGeom>
          <a:solidFill>
            <a:srgbClr val="FCFCFE"/>
          </a:solidFill>
          <a:ln w="6350">
            <a:solidFill>
              <a:srgbClr val="DDD9EE"/>
            </a:solidFill>
            <a:prstDash val="solid"/>
          </a:ln>
        </p:spPr>
      </p:sp>
      <p:sp>
        <p:nvSpPr>
          <p:cNvPr id="16" name="Text 14"/>
          <p:cNvSpPr/>
          <p:nvPr/>
        </p:nvSpPr>
        <p:spPr>
          <a:xfrm>
            <a:off x="9061450" y="1824930"/>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D4AE0"/>
                </a:solidFill>
                <a:latin typeface="JetBrains Mono" pitchFamily="34" charset="0"/>
                <a:ea typeface="JetBrains Mono" pitchFamily="34" charset="-122"/>
                <a:cs typeface="JetBrains Mono" pitchFamily="34" charset="-120"/>
              </a:rPr>
              <a:t>04</a:t>
            </a:r>
            <a:endParaRPr lang="en-US" sz="1400" dirty="0"/>
          </a:p>
        </p:txBody>
      </p:sp>
      <p:sp>
        <p:nvSpPr>
          <p:cNvPr id="17" name="Text 15"/>
          <p:cNvSpPr/>
          <p:nvPr/>
        </p:nvSpPr>
        <p:spPr>
          <a:xfrm>
            <a:off x="9061450" y="213727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842"/>
                </a:solidFill>
                <a:latin typeface="IBM Plex Sans" pitchFamily="34" charset="0"/>
                <a:ea typeface="IBM Plex Sans" pitchFamily="34" charset="-122"/>
                <a:cs typeface="IBM Plex Sans" pitchFamily="34" charset="-120"/>
              </a:rPr>
              <a:t>Benchmark run</a:t>
            </a:r>
            <a:endParaRPr lang="en-US" sz="1500" dirty="0"/>
          </a:p>
        </p:txBody>
      </p:sp>
      <p:sp>
        <p:nvSpPr>
          <p:cNvPr id="18" name="Text 16"/>
          <p:cNvSpPr/>
          <p:nvPr/>
        </p:nvSpPr>
        <p:spPr>
          <a:xfrm>
            <a:off x="9061450" y="2429371"/>
            <a:ext cx="217144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Automated harness on the golden set produces the KPI report.</a:t>
            </a:r>
            <a:endParaRPr lang="en-US" sz="1200" dirty="0"/>
          </a:p>
        </p:txBody>
      </p:sp>
      <p:sp>
        <p:nvSpPr>
          <p:cNvPr id="19" name="Shape 17"/>
          <p:cNvSpPr/>
          <p:nvPr/>
        </p:nvSpPr>
        <p:spPr>
          <a:xfrm>
            <a:off x="815975" y="3434457"/>
            <a:ext cx="2520950" cy="1659731"/>
          </a:xfrm>
          <a:prstGeom prst="roundRect">
            <a:avLst>
              <a:gd name="adj" fmla="val 5930"/>
            </a:avLst>
          </a:prstGeom>
          <a:solidFill>
            <a:srgbClr val="FCFCFE"/>
          </a:solidFill>
          <a:ln w="6350">
            <a:solidFill>
              <a:srgbClr val="DDD9EE"/>
            </a:solidFill>
            <a:prstDash val="solid"/>
          </a:ln>
        </p:spPr>
      </p:sp>
      <p:sp>
        <p:nvSpPr>
          <p:cNvPr id="20" name="Text 18"/>
          <p:cNvSpPr/>
          <p:nvPr/>
        </p:nvSpPr>
        <p:spPr>
          <a:xfrm>
            <a:off x="1022350" y="3640832"/>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D4AE0"/>
                </a:solidFill>
                <a:latin typeface="JetBrains Mono" pitchFamily="34" charset="0"/>
                <a:ea typeface="JetBrains Mono" pitchFamily="34" charset="-122"/>
                <a:cs typeface="JetBrains Mono" pitchFamily="34" charset="-120"/>
              </a:rPr>
              <a:t>05</a:t>
            </a:r>
            <a:endParaRPr lang="en-US" sz="1400" dirty="0"/>
          </a:p>
        </p:txBody>
      </p:sp>
      <p:sp>
        <p:nvSpPr>
          <p:cNvPr id="21" name="Text 19"/>
          <p:cNvSpPr/>
          <p:nvPr/>
        </p:nvSpPr>
        <p:spPr>
          <a:xfrm>
            <a:off x="1022350" y="3953173"/>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842"/>
                </a:solidFill>
                <a:latin typeface="IBM Plex Sans" pitchFamily="34" charset="0"/>
                <a:ea typeface="IBM Plex Sans" pitchFamily="34" charset="-122"/>
                <a:cs typeface="IBM Plex Sans" pitchFamily="34" charset="-120"/>
              </a:rPr>
              <a:t>Score &amp; gate</a:t>
            </a:r>
            <a:endParaRPr lang="en-US" sz="1500" dirty="0"/>
          </a:p>
        </p:txBody>
      </p:sp>
      <p:sp>
        <p:nvSpPr>
          <p:cNvPr id="22" name="Text 20"/>
          <p:cNvSpPr/>
          <p:nvPr/>
        </p:nvSpPr>
        <p:spPr>
          <a:xfrm>
            <a:off x="1022350" y="4245273"/>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Six dimensions into one composite; six gates checked.</a:t>
            </a:r>
            <a:endParaRPr lang="en-US" sz="1200" dirty="0"/>
          </a:p>
        </p:txBody>
      </p:sp>
      <p:sp>
        <p:nvSpPr>
          <p:cNvPr id="23" name="Shape 21"/>
          <p:cNvSpPr/>
          <p:nvPr/>
        </p:nvSpPr>
        <p:spPr>
          <a:xfrm>
            <a:off x="3495675" y="3434457"/>
            <a:ext cx="2520950" cy="1659731"/>
          </a:xfrm>
          <a:prstGeom prst="roundRect">
            <a:avLst>
              <a:gd name="adj" fmla="val 5930"/>
            </a:avLst>
          </a:prstGeom>
          <a:solidFill>
            <a:srgbClr val="FCFCFE"/>
          </a:solidFill>
          <a:ln w="6350">
            <a:solidFill>
              <a:srgbClr val="DDD9EE"/>
            </a:solidFill>
            <a:prstDash val="solid"/>
          </a:ln>
        </p:spPr>
      </p:sp>
      <p:sp>
        <p:nvSpPr>
          <p:cNvPr id="24" name="Text 22"/>
          <p:cNvSpPr/>
          <p:nvPr/>
        </p:nvSpPr>
        <p:spPr>
          <a:xfrm>
            <a:off x="3702050" y="3640832"/>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D4AE0"/>
                </a:solidFill>
                <a:latin typeface="JetBrains Mono" pitchFamily="34" charset="0"/>
                <a:ea typeface="JetBrains Mono" pitchFamily="34" charset="-122"/>
                <a:cs typeface="JetBrains Mono" pitchFamily="34" charset="-120"/>
              </a:rPr>
              <a:t>06</a:t>
            </a:r>
            <a:endParaRPr lang="en-US" sz="1400" dirty="0"/>
          </a:p>
        </p:txBody>
      </p:sp>
      <p:sp>
        <p:nvSpPr>
          <p:cNvPr id="25" name="Text 23"/>
          <p:cNvSpPr/>
          <p:nvPr/>
        </p:nvSpPr>
        <p:spPr>
          <a:xfrm>
            <a:off x="3702050" y="3953173"/>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842"/>
                </a:solidFill>
                <a:latin typeface="IBM Plex Sans" pitchFamily="34" charset="0"/>
                <a:ea typeface="IBM Plex Sans" pitchFamily="34" charset="-122"/>
                <a:cs typeface="IBM Plex Sans" pitchFamily="34" charset="-120"/>
              </a:rPr>
              <a:t>Cross-group review</a:t>
            </a:r>
            <a:endParaRPr lang="en-US" sz="1500" dirty="0"/>
          </a:p>
        </p:txBody>
      </p:sp>
      <p:sp>
        <p:nvSpPr>
          <p:cNvPr id="26" name="Text 24"/>
          <p:cNvSpPr/>
          <p:nvPr/>
        </p:nvSpPr>
        <p:spPr>
          <a:xfrm>
            <a:off x="3702050" y="4245273"/>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grp1, grp2, grp3 leads and AI champions validate evidence.</a:t>
            </a:r>
            <a:endParaRPr lang="en-US" sz="1200" dirty="0"/>
          </a:p>
        </p:txBody>
      </p:sp>
      <p:sp>
        <p:nvSpPr>
          <p:cNvPr id="27" name="Shape 25"/>
          <p:cNvSpPr/>
          <p:nvPr/>
        </p:nvSpPr>
        <p:spPr>
          <a:xfrm>
            <a:off x="6175375" y="3434457"/>
            <a:ext cx="2520950" cy="1659731"/>
          </a:xfrm>
          <a:prstGeom prst="roundRect">
            <a:avLst>
              <a:gd name="adj" fmla="val 5930"/>
            </a:avLst>
          </a:prstGeom>
          <a:solidFill>
            <a:srgbClr val="FCFCFE"/>
          </a:solidFill>
          <a:ln w="6350">
            <a:solidFill>
              <a:srgbClr val="DDD9EE"/>
            </a:solidFill>
            <a:prstDash val="solid"/>
          </a:ln>
        </p:spPr>
      </p:sp>
      <p:sp>
        <p:nvSpPr>
          <p:cNvPr id="28" name="Text 26"/>
          <p:cNvSpPr/>
          <p:nvPr/>
        </p:nvSpPr>
        <p:spPr>
          <a:xfrm>
            <a:off x="6381750" y="3640832"/>
            <a:ext cx="21714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D4AE0"/>
                </a:solidFill>
                <a:latin typeface="JetBrains Mono" pitchFamily="34" charset="0"/>
                <a:ea typeface="JetBrains Mono" pitchFamily="34" charset="-122"/>
                <a:cs typeface="JetBrains Mono" pitchFamily="34" charset="-120"/>
              </a:rPr>
              <a:t>07</a:t>
            </a:r>
            <a:endParaRPr lang="en-US" sz="1400" dirty="0"/>
          </a:p>
        </p:txBody>
      </p:sp>
      <p:sp>
        <p:nvSpPr>
          <p:cNvPr id="29" name="Text 27"/>
          <p:cNvSpPr/>
          <p:nvPr/>
        </p:nvSpPr>
        <p:spPr>
          <a:xfrm>
            <a:off x="6381750" y="3953173"/>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842"/>
                </a:solidFill>
                <a:latin typeface="IBM Plex Sans" pitchFamily="34" charset="0"/>
                <a:ea typeface="IBM Plex Sans" pitchFamily="34" charset="-122"/>
                <a:cs typeface="IBM Plex Sans" pitchFamily="34" charset="-120"/>
              </a:rPr>
              <a:t>Rank &amp; publish</a:t>
            </a:r>
            <a:endParaRPr lang="en-US" sz="1500" dirty="0"/>
          </a:p>
        </p:txBody>
      </p:sp>
      <p:sp>
        <p:nvSpPr>
          <p:cNvPr id="30" name="Text 28"/>
          <p:cNvSpPr/>
          <p:nvPr/>
        </p:nvSpPr>
        <p:spPr>
          <a:xfrm>
            <a:off x="6381750" y="4245273"/>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Tier assigned; Tier 1 enters the shared catalog.</a:t>
            </a:r>
            <a:endParaRPr lang="en-US" sz="1200" dirty="0"/>
          </a:p>
        </p:txBody>
      </p:sp>
      <p:sp>
        <p:nvSpPr>
          <p:cNvPr id="31" name="Shape 29"/>
          <p:cNvSpPr/>
          <p:nvPr/>
        </p:nvSpPr>
        <p:spPr>
          <a:xfrm>
            <a:off x="8851900" y="3431282"/>
            <a:ext cx="2527300" cy="1666081"/>
          </a:xfrm>
          <a:prstGeom prst="roundRect">
            <a:avLst>
              <a:gd name="adj" fmla="val 6098"/>
            </a:avLst>
          </a:prstGeom>
          <a:solidFill>
            <a:srgbClr val="1C1842"/>
          </a:solidFill>
          <a:ln/>
        </p:spPr>
      </p:sp>
      <p:sp>
        <p:nvSpPr>
          <p:cNvPr id="32" name="Text 30"/>
          <p:cNvSpPr/>
          <p:nvPr/>
        </p:nvSpPr>
        <p:spPr>
          <a:xfrm>
            <a:off x="9055100" y="3634482"/>
            <a:ext cx="218452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A8FF"/>
                </a:solidFill>
                <a:latin typeface="JetBrains Mono" pitchFamily="34" charset="0"/>
                <a:ea typeface="JetBrains Mono" pitchFamily="34" charset="-122"/>
                <a:cs typeface="JetBrains Mono" pitchFamily="34" charset="-120"/>
              </a:rPr>
              <a:t>08</a:t>
            </a:r>
            <a:endParaRPr lang="en-US" sz="1400" dirty="0"/>
          </a:p>
        </p:txBody>
      </p:sp>
      <p:sp>
        <p:nvSpPr>
          <p:cNvPr id="33" name="Text 31"/>
          <p:cNvSpPr/>
          <p:nvPr/>
        </p:nvSpPr>
        <p:spPr>
          <a:xfrm>
            <a:off x="9055100" y="3946823"/>
            <a:ext cx="2184527"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4FA"/>
                </a:solidFill>
                <a:latin typeface="IBM Plex Sans" pitchFamily="34" charset="0"/>
                <a:ea typeface="IBM Plex Sans" pitchFamily="34" charset="-122"/>
                <a:cs typeface="IBM Plex Sans" pitchFamily="34" charset="-120"/>
              </a:rPr>
              <a:t>Re-benchmark quarterly</a:t>
            </a:r>
            <a:endParaRPr lang="en-US" sz="1500" dirty="0"/>
          </a:p>
        </p:txBody>
      </p:sp>
      <p:sp>
        <p:nvSpPr>
          <p:cNvPr id="34" name="Text 32"/>
          <p:cNvSpPr/>
          <p:nvPr/>
        </p:nvSpPr>
        <p:spPr>
          <a:xfrm>
            <a:off x="9055100" y="4467523"/>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4E6"/>
                </a:solidFill>
                <a:latin typeface="IBM Plex Sans" pitchFamily="34" charset="0"/>
                <a:ea typeface="IBM Plex Sans" pitchFamily="34" charset="-122"/>
                <a:cs typeface="IBM Plex Sans" pitchFamily="34" charset="-120"/>
              </a:rPr>
              <a:t>Champion vs challenger; the golden set keeps growing.</a:t>
            </a:r>
            <a:endParaRPr lang="en-US" sz="1200" dirty="0"/>
          </a:p>
        </p:txBody>
      </p:sp>
      <p:sp>
        <p:nvSpPr>
          <p:cNvPr id="35" name="Text 3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Zion Quality Platform · L3 Agent benchmark KPIs</a:t>
            </a:r>
            <a:endParaRPr lang="en-US" sz="1200" dirty="0"/>
          </a:p>
        </p:txBody>
      </p:sp>
      <p:sp>
        <p:nvSpPr>
          <p:cNvPr id="36" name="Text 3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FA"/>
        </a:solidFill>
      </p:bgPr>
    </p:bg>
    <p:spTree>
      <p:nvGrpSpPr>
        <p:cNvPr id="1" name=""/>
        <p:cNvGrpSpPr/>
        <p:nvPr/>
      </p:nvGrpSpPr>
      <p:grpSpPr>
        <a:xfrm>
          <a:off x="0" y="0"/>
          <a:ext cx="0" cy="0"/>
          <a:chOff x="0" y="0"/>
          <a:chExt cx="0" cy="0"/>
        </a:xfrm>
      </p:grpSpPr>
      <p:sp>
        <p:nvSpPr>
          <p:cNvPr id="2" name="Text 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Full targets for all 30 components: wf2c L3 Agent KPI benchmark page</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09</a:t>
            </a:r>
            <a:endParaRPr lang="en-US" sz="1200" dirty="0"/>
          </a:p>
        </p:txBody>
      </p:sp>
      <p:sp>
        <p:nvSpPr>
          <p:cNvPr id="4" name="Text 2"/>
          <p:cNvSpPr/>
          <p:nvPr/>
        </p:nvSpPr>
        <p:spPr>
          <a:xfrm>
            <a:off x="812800" y="81280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1842"/>
                </a:solidFill>
                <a:latin typeface="IBM Plex Sans" pitchFamily="34" charset="0"/>
                <a:ea typeface="IBM Plex Sans" pitchFamily="34" charset="-122"/>
                <a:cs typeface="IBM Plex Sans" pitchFamily="34" charset="-120"/>
              </a:rPr>
              <a:t>Example: the bar for the NL Req Parsing &amp; Classification Agent</a:t>
            </a:r>
            <a:endParaRPr lang="en-US" sz="3200" dirty="0"/>
          </a:p>
        </p:txBody>
      </p:sp>
      <p:sp>
        <p:nvSpPr>
          <p:cNvPr id="5" name="Shape 3"/>
          <p:cNvSpPr/>
          <p:nvPr/>
        </p:nvSpPr>
        <p:spPr>
          <a:xfrm>
            <a:off x="812800" y="2012950"/>
            <a:ext cx="3302000" cy="3251200"/>
          </a:xfrm>
          <a:prstGeom prst="roundRect">
            <a:avLst>
              <a:gd name="adj" fmla="val 3125"/>
            </a:avLst>
          </a:prstGeom>
          <a:solidFill>
            <a:srgbClr val="1C1842"/>
          </a:solidFill>
          <a:ln/>
        </p:spPr>
      </p:sp>
      <p:sp>
        <p:nvSpPr>
          <p:cNvPr id="6" name="Text 4"/>
          <p:cNvSpPr/>
          <p:nvPr/>
        </p:nvSpPr>
        <p:spPr>
          <a:xfrm>
            <a:off x="1066800" y="2266950"/>
            <a:ext cx="28778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9A8FF"/>
                </a:solidFill>
                <a:latin typeface="JetBrains Mono" pitchFamily="34" charset="0"/>
                <a:ea typeface="JetBrains Mono" pitchFamily="34" charset="-122"/>
                <a:cs typeface="JetBrains Mono" pitchFamily="34" charset="-120"/>
              </a:rPr>
              <a:t>L3-1.a · Phase 1</a:t>
            </a:r>
            <a:endParaRPr lang="en-US" sz="1300" dirty="0"/>
          </a:p>
        </p:txBody>
      </p:sp>
      <p:sp>
        <p:nvSpPr>
          <p:cNvPr id="7" name="Text 5"/>
          <p:cNvSpPr/>
          <p:nvPr/>
        </p:nvSpPr>
        <p:spPr>
          <a:xfrm>
            <a:off x="1066800" y="258693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A8FF"/>
                </a:solidFill>
                <a:latin typeface="IBM Plex Sans" pitchFamily="34" charset="0"/>
                <a:ea typeface="IBM Plex Sans" pitchFamily="34" charset="-122"/>
                <a:cs typeface="IBM Plex Sans" pitchFamily="34" charset="-120"/>
              </a:rPr>
              <a:t>INPUT</a:t>
            </a:r>
            <a:endParaRPr lang="en-US" sz="1200" dirty="0"/>
          </a:p>
        </p:txBody>
      </p:sp>
      <p:sp>
        <p:nvSpPr>
          <p:cNvPr id="8" name="Text 6"/>
          <p:cNvSpPr/>
          <p:nvPr/>
        </p:nvSpPr>
        <p:spPr>
          <a:xfrm>
            <a:off x="1066800" y="2889151"/>
            <a:ext cx="287782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5F4FA"/>
                </a:solidFill>
                <a:latin typeface="IBM Plex Sans" pitchFamily="34" charset="0"/>
                <a:ea typeface="IBM Plex Sans" pitchFamily="34" charset="-122"/>
                <a:cs typeface="IBM Plex Sans" pitchFamily="34" charset="-120"/>
              </a:rPr>
              <a:t>Spec or PRD as PDF, DOCX or ReqIF</a:t>
            </a:r>
            <a:endParaRPr lang="en-US" sz="1300" dirty="0"/>
          </a:p>
        </p:txBody>
      </p:sp>
      <p:sp>
        <p:nvSpPr>
          <p:cNvPr id="9" name="Text 7"/>
          <p:cNvSpPr/>
          <p:nvPr/>
        </p:nvSpPr>
        <p:spPr>
          <a:xfrm>
            <a:off x="1066800" y="3200896"/>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A8FF"/>
                </a:solidFill>
                <a:latin typeface="IBM Plex Sans" pitchFamily="34" charset="0"/>
                <a:ea typeface="IBM Plex Sans" pitchFamily="34" charset="-122"/>
                <a:cs typeface="IBM Plex Sans" pitchFamily="34" charset="-120"/>
              </a:rPr>
              <a:t>OUTPUT</a:t>
            </a:r>
            <a:endParaRPr lang="en-US" sz="1200" dirty="0"/>
          </a:p>
        </p:txBody>
      </p:sp>
      <p:sp>
        <p:nvSpPr>
          <p:cNvPr id="10" name="Text 8"/>
          <p:cNvSpPr/>
          <p:nvPr/>
        </p:nvSpPr>
        <p:spPr>
          <a:xfrm>
            <a:off x="1066800" y="3503116"/>
            <a:ext cx="287782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5F4FA"/>
                </a:solidFill>
                <a:latin typeface="IBM Plex Sans" pitchFamily="34" charset="0"/>
                <a:ea typeface="IBM Plex Sans" pitchFamily="34" charset="-122"/>
                <a:cs typeface="IBM Plex Sans" pitchFamily="34" charset="-120"/>
              </a:rPr>
              <a:t>Atomic requirements with type, priority and source clause</a:t>
            </a:r>
            <a:endParaRPr lang="en-US" sz="1300" dirty="0"/>
          </a:p>
        </p:txBody>
      </p:sp>
      <p:sp>
        <p:nvSpPr>
          <p:cNvPr id="11" name="Text 9"/>
          <p:cNvSpPr/>
          <p:nvPr/>
        </p:nvSpPr>
        <p:spPr>
          <a:xfrm>
            <a:off x="1066800" y="4037707"/>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A8FF"/>
                </a:solidFill>
                <a:latin typeface="IBM Plex Sans" pitchFamily="34" charset="0"/>
                <a:ea typeface="IBM Plex Sans" pitchFamily="34" charset="-122"/>
                <a:cs typeface="IBM Plex Sans" pitchFamily="34" charset="-120"/>
              </a:rPr>
              <a:t>GOLDEN SET</a:t>
            </a:r>
            <a:endParaRPr lang="en-US" sz="1200" dirty="0"/>
          </a:p>
        </p:txBody>
      </p:sp>
      <p:sp>
        <p:nvSpPr>
          <p:cNvPr id="12" name="Text 10"/>
          <p:cNvSpPr/>
          <p:nvPr/>
        </p:nvSpPr>
        <p:spPr>
          <a:xfrm>
            <a:off x="1066800" y="4339927"/>
            <a:ext cx="287782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5F4FA"/>
                </a:solidFill>
                <a:latin typeface="IBM Plex Sans" pitchFamily="34" charset="0"/>
                <a:ea typeface="IBM Plex Sans" pitchFamily="34" charset="-122"/>
                <a:cs typeface="IBM Plex Sans" pitchFamily="34" charset="-120"/>
              </a:rPr>
              <a:t>NVMe 2.0 Base, ZNS, UFS 4.0 and 2 internal PRDs, about 2,500 labelled requirements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419600" y="2012950"/>
          <a:ext cx="6959600" cy="3233440"/>
        </p:xfrm>
        <a:graphic>
          <a:graphicData uri="http://schemas.openxmlformats.org/drawingml/2006/table">
            <a:tbl>
              <a:tblPr/>
              <a:tblGrid>
                <a:gridCol w="4175760"/>
                <a:gridCol w="1531112"/>
                <a:gridCol w="1252728"/>
              </a:tblGrid>
              <a:tr h="359271">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KPI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solidFill>
                      <a:srgbClr val="E4E2EB"/>
                    </a:solidFill>
                  </a:tcPr>
                </a:tc>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Target (Tier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solidFill>
                      <a:srgbClr val="E4E2EB"/>
                    </a:solidFill>
                  </a:tcPr>
                </a:tc>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Min floor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solidFill>
                      <a:srgbClr val="E4E2EB"/>
                    </a:solidFill>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Atomic requirement extraction recall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F6B40"/>
                          </a:solidFill>
                          <a:latin typeface="IBM Plex Sans" pitchFamily="34" charset="0"/>
                          <a:ea typeface="IBM Plex Sans" pitchFamily="34" charset="-122"/>
                          <a:cs typeface="IBM Plex Sans" pitchFamily="34" charset="-120"/>
                        </a:rPr>
                        <a:t>≥95%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Classification macro-F1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F6B40"/>
                          </a:solidFill>
                          <a:latin typeface="IBM Plex Sans" pitchFamily="34" charset="0"/>
                          <a:ea typeface="IBM Plex Sans" pitchFamily="34" charset="-122"/>
                          <a:cs typeface="IBM Plex Sans" pitchFamily="34" charset="-120"/>
                        </a:rPr>
                        <a:t>≥0.90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0.82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Source-clause traceability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F6B40"/>
                          </a:solidFill>
                          <a:latin typeface="IBM Plex Sans" pitchFamily="34" charset="0"/>
                          <a:ea typeface="IBM Plex Sans" pitchFamily="34" charset="-122"/>
                          <a:cs typeface="IBM Plex Sans" pitchFamily="34" charset="-120"/>
                        </a:rPr>
                        <a:t>100%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98%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Hallucinated requirements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F6B40"/>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n/a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Run-to-run agreement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F6B40"/>
                          </a:solidFill>
                          <a:latin typeface="IBM Plex Sans" pitchFamily="34" charset="0"/>
                          <a:ea typeface="IBM Plex Sans" pitchFamily="34" charset="-122"/>
                          <a:cs typeface="IBM Plex Sans" pitchFamily="34" charset="-120"/>
                        </a:rPr>
                        <a:t>≥97%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n/a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Throughput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F6B40"/>
                          </a:solidFill>
                          <a:latin typeface="IBM Plex Sans" pitchFamily="34" charset="0"/>
                          <a:ea typeface="IBM Plex Sans" pitchFamily="34" charset="-122"/>
                          <a:cs typeface="IBM Plex Sans" pitchFamily="34" charset="-120"/>
                        </a:rPr>
                        <a:t>≥300 pages/hr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n/a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Manual parsing effort saved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F6B40"/>
                          </a:solidFill>
                          <a:latin typeface="IBM Plex Sans" pitchFamily="34" charset="0"/>
                          <a:ea typeface="IBM Plex Sans" pitchFamily="34" charset="-122"/>
                          <a:cs typeface="IBM Plex Sans" pitchFamily="34" charset="-120"/>
                        </a:rPr>
                        <a:t>≥60%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n/a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Product lines without code change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F6B40"/>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n/a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D2"/>
                      </a:solidFill>
                      <a:prstDash val="solid"/>
                      <a:round/>
                      <a:headEnd type="none" w="med" len="med"/>
                      <a:tailEnd type="none" w="med" len="med"/>
                    </a:lnL>
                    <a:lnR w="12700" cap="flat" cmpd="sng" algn="ctr">
                      <a:solidFill>
                        <a:srgbClr val="C5C4D2"/>
                      </a:solidFill>
                      <a:prstDash val="solid"/>
                      <a:round/>
                      <a:headEnd type="none" w="med" len="med"/>
                      <a:tailEnd type="none" w="med" len="med"/>
                    </a:lnR>
                    <a:lnT w="12700" cap="flat" cmpd="sng" algn="ctr">
                      <a:solidFill>
                        <a:srgbClr val="C5C4D2"/>
                      </a:solidFill>
                      <a:prstDash val="solid"/>
                      <a:round/>
                      <a:headEnd type="none" w="med" len="med"/>
                      <a:tailEnd type="none" w="med" len="med"/>
                    </a:lnT>
                    <a:lnB w="12700" cap="flat" cmpd="sng" algn="ctr">
                      <a:solidFill>
                        <a:srgbClr val="C5C4D2"/>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E"/>
        </a:solidFill>
      </p:bgPr>
    </p:bg>
    <p:spTree>
      <p:nvGrpSpPr>
        <p:cNvPr id="1" name=""/>
        <p:cNvGrpSpPr/>
        <p:nvPr/>
      </p:nvGrpSpPr>
      <p:grpSpPr>
        <a:xfrm>
          <a:off x="0" y="0"/>
          <a:ext cx="0" cy="0"/>
          <a:chOff x="0" y="0"/>
          <a:chExt cx="0" cy="0"/>
        </a:xfrm>
      </p:grpSpPr>
      <p:sp>
        <p:nvSpPr>
          <p:cNvPr id="2" name="Text 0"/>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1842"/>
                </a:solidFill>
                <a:latin typeface="IBM Plex Sans" pitchFamily="34" charset="0"/>
                <a:ea typeface="IBM Plex Sans" pitchFamily="34" charset="-122"/>
                <a:cs typeface="IBM Plex Sans" pitchFamily="34" charset="-120"/>
              </a:rPr>
              <a:t>Each phase has a clear bar to clear</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564580"/>
          <a:ext cx="10566400" cy="3658394"/>
        </p:xfrm>
        <a:graphic>
          <a:graphicData uri="http://schemas.openxmlformats.org/drawingml/2006/table">
            <a:tbl>
              <a:tblPr/>
              <a:tblGrid>
                <a:gridCol w="633984"/>
                <a:gridCol w="3698240"/>
                <a:gridCol w="3909568"/>
                <a:gridCol w="1162304"/>
                <a:gridCol w="1162304"/>
              </a:tblGrid>
              <a:tr h="332581">
                <a:tc>
                  <a:txBody>
                    <a:bodyPr/>
                    <a:lstStyle/>
                    <a:p>
                      <a:pPr indent="0" marL="0">
                        <a:lnSpc>
                          <a:spcPts val="1680"/>
                        </a:lnSpc>
                        <a:buNone/>
                      </a:pPr>
                      <a:r>
                        <a:rPr lang="en-US" sz="1200" b="1" dirty="0">
                          <a:solidFill>
                            <a:srgbClr val="1C1842"/>
                          </a:solidFill>
                          <a:latin typeface="IBM Plex Sans" pitchFamily="34" charset="0"/>
                          <a:ea typeface="IBM Plex Sans" pitchFamily="34" charset="-122"/>
                          <a:cs typeface="IBM Plex Sans" pitchFamily="34" charset="-120"/>
                        </a:rPr>
                        <a:t>Phase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680"/>
                        </a:lnSpc>
                        <a:buNone/>
                      </a:pPr>
                      <a:r>
                        <a:rPr lang="en-US" sz="1200" b="1" dirty="0">
                          <a:solidFill>
                            <a:srgbClr val="1C1842"/>
                          </a:solidFill>
                          <a:latin typeface="IBM Plex Sans" pitchFamily="34" charset="0"/>
                          <a:ea typeface="IBM Plex Sans" pitchFamily="34" charset="-122"/>
                          <a:cs typeface="IBM Plex Sans" pitchFamily="34" charset="-120"/>
                        </a:rPr>
                        <a:t>Component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680"/>
                        </a:lnSpc>
                        <a:buNone/>
                      </a:pPr>
                      <a:r>
                        <a:rPr lang="en-US" sz="1200" b="1" dirty="0">
                          <a:solidFill>
                            <a:srgbClr val="1C1842"/>
                          </a:solidFill>
                          <a:latin typeface="IBM Plex Sans" pitchFamily="34" charset="0"/>
                          <a:ea typeface="IBM Plex Sans" pitchFamily="34" charset="-122"/>
                          <a:cs typeface="IBM Plex Sans" pitchFamily="34" charset="-120"/>
                        </a:rPr>
                        <a:t>Headline KPI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680"/>
                        </a:lnSpc>
                        <a:buNone/>
                      </a:pPr>
                      <a:r>
                        <a:rPr lang="en-US" sz="1200" b="1" dirty="0">
                          <a:solidFill>
                            <a:srgbClr val="1C1842"/>
                          </a:solidFill>
                          <a:latin typeface="IBM Plex Sans" pitchFamily="34" charset="0"/>
                          <a:ea typeface="IBM Plex Sans" pitchFamily="34" charset="-122"/>
                          <a:cs typeface="IBM Plex Sans" pitchFamily="34" charset="-120"/>
                        </a:rPr>
                        <a:t>Target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680"/>
                        </a:lnSpc>
                        <a:buNone/>
                      </a:pPr>
                      <a:r>
                        <a:rPr lang="en-US" sz="1200" b="1" dirty="0">
                          <a:solidFill>
                            <a:srgbClr val="1C1842"/>
                          </a:solidFill>
                          <a:latin typeface="IBM Plex Sans" pitchFamily="34" charset="0"/>
                          <a:ea typeface="IBM Plex Sans" pitchFamily="34" charset="-122"/>
                          <a:cs typeface="IBM Plex Sans" pitchFamily="34" charset="-120"/>
                        </a:rPr>
                        <a:t>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r>
              <a:tr h="332581">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NL Req Parsing &amp; Classification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Classification macro-F1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F6B40"/>
                          </a:solidFill>
                          <a:latin typeface="IBM Plex Sans" pitchFamily="34" charset="0"/>
                          <a:ea typeface="IBM Plex Sans" pitchFamily="34" charset="-122"/>
                          <a:cs typeface="IBM Plex Sans" pitchFamily="34" charset="-120"/>
                        </a:rPr>
                        <a:t>≥0.90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0.82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Effort Estimator ML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Mean relative estimation error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F6B40"/>
                          </a:solidFill>
                          <a:latin typeface="IBM Plex Sans" pitchFamily="34" charset="0"/>
                          <a:ea typeface="IBM Plex Sans" pitchFamily="34" charset="-122"/>
                          <a:cs typeface="IBM Plex Sans" pitchFamily="34" charset="-120"/>
                        </a:rPr>
                        <a:t>≤20%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Scenario + LLM Test Case Gen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Requirement coverage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F6B40"/>
                          </a:solidFill>
                          <a:latin typeface="IBM Plex Sans" pitchFamily="34" charset="0"/>
                          <a:ea typeface="IBM Plex Sans" pitchFamily="34" charset="-122"/>
                          <a:cs typeface="IBM Plex Sans" pitchFamily="34" charset="-120"/>
                        </a:rPr>
                        <a:t>≥95%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85%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IaC Provisioner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First-attempt provisioning success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F6B40"/>
                          </a:solidFill>
                          <a:latin typeface="IBM Plex Sans" pitchFamily="34" charset="0"/>
                          <a:ea typeface="IBM Plex Sans" pitchFamily="34" charset="-122"/>
                          <a:cs typeface="IBM Plex Sans" pitchFamily="34" charset="-120"/>
                        </a:rPr>
                        <a:t>≥95%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85%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Self-Healing Script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False heals masking a product defect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F6B40"/>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Defect Classifier &amp; Severity 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Critical (S1) defect recall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F6B40"/>
                          </a:solidFill>
                          <a:latin typeface="IBM Plex Sans" pitchFamily="34" charset="0"/>
                          <a:ea typeface="IBM Plex Sans" pitchFamily="34" charset="-122"/>
                          <a:cs typeface="IBM Plex Sans" pitchFamily="34" charset="-120"/>
                        </a:rPr>
                        <a:t>≥98%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Predictive QA ML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Defect-prone module AUC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F6B40"/>
                          </a:solidFill>
                          <a:latin typeface="IBM Plex Sans" pitchFamily="34" charset="0"/>
                          <a:ea typeface="IBM Plex Sans" pitchFamily="34" charset="-122"/>
                          <a:cs typeface="IBM Plex Sans" pitchFamily="34" charset="-120"/>
                        </a:rPr>
                        <a:t>≥0.80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0.70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Knowledge Extractor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Knowledge-base retrieval hit@5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F6B40"/>
                          </a:solidFill>
                          <a:latin typeface="IBM Plex Sans" pitchFamily="34" charset="0"/>
                          <a:ea typeface="IBM Plex Sans" pitchFamily="34" charset="-122"/>
                          <a:cs typeface="IBM Plex Sans" pitchFamily="34" charset="-120"/>
                        </a:rPr>
                        <a:t>≥85%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70%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Release Gate Validator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False Go on seeded blockers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F6B40"/>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Anomaly Detection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Field anomaly recall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F6B40"/>
                          </a:solidFill>
                          <a:latin typeface="IBM Plex Sans" pitchFamily="34" charset="0"/>
                          <a:ea typeface="IBM Plex Sans" pitchFamily="34" charset="-122"/>
                          <a:cs typeface="IBM Plex Sans" pitchFamily="34" charset="-120"/>
                        </a:rPr>
                        <a:t>≥0.90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680"/>
                        </a:lnSpc>
                        <a:buNone/>
                      </a:pPr>
                      <a:r>
                        <a:rPr lang="en-US" sz="1200" dirty="0">
                          <a:solidFill>
                            <a:srgbClr val="1C1842"/>
                          </a:solidFill>
                          <a:latin typeface="IBM Plex Sans" pitchFamily="34" charset="0"/>
                          <a:ea typeface="IBM Plex Sans" pitchFamily="34" charset="-122"/>
                          <a:cs typeface="IBM Plex Sans" pitchFamily="34" charset="-120"/>
                        </a:rPr>
                        <a:t>0.80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bl>
          </a:graphicData>
        </a:graphic>
      </p:graphicFrame>
      <p:sp>
        <p:nvSpPr>
          <p:cNvPr id="4" name="Text 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One KPI shown per phase; each of the 30 components has 2 to 4 efficacy KPIs plus reuse, scale, trust and value targets</a:t>
            </a:r>
            <a:endParaRPr lang="en-US" sz="1200" dirty="0"/>
          </a:p>
        </p:txBody>
      </p:sp>
      <p:sp>
        <p:nvSpPr>
          <p:cNvPr id="5" name="Text 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FA"/>
        </a:solidFill>
      </p:bgPr>
    </p:bg>
    <p:spTree>
      <p:nvGrpSpPr>
        <p:cNvPr id="1" name=""/>
        <p:cNvGrpSpPr/>
        <p:nvPr/>
      </p:nvGrpSpPr>
      <p:grpSpPr>
        <a:xfrm>
          <a:off x="0" y="0"/>
          <a:ext cx="0" cy="0"/>
          <a:chOff x="0" y="0"/>
          <a:chExt cx="0" cy="0"/>
        </a:xfrm>
      </p:grpSpPr>
      <p:sp>
        <p:nvSpPr>
          <p:cNvPr id="2" name="Text 0"/>
          <p:cNvSpPr/>
          <p:nvPr/>
        </p:nvSpPr>
        <p:spPr>
          <a:xfrm>
            <a:off x="812800" y="81280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1842"/>
                </a:solidFill>
                <a:latin typeface="IBM Plex Sans" pitchFamily="34" charset="0"/>
                <a:ea typeface="IBM Plex Sans" pitchFamily="34" charset="-122"/>
                <a:cs typeface="IBM Plex Sans" pitchFamily="34" charset="-120"/>
              </a:rPr>
              <a:t>Ten shared services remove duplication inside the 30 components too</a:t>
            </a:r>
            <a:endParaRPr lang="en-US" sz="3200" dirty="0"/>
          </a:p>
        </p:txBody>
      </p:sp>
      <p:sp>
        <p:nvSpPr>
          <p:cNvPr id="3" name="Shape 1"/>
          <p:cNvSpPr/>
          <p:nvPr/>
        </p:nvSpPr>
        <p:spPr>
          <a:xfrm>
            <a:off x="815975" y="2014736"/>
            <a:ext cx="1984970" cy="1177131"/>
          </a:xfrm>
          <a:prstGeom prst="roundRect">
            <a:avLst>
              <a:gd name="adj" fmla="val 8361"/>
            </a:avLst>
          </a:prstGeom>
          <a:solidFill>
            <a:srgbClr val="FCFCFE"/>
          </a:solidFill>
          <a:ln w="6350">
            <a:solidFill>
              <a:srgbClr val="DDD9EE"/>
            </a:solidFill>
            <a:prstDash val="solid"/>
          </a:ln>
        </p:spPr>
      </p:sp>
      <p:sp>
        <p:nvSpPr>
          <p:cNvPr id="4" name="Text 2"/>
          <p:cNvSpPr/>
          <p:nvPr/>
        </p:nvSpPr>
        <p:spPr>
          <a:xfrm>
            <a:off x="996950" y="2195711"/>
            <a:ext cx="16738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D4AE0"/>
                </a:solidFill>
                <a:latin typeface="JetBrains Mono" pitchFamily="34" charset="0"/>
                <a:ea typeface="JetBrains Mono" pitchFamily="34" charset="-122"/>
                <a:cs typeface="JetBrains Mono" pitchFamily="34" charset="-120"/>
              </a:rPr>
              <a:t>30</a:t>
            </a:r>
            <a:endParaRPr lang="en-US" sz="2800" dirty="0"/>
          </a:p>
        </p:txBody>
      </p:sp>
      <p:sp>
        <p:nvSpPr>
          <p:cNvPr id="5" name="Text 3"/>
          <p:cNvSpPr/>
          <p:nvPr/>
        </p:nvSpPr>
        <p:spPr>
          <a:xfrm>
            <a:off x="996950" y="2614811"/>
            <a:ext cx="167382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842"/>
                </a:solidFill>
                <a:latin typeface="IBM Plex Sans" pitchFamily="34" charset="0"/>
                <a:ea typeface="IBM Plex Sans" pitchFamily="34" charset="-122"/>
                <a:cs typeface="IBM Plex Sans" pitchFamily="34" charset="-120"/>
              </a:rPr>
              <a:t>Golden dataset &amp; benchmark harness</a:t>
            </a:r>
            <a:endParaRPr lang="en-US" sz="1200" dirty="0"/>
          </a:p>
        </p:txBody>
      </p:sp>
      <p:sp>
        <p:nvSpPr>
          <p:cNvPr id="6" name="Shape 4"/>
          <p:cNvSpPr/>
          <p:nvPr/>
        </p:nvSpPr>
        <p:spPr>
          <a:xfrm>
            <a:off x="2959695" y="2014736"/>
            <a:ext cx="1984970" cy="1177131"/>
          </a:xfrm>
          <a:prstGeom prst="roundRect">
            <a:avLst>
              <a:gd name="adj" fmla="val 8361"/>
            </a:avLst>
          </a:prstGeom>
          <a:solidFill>
            <a:srgbClr val="FCFCFE"/>
          </a:solidFill>
          <a:ln w="6350">
            <a:solidFill>
              <a:srgbClr val="DDD9EE"/>
            </a:solidFill>
            <a:prstDash val="solid"/>
          </a:ln>
        </p:spPr>
      </p:sp>
      <p:sp>
        <p:nvSpPr>
          <p:cNvPr id="7" name="Text 5"/>
          <p:cNvSpPr/>
          <p:nvPr/>
        </p:nvSpPr>
        <p:spPr>
          <a:xfrm>
            <a:off x="3140670" y="2195711"/>
            <a:ext cx="16738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D4AE0"/>
                </a:solidFill>
                <a:latin typeface="JetBrains Mono" pitchFamily="34" charset="0"/>
                <a:ea typeface="JetBrains Mono" pitchFamily="34" charset="-122"/>
                <a:cs typeface="JetBrains Mono" pitchFamily="34" charset="-120"/>
              </a:rPr>
              <a:t>22</a:t>
            </a:r>
            <a:endParaRPr lang="en-US" sz="2800" dirty="0"/>
          </a:p>
        </p:txBody>
      </p:sp>
      <p:sp>
        <p:nvSpPr>
          <p:cNvPr id="8" name="Text 6"/>
          <p:cNvSpPr/>
          <p:nvPr/>
        </p:nvSpPr>
        <p:spPr>
          <a:xfrm>
            <a:off x="3140670" y="2614811"/>
            <a:ext cx="167382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842"/>
                </a:solidFill>
                <a:latin typeface="IBM Plex Sans" pitchFamily="34" charset="0"/>
                <a:ea typeface="IBM Plex Sans" pitchFamily="34" charset="-122"/>
                <a:cs typeface="IBM Plex Sans" pitchFamily="34" charset="-120"/>
              </a:rPr>
              <a:t>LLM gateway &amp; prompt registry</a:t>
            </a:r>
            <a:endParaRPr lang="en-US" sz="1200" dirty="0"/>
          </a:p>
        </p:txBody>
      </p:sp>
      <p:sp>
        <p:nvSpPr>
          <p:cNvPr id="9" name="Shape 7"/>
          <p:cNvSpPr/>
          <p:nvPr/>
        </p:nvSpPr>
        <p:spPr>
          <a:xfrm>
            <a:off x="5103416" y="2014736"/>
            <a:ext cx="1985070" cy="1177131"/>
          </a:xfrm>
          <a:prstGeom prst="roundRect">
            <a:avLst>
              <a:gd name="adj" fmla="val 8361"/>
            </a:avLst>
          </a:prstGeom>
          <a:solidFill>
            <a:srgbClr val="FCFCFE"/>
          </a:solidFill>
          <a:ln w="6350">
            <a:solidFill>
              <a:srgbClr val="DDD9EE"/>
            </a:solidFill>
            <a:prstDash val="solid"/>
          </a:ln>
        </p:spPr>
      </p:sp>
      <p:sp>
        <p:nvSpPr>
          <p:cNvPr id="10" name="Text 8"/>
          <p:cNvSpPr/>
          <p:nvPr/>
        </p:nvSpPr>
        <p:spPr>
          <a:xfrm>
            <a:off x="5284391" y="2195711"/>
            <a:ext cx="16739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D4AE0"/>
                </a:solidFill>
                <a:latin typeface="JetBrains Mono" pitchFamily="34" charset="0"/>
                <a:ea typeface="JetBrains Mono" pitchFamily="34" charset="-122"/>
                <a:cs typeface="JetBrains Mono" pitchFamily="34" charset="-120"/>
              </a:rPr>
              <a:t>9</a:t>
            </a:r>
            <a:endParaRPr lang="en-US" sz="2800" dirty="0"/>
          </a:p>
        </p:txBody>
      </p:sp>
      <p:sp>
        <p:nvSpPr>
          <p:cNvPr id="11" name="Text 9"/>
          <p:cNvSpPr/>
          <p:nvPr/>
        </p:nvSpPr>
        <p:spPr>
          <a:xfrm>
            <a:off x="5284391" y="2614811"/>
            <a:ext cx="167392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842"/>
                </a:solidFill>
                <a:latin typeface="IBM Plex Sans" pitchFamily="34" charset="0"/>
                <a:ea typeface="IBM Plex Sans" pitchFamily="34" charset="-122"/>
                <a:cs typeface="IBM Plex Sans" pitchFamily="34" charset="-120"/>
              </a:rPr>
              <a:t>MLOps pipeline &amp; model registry</a:t>
            </a:r>
            <a:endParaRPr lang="en-US" sz="1200" dirty="0"/>
          </a:p>
        </p:txBody>
      </p:sp>
      <p:sp>
        <p:nvSpPr>
          <p:cNvPr id="12" name="Shape 10"/>
          <p:cNvSpPr/>
          <p:nvPr/>
        </p:nvSpPr>
        <p:spPr>
          <a:xfrm>
            <a:off x="7247235" y="2014736"/>
            <a:ext cx="1984970" cy="1177131"/>
          </a:xfrm>
          <a:prstGeom prst="roundRect">
            <a:avLst>
              <a:gd name="adj" fmla="val 8361"/>
            </a:avLst>
          </a:prstGeom>
          <a:solidFill>
            <a:srgbClr val="FCFCFE"/>
          </a:solidFill>
          <a:ln w="6350">
            <a:solidFill>
              <a:srgbClr val="DDD9EE"/>
            </a:solidFill>
            <a:prstDash val="solid"/>
          </a:ln>
        </p:spPr>
      </p:sp>
      <p:sp>
        <p:nvSpPr>
          <p:cNvPr id="13" name="Text 11"/>
          <p:cNvSpPr/>
          <p:nvPr/>
        </p:nvSpPr>
        <p:spPr>
          <a:xfrm>
            <a:off x="7428210" y="2195711"/>
            <a:ext cx="16738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D4AE0"/>
                </a:solidFill>
                <a:latin typeface="JetBrains Mono" pitchFamily="34" charset="0"/>
                <a:ea typeface="JetBrains Mono" pitchFamily="34" charset="-122"/>
                <a:cs typeface="JetBrains Mono" pitchFamily="34" charset="-120"/>
              </a:rPr>
              <a:t>7</a:t>
            </a:r>
            <a:endParaRPr lang="en-US" sz="2800" dirty="0"/>
          </a:p>
        </p:txBody>
      </p:sp>
      <p:sp>
        <p:nvSpPr>
          <p:cNvPr id="14" name="Text 12"/>
          <p:cNvSpPr/>
          <p:nvPr/>
        </p:nvSpPr>
        <p:spPr>
          <a:xfrm>
            <a:off x="7428210" y="2614811"/>
            <a:ext cx="167382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842"/>
                </a:solidFill>
                <a:latin typeface="IBM Plex Sans" pitchFamily="34" charset="0"/>
                <a:ea typeface="IBM Plex Sans" pitchFamily="34" charset="-122"/>
                <a:cs typeface="IBM Plex Sans" pitchFamily="34" charset="-120"/>
              </a:rPr>
              <a:t>Rule &amp; policy engine</a:t>
            </a:r>
            <a:endParaRPr lang="en-US" sz="1200" dirty="0"/>
          </a:p>
        </p:txBody>
      </p:sp>
      <p:sp>
        <p:nvSpPr>
          <p:cNvPr id="15" name="Shape 13"/>
          <p:cNvSpPr/>
          <p:nvPr/>
        </p:nvSpPr>
        <p:spPr>
          <a:xfrm>
            <a:off x="9390955" y="2014736"/>
            <a:ext cx="1985070" cy="1177131"/>
          </a:xfrm>
          <a:prstGeom prst="roundRect">
            <a:avLst>
              <a:gd name="adj" fmla="val 8361"/>
            </a:avLst>
          </a:prstGeom>
          <a:solidFill>
            <a:srgbClr val="FCFCFE"/>
          </a:solidFill>
          <a:ln w="6350">
            <a:solidFill>
              <a:srgbClr val="DDD9EE"/>
            </a:solidFill>
            <a:prstDash val="solid"/>
          </a:ln>
        </p:spPr>
      </p:sp>
      <p:sp>
        <p:nvSpPr>
          <p:cNvPr id="16" name="Text 14"/>
          <p:cNvSpPr/>
          <p:nvPr/>
        </p:nvSpPr>
        <p:spPr>
          <a:xfrm>
            <a:off x="9571930" y="2195711"/>
            <a:ext cx="16739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D4AE0"/>
                </a:solidFill>
                <a:latin typeface="JetBrains Mono" pitchFamily="34" charset="0"/>
                <a:ea typeface="JetBrains Mono" pitchFamily="34" charset="-122"/>
                <a:cs typeface="JetBrains Mono" pitchFamily="34" charset="-120"/>
              </a:rPr>
              <a:t>6</a:t>
            </a:r>
            <a:endParaRPr lang="en-US" sz="2800" dirty="0"/>
          </a:p>
        </p:txBody>
      </p:sp>
      <p:sp>
        <p:nvSpPr>
          <p:cNvPr id="17" name="Text 15"/>
          <p:cNvSpPr/>
          <p:nvPr/>
        </p:nvSpPr>
        <p:spPr>
          <a:xfrm>
            <a:off x="9571930" y="2614811"/>
            <a:ext cx="167392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842"/>
                </a:solidFill>
                <a:latin typeface="IBM Plex Sans" pitchFamily="34" charset="0"/>
                <a:ea typeface="IBM Plex Sans" pitchFamily="34" charset="-122"/>
                <a:cs typeface="IBM Plex Sans" pitchFamily="34" charset="-120"/>
              </a:rPr>
              <a:t>Embedding &amp; similarity service</a:t>
            </a:r>
            <a:endParaRPr lang="en-US" sz="1200" dirty="0"/>
          </a:p>
        </p:txBody>
      </p:sp>
      <p:sp>
        <p:nvSpPr>
          <p:cNvPr id="18" name="Shape 16"/>
          <p:cNvSpPr/>
          <p:nvPr/>
        </p:nvSpPr>
        <p:spPr>
          <a:xfrm>
            <a:off x="815975" y="3350617"/>
            <a:ext cx="1984970" cy="1177131"/>
          </a:xfrm>
          <a:prstGeom prst="roundRect">
            <a:avLst>
              <a:gd name="adj" fmla="val 8361"/>
            </a:avLst>
          </a:prstGeom>
          <a:solidFill>
            <a:srgbClr val="FCFCFE"/>
          </a:solidFill>
          <a:ln w="6350">
            <a:solidFill>
              <a:srgbClr val="DDD9EE"/>
            </a:solidFill>
            <a:prstDash val="solid"/>
          </a:ln>
        </p:spPr>
      </p:sp>
      <p:sp>
        <p:nvSpPr>
          <p:cNvPr id="19" name="Text 17"/>
          <p:cNvSpPr/>
          <p:nvPr/>
        </p:nvSpPr>
        <p:spPr>
          <a:xfrm>
            <a:off x="996950" y="3531592"/>
            <a:ext cx="16738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D4AE0"/>
                </a:solidFill>
                <a:latin typeface="JetBrains Mono" pitchFamily="34" charset="0"/>
                <a:ea typeface="JetBrains Mono" pitchFamily="34" charset="-122"/>
                <a:cs typeface="JetBrains Mono" pitchFamily="34" charset="-120"/>
              </a:rPr>
              <a:t>6</a:t>
            </a:r>
            <a:endParaRPr lang="en-US" sz="2800" dirty="0"/>
          </a:p>
        </p:txBody>
      </p:sp>
      <p:sp>
        <p:nvSpPr>
          <p:cNvPr id="20" name="Text 18"/>
          <p:cNvSpPr/>
          <p:nvPr/>
        </p:nvSpPr>
        <p:spPr>
          <a:xfrm>
            <a:off x="996950" y="3950692"/>
            <a:ext cx="167382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842"/>
                </a:solidFill>
                <a:latin typeface="IBM Plex Sans" pitchFamily="34" charset="0"/>
                <a:ea typeface="IBM Plex Sans" pitchFamily="34" charset="-122"/>
                <a:cs typeface="IBM Plex Sans" pitchFamily="34" charset="-120"/>
              </a:rPr>
              <a:t>Log parser &amp; failure signatures</a:t>
            </a:r>
            <a:endParaRPr lang="en-US" sz="1200" dirty="0"/>
          </a:p>
        </p:txBody>
      </p:sp>
      <p:sp>
        <p:nvSpPr>
          <p:cNvPr id="21" name="Shape 19"/>
          <p:cNvSpPr/>
          <p:nvPr/>
        </p:nvSpPr>
        <p:spPr>
          <a:xfrm>
            <a:off x="2959695" y="3350617"/>
            <a:ext cx="1984970" cy="1177131"/>
          </a:xfrm>
          <a:prstGeom prst="roundRect">
            <a:avLst>
              <a:gd name="adj" fmla="val 8361"/>
            </a:avLst>
          </a:prstGeom>
          <a:solidFill>
            <a:srgbClr val="FCFCFE"/>
          </a:solidFill>
          <a:ln w="6350">
            <a:solidFill>
              <a:srgbClr val="DDD9EE"/>
            </a:solidFill>
            <a:prstDash val="solid"/>
          </a:ln>
        </p:spPr>
      </p:sp>
      <p:sp>
        <p:nvSpPr>
          <p:cNvPr id="22" name="Text 20"/>
          <p:cNvSpPr/>
          <p:nvPr/>
        </p:nvSpPr>
        <p:spPr>
          <a:xfrm>
            <a:off x="3140670" y="3531592"/>
            <a:ext cx="16738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D4AE0"/>
                </a:solidFill>
                <a:latin typeface="JetBrains Mono" pitchFamily="34" charset="0"/>
                <a:ea typeface="JetBrains Mono" pitchFamily="34" charset="-122"/>
                <a:cs typeface="JetBrains Mono" pitchFamily="34" charset="-120"/>
              </a:rPr>
              <a:t>5</a:t>
            </a:r>
            <a:endParaRPr lang="en-US" sz="2800" dirty="0"/>
          </a:p>
        </p:txBody>
      </p:sp>
      <p:sp>
        <p:nvSpPr>
          <p:cNvPr id="23" name="Text 21"/>
          <p:cNvSpPr/>
          <p:nvPr/>
        </p:nvSpPr>
        <p:spPr>
          <a:xfrm>
            <a:off x="3140670" y="3950692"/>
            <a:ext cx="167382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842"/>
                </a:solidFill>
                <a:latin typeface="IBM Plex Sans" pitchFamily="34" charset="0"/>
                <a:ea typeface="IBM Plex Sans" pitchFamily="34" charset="-122"/>
                <a:cs typeface="IBM Plex Sans" pitchFamily="34" charset="-120"/>
              </a:rPr>
              <a:t>Risk scoring library</a:t>
            </a:r>
            <a:endParaRPr lang="en-US" sz="1200" dirty="0"/>
          </a:p>
        </p:txBody>
      </p:sp>
      <p:sp>
        <p:nvSpPr>
          <p:cNvPr id="24" name="Shape 22"/>
          <p:cNvSpPr/>
          <p:nvPr/>
        </p:nvSpPr>
        <p:spPr>
          <a:xfrm>
            <a:off x="5103416" y="3350617"/>
            <a:ext cx="1985070" cy="1177131"/>
          </a:xfrm>
          <a:prstGeom prst="roundRect">
            <a:avLst>
              <a:gd name="adj" fmla="val 8361"/>
            </a:avLst>
          </a:prstGeom>
          <a:solidFill>
            <a:srgbClr val="FCFCFE"/>
          </a:solidFill>
          <a:ln w="6350">
            <a:solidFill>
              <a:srgbClr val="DDD9EE"/>
            </a:solidFill>
            <a:prstDash val="solid"/>
          </a:ln>
        </p:spPr>
      </p:sp>
      <p:sp>
        <p:nvSpPr>
          <p:cNvPr id="25" name="Text 23"/>
          <p:cNvSpPr/>
          <p:nvPr/>
        </p:nvSpPr>
        <p:spPr>
          <a:xfrm>
            <a:off x="5284391" y="3531592"/>
            <a:ext cx="16739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D4AE0"/>
                </a:solidFill>
                <a:latin typeface="JetBrains Mono" pitchFamily="34" charset="0"/>
                <a:ea typeface="JetBrains Mono" pitchFamily="34" charset="-122"/>
                <a:cs typeface="JetBrains Mono" pitchFamily="34" charset="-120"/>
              </a:rPr>
              <a:t>4</a:t>
            </a:r>
            <a:endParaRPr lang="en-US" sz="2800" dirty="0"/>
          </a:p>
        </p:txBody>
      </p:sp>
      <p:sp>
        <p:nvSpPr>
          <p:cNvPr id="26" name="Text 24"/>
          <p:cNvSpPr/>
          <p:nvPr/>
        </p:nvSpPr>
        <p:spPr>
          <a:xfrm>
            <a:off x="5284391" y="3950692"/>
            <a:ext cx="167392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842"/>
                </a:solidFill>
                <a:latin typeface="IBM Plex Sans" pitchFamily="34" charset="0"/>
                <a:ea typeface="IBM Plex Sans" pitchFamily="34" charset="-122"/>
                <a:cs typeface="IBM Plex Sans" pitchFamily="34" charset="-120"/>
              </a:rPr>
              <a:t>Report &amp; document generator</a:t>
            </a:r>
            <a:endParaRPr lang="en-US" sz="1200" dirty="0"/>
          </a:p>
        </p:txBody>
      </p:sp>
      <p:sp>
        <p:nvSpPr>
          <p:cNvPr id="27" name="Shape 25"/>
          <p:cNvSpPr/>
          <p:nvPr/>
        </p:nvSpPr>
        <p:spPr>
          <a:xfrm>
            <a:off x="7247235" y="3350617"/>
            <a:ext cx="1984970" cy="1177131"/>
          </a:xfrm>
          <a:prstGeom prst="roundRect">
            <a:avLst>
              <a:gd name="adj" fmla="val 8361"/>
            </a:avLst>
          </a:prstGeom>
          <a:solidFill>
            <a:srgbClr val="FCFCFE"/>
          </a:solidFill>
          <a:ln w="6350">
            <a:solidFill>
              <a:srgbClr val="DDD9EE"/>
            </a:solidFill>
            <a:prstDash val="solid"/>
          </a:ln>
        </p:spPr>
      </p:sp>
      <p:sp>
        <p:nvSpPr>
          <p:cNvPr id="28" name="Text 26"/>
          <p:cNvSpPr/>
          <p:nvPr/>
        </p:nvSpPr>
        <p:spPr>
          <a:xfrm>
            <a:off x="7428210" y="3531592"/>
            <a:ext cx="16738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D4AE0"/>
                </a:solidFill>
                <a:latin typeface="JetBrains Mono" pitchFamily="34" charset="0"/>
                <a:ea typeface="JetBrains Mono" pitchFamily="34" charset="-122"/>
                <a:cs typeface="JetBrains Mono" pitchFamily="34" charset="-120"/>
              </a:rPr>
              <a:t>3</a:t>
            </a:r>
            <a:endParaRPr lang="en-US" sz="2800" dirty="0"/>
          </a:p>
        </p:txBody>
      </p:sp>
      <p:sp>
        <p:nvSpPr>
          <p:cNvPr id="29" name="Text 27"/>
          <p:cNvSpPr/>
          <p:nvPr/>
        </p:nvSpPr>
        <p:spPr>
          <a:xfrm>
            <a:off x="7428210" y="3950692"/>
            <a:ext cx="167382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842"/>
                </a:solidFill>
                <a:latin typeface="IBM Plex Sans" pitchFamily="34" charset="0"/>
                <a:ea typeface="IBM Plex Sans" pitchFamily="34" charset="-122"/>
                <a:cs typeface="IBM Plex Sans" pitchFamily="34" charset="-120"/>
              </a:rPr>
              <a:t>Spec &amp; document ingestion</a:t>
            </a:r>
            <a:endParaRPr lang="en-US" sz="1200" dirty="0"/>
          </a:p>
        </p:txBody>
      </p:sp>
      <p:sp>
        <p:nvSpPr>
          <p:cNvPr id="30" name="Shape 28"/>
          <p:cNvSpPr/>
          <p:nvPr/>
        </p:nvSpPr>
        <p:spPr>
          <a:xfrm>
            <a:off x="9390955" y="3350617"/>
            <a:ext cx="1985070" cy="1177131"/>
          </a:xfrm>
          <a:prstGeom prst="roundRect">
            <a:avLst>
              <a:gd name="adj" fmla="val 8361"/>
            </a:avLst>
          </a:prstGeom>
          <a:solidFill>
            <a:srgbClr val="FCFCFE"/>
          </a:solidFill>
          <a:ln w="6350">
            <a:solidFill>
              <a:srgbClr val="DDD9EE"/>
            </a:solidFill>
            <a:prstDash val="solid"/>
          </a:ln>
        </p:spPr>
      </p:sp>
      <p:sp>
        <p:nvSpPr>
          <p:cNvPr id="31" name="Text 29"/>
          <p:cNvSpPr/>
          <p:nvPr/>
        </p:nvSpPr>
        <p:spPr>
          <a:xfrm>
            <a:off x="9571930" y="3531592"/>
            <a:ext cx="16739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D4AE0"/>
                </a:solidFill>
                <a:latin typeface="JetBrains Mono" pitchFamily="34" charset="0"/>
                <a:ea typeface="JetBrains Mono" pitchFamily="34" charset="-122"/>
                <a:cs typeface="JetBrains Mono" pitchFamily="34" charset="-120"/>
              </a:rPr>
              <a:t>3</a:t>
            </a:r>
            <a:endParaRPr lang="en-US" sz="2800" dirty="0"/>
          </a:p>
        </p:txBody>
      </p:sp>
      <p:sp>
        <p:nvSpPr>
          <p:cNvPr id="32" name="Text 30"/>
          <p:cNvSpPr/>
          <p:nvPr/>
        </p:nvSpPr>
        <p:spPr>
          <a:xfrm>
            <a:off x="9571930" y="3950692"/>
            <a:ext cx="167392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842"/>
                </a:solidFill>
                <a:latin typeface="IBM Plex Sans" pitchFamily="34" charset="0"/>
                <a:ea typeface="IBM Plex Sans" pitchFamily="34" charset="-122"/>
                <a:cs typeface="IBM Plex Sans" pitchFamily="34" charset="-120"/>
              </a:rPr>
              <a:t>Time-series anomaly core</a:t>
            </a:r>
            <a:endParaRPr lang="en-US" sz="1200" dirty="0"/>
          </a:p>
        </p:txBody>
      </p:sp>
      <p:sp>
        <p:nvSpPr>
          <p:cNvPr id="33" name="Text 31"/>
          <p:cNvSpPr/>
          <p:nvPr/>
        </p:nvSpPr>
        <p:spPr>
          <a:xfrm>
            <a:off x="812800" y="4835723"/>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4868"/>
                </a:solidFill>
                <a:latin typeface="IBM Plex Sans" pitchFamily="34" charset="0"/>
                <a:ea typeface="IBM Plex Sans" pitchFamily="34" charset="-122"/>
                <a:cs typeface="IBM Plex Sans" pitchFamily="34" charset="-120"/>
              </a:rPr>
              <a:t>The number is how many of the 30 L3 components use the service. A component that re-implements one scores zero on that reuse KPI.</a:t>
            </a:r>
            <a:endParaRPr lang="en-US" sz="1500" dirty="0"/>
          </a:p>
        </p:txBody>
      </p:sp>
      <p:sp>
        <p:nvSpPr>
          <p:cNvPr id="34" name="Text 3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Zion Quality Platform · L3 Agent benchmark KPIs</a:t>
            </a:r>
            <a:endParaRPr lang="en-US" sz="1200" dirty="0"/>
          </a:p>
        </p:txBody>
      </p:sp>
      <p:sp>
        <p:nvSpPr>
          <p:cNvPr id="35" name="Text 3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E"/>
        </a:solidFill>
      </p:bgPr>
    </p:bg>
    <p:spTree>
      <p:nvGrpSpPr>
        <p:cNvPr id="1" name=""/>
        <p:cNvGrpSpPr/>
        <p:nvPr/>
      </p:nvGrpSpPr>
      <p:grpSpPr>
        <a:xfrm>
          <a:off x="0" y="0"/>
          <a:ext cx="0" cy="0"/>
          <a:chOff x="0" y="0"/>
          <a:chExt cx="0" cy="0"/>
        </a:xfrm>
      </p:grpSpPr>
      <p:sp>
        <p:nvSpPr>
          <p:cNvPr id="2" name="Text 0"/>
          <p:cNvSpPr/>
          <p:nvPr/>
        </p:nvSpPr>
        <p:spPr>
          <a:xfrm>
            <a:off x="812800" y="81280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1842"/>
                </a:solidFill>
                <a:latin typeface="IBM Plex Sans" pitchFamily="34" charset="0"/>
                <a:ea typeface="IBM Plex Sans" pitchFamily="34" charset="-122"/>
                <a:cs typeface="IBM Plex Sans" pitchFamily="34" charset="-120"/>
              </a:rPr>
              <a:t>Worked example: the most reusable solution wins, not the most accurate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2011561"/>
          <a:ext cx="10566400" cy="1437084"/>
        </p:xfrm>
        <a:graphic>
          <a:graphicData uri="http://schemas.openxmlformats.org/drawingml/2006/table">
            <a:tbl>
              <a:tblPr/>
              <a:tblGrid>
                <a:gridCol w="1267968"/>
                <a:gridCol w="950976"/>
                <a:gridCol w="950976"/>
                <a:gridCol w="950976"/>
                <a:gridCol w="950976"/>
                <a:gridCol w="950976"/>
                <a:gridCol w="950976"/>
                <a:gridCol w="1479296"/>
                <a:gridCol w="2113280"/>
              </a:tblGrid>
              <a:tr h="359271">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Group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D1 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D2 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D3 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D4 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D5 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D6 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Composite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Tier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grp3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3F4EA"/>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3F4EA"/>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92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3F4EA"/>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3F4EA"/>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3F4EA"/>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3F4EA"/>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3F4EA"/>
                    </a:solidFill>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87.5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3F4EA"/>
                    </a:solidFill>
                  </a:tcPr>
                </a:tc>
                <a:tc>
                  <a:txBody>
                    <a:bodyPr/>
                    <a:lstStyle/>
                    <a:p>
                      <a:pPr indent="0" marL="0">
                        <a:lnSpc>
                          <a:spcPts val="1820"/>
                        </a:lnSpc>
                        <a:buNone/>
                      </a:pPr>
                      <a:r>
                        <a:rPr lang="en-US" sz="1300" dirty="0">
                          <a:solidFill>
                            <a:srgbClr val="1F6B40"/>
                          </a:solidFill>
                          <a:latin typeface="IBM Plex Sans" pitchFamily="34" charset="0"/>
                          <a:ea typeface="IBM Plex Sans" pitchFamily="34" charset="-122"/>
                          <a:cs typeface="IBM Plex Sans" pitchFamily="34" charset="-120"/>
                        </a:rPr>
                        <a:t>Tier 1 · Certified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3F4EA"/>
                    </a:solidFill>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grp1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78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75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82.5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D5F99"/>
                          </a:solidFill>
                          <a:latin typeface="IBM Plex Sans" pitchFamily="34" charset="0"/>
                          <a:ea typeface="IBM Plex Sans" pitchFamily="34" charset="-122"/>
                          <a:cs typeface="IBM Plex Sans" pitchFamily="34" charset="-120"/>
                        </a:rPr>
                        <a:t>Tier 2 · Conditional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grp2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91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70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80.3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D5F99"/>
                          </a:solidFill>
                          <a:latin typeface="IBM Plex Sans" pitchFamily="34" charset="0"/>
                          <a:ea typeface="IBM Plex Sans" pitchFamily="34" charset="-122"/>
                          <a:cs typeface="IBM Plex Sans" pitchFamily="34" charset="-120"/>
                        </a:rPr>
                        <a:t>Tier 2 · Conditional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bl>
          </a:graphicData>
        </a:graphic>
      </p:graphicFrame>
      <p:sp>
        <p:nvSpPr>
          <p:cNvPr id="4" name="Shape 1"/>
          <p:cNvSpPr/>
          <p:nvPr/>
        </p:nvSpPr>
        <p:spPr>
          <a:xfrm>
            <a:off x="812800" y="3766145"/>
            <a:ext cx="10566400" cy="990600"/>
          </a:xfrm>
          <a:prstGeom prst="roundRect">
            <a:avLst>
              <a:gd name="adj" fmla="val 10256"/>
            </a:avLst>
          </a:prstGeom>
          <a:solidFill>
            <a:srgbClr val="EDE8FC"/>
          </a:solidFill>
          <a:ln/>
        </p:spPr>
      </p:sp>
      <p:pic>
        <p:nvPicPr>
          <p:cNvPr id="5" name="Image 0" descr="Lightbulb">    </p:cNvPr>
          <p:cNvPicPr>
            <a:picLocks noChangeAspect="1"/>
          </p:cNvPicPr>
          <p:nvPr/>
        </p:nvPicPr>
        <p:blipFill>
          <a:blip r:embed="rId1"/>
          <a:srcRect l="0" r="0" t="0" b="0"/>
          <a:stretch/>
        </p:blipFill>
        <p:spPr>
          <a:xfrm>
            <a:off x="1066800" y="4083645"/>
            <a:ext cx="355600" cy="355600"/>
          </a:xfrm>
          <a:prstGeom prst="rect">
            <a:avLst/>
          </a:prstGeom>
        </p:spPr>
      </p:pic>
      <p:sp>
        <p:nvSpPr>
          <p:cNvPr id="6" name="Text 2"/>
          <p:cNvSpPr/>
          <p:nvPr/>
        </p:nvSpPr>
        <p:spPr>
          <a:xfrm>
            <a:off x="1625600" y="3994745"/>
            <a:ext cx="978458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842"/>
                </a:solidFill>
                <a:latin typeface="IBM Plex Sans" pitchFamily="34" charset="0"/>
                <a:ea typeface="IBM Plex Sans" pitchFamily="34" charset="-122"/>
                <a:cs typeface="IBM Plex Sans" pitchFamily="34" charset="-120"/>
              </a:rPr>
              <a:t>grp2 has the best efficacy (91), but a reuse score of 65 holds it at Tier 2. grp3 becomes the Sol PE standard; grp1 and grp2 contribute their strengths to it.</a:t>
            </a:r>
            <a:endParaRPr lang="en-US" sz="1500" dirty="0"/>
          </a:p>
        </p:txBody>
      </p:sp>
      <p:sp>
        <p:nvSpPr>
          <p:cNvPr id="7" name="Text 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Illustrative scores only; replace with Round 1 benchmark results</a:t>
            </a:r>
            <a:endParaRPr lang="en-US" sz="1200" dirty="0"/>
          </a:p>
        </p:txBody>
      </p:sp>
      <p:sp>
        <p:nvSpPr>
          <p:cNvPr id="8"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FA"/>
        </a:solidFill>
      </p:bgPr>
    </p:bg>
    <p:spTree>
      <p:nvGrpSpPr>
        <p:cNvPr id="1" name=""/>
        <p:cNvGrpSpPr/>
        <p:nvPr/>
      </p:nvGrpSpPr>
      <p:grpSpPr>
        <a:xfrm>
          <a:off x="0" y="0"/>
          <a:ext cx="0" cy="0"/>
          <a:chOff x="0" y="0"/>
          <a:chExt cx="0" cy="0"/>
        </a:xfrm>
      </p:grpSpPr>
      <p:sp>
        <p:nvSpPr>
          <p:cNvPr id="2" name="Text 0"/>
          <p:cNvSpPr/>
          <p:nvPr/>
        </p:nvSpPr>
        <p:spPr>
          <a:xfrm>
            <a:off x="812800" y="81280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1842"/>
                </a:solidFill>
                <a:latin typeface="IBM Plex Sans" pitchFamily="34" charset="0"/>
                <a:ea typeface="IBM Plex Sans" pitchFamily="34" charset="-122"/>
                <a:cs typeface="IBM Plex Sans" pitchFamily="34" charset="-120"/>
              </a:rPr>
              <a:t>Proposed rollout: first certified components within two quarters</a:t>
            </a:r>
            <a:endParaRPr lang="en-US" sz="3200" dirty="0"/>
          </a:p>
        </p:txBody>
      </p:sp>
      <p:sp>
        <p:nvSpPr>
          <p:cNvPr id="3" name="Shape 1"/>
          <p:cNvSpPr/>
          <p:nvPr/>
        </p:nvSpPr>
        <p:spPr>
          <a:xfrm>
            <a:off x="815975" y="2065536"/>
            <a:ext cx="2520950" cy="1987252"/>
          </a:xfrm>
          <a:prstGeom prst="roundRect">
            <a:avLst>
              <a:gd name="adj" fmla="val 4953"/>
            </a:avLst>
          </a:prstGeom>
          <a:solidFill>
            <a:srgbClr val="FCFCFE"/>
          </a:solidFill>
          <a:ln w="6350">
            <a:solidFill>
              <a:srgbClr val="DDD9EE"/>
            </a:solidFill>
            <a:prstDash val="solid"/>
          </a:ln>
        </p:spPr>
      </p:sp>
      <p:sp>
        <p:nvSpPr>
          <p:cNvPr id="4" name="Text 2"/>
          <p:cNvSpPr/>
          <p:nvPr/>
        </p:nvSpPr>
        <p:spPr>
          <a:xfrm>
            <a:off x="1022350" y="2271911"/>
            <a:ext cx="217144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D4AE0"/>
                </a:solidFill>
                <a:latin typeface="JetBrains Mono" pitchFamily="34" charset="0"/>
                <a:ea typeface="JetBrains Mono" pitchFamily="34" charset="-122"/>
                <a:cs typeface="JetBrains Mono" pitchFamily="34" charset="-120"/>
              </a:rPr>
              <a:t>Month 1</a:t>
            </a:r>
            <a:endParaRPr lang="en-US" sz="1300" dirty="0"/>
          </a:p>
        </p:txBody>
      </p:sp>
      <p:sp>
        <p:nvSpPr>
          <p:cNvPr id="5" name="Text 3"/>
          <p:cNvSpPr/>
          <p:nvPr/>
        </p:nvSpPr>
        <p:spPr>
          <a:xfrm>
            <a:off x="1022350" y="259189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842"/>
                </a:solidFill>
                <a:latin typeface="IBM Plex Sans" pitchFamily="34" charset="0"/>
                <a:ea typeface="IBM Plex Sans" pitchFamily="34" charset="-122"/>
                <a:cs typeface="IBM Plex Sans" pitchFamily="34" charset="-120"/>
              </a:rPr>
              <a:t>Charter &amp; board</a:t>
            </a:r>
            <a:endParaRPr lang="en-US" sz="1600" dirty="0"/>
          </a:p>
        </p:txBody>
      </p:sp>
      <p:sp>
        <p:nvSpPr>
          <p:cNvPr id="6" name="Text 4"/>
          <p:cNvSpPr/>
          <p:nvPr/>
        </p:nvSpPr>
        <p:spPr>
          <a:xfrm>
            <a:off x="1022350" y="2924572"/>
            <a:ext cx="217144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Approve weights and thresholds as v1.0, name the review board, open the Capability Registry.</a:t>
            </a:r>
            <a:endParaRPr lang="en-US" sz="1200" dirty="0"/>
          </a:p>
        </p:txBody>
      </p:sp>
      <p:sp>
        <p:nvSpPr>
          <p:cNvPr id="7" name="Shape 5"/>
          <p:cNvSpPr/>
          <p:nvPr/>
        </p:nvSpPr>
        <p:spPr>
          <a:xfrm>
            <a:off x="3495675" y="2065536"/>
            <a:ext cx="2520950" cy="1987252"/>
          </a:xfrm>
          <a:prstGeom prst="roundRect">
            <a:avLst>
              <a:gd name="adj" fmla="val 4953"/>
            </a:avLst>
          </a:prstGeom>
          <a:solidFill>
            <a:srgbClr val="FCFCFE"/>
          </a:solidFill>
          <a:ln w="6350">
            <a:solidFill>
              <a:srgbClr val="DDD9EE"/>
            </a:solidFill>
            <a:prstDash val="solid"/>
          </a:ln>
        </p:spPr>
      </p:sp>
      <p:sp>
        <p:nvSpPr>
          <p:cNvPr id="8" name="Text 6"/>
          <p:cNvSpPr/>
          <p:nvPr/>
        </p:nvSpPr>
        <p:spPr>
          <a:xfrm>
            <a:off x="3702050" y="2271911"/>
            <a:ext cx="217144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D4AE0"/>
                </a:solidFill>
                <a:latin typeface="JetBrains Mono" pitchFamily="34" charset="0"/>
                <a:ea typeface="JetBrains Mono" pitchFamily="34" charset="-122"/>
                <a:cs typeface="JetBrains Mono" pitchFamily="34" charset="-120"/>
              </a:rPr>
              <a:t>Months 1–2</a:t>
            </a:r>
            <a:endParaRPr lang="en-US" sz="1300" dirty="0"/>
          </a:p>
        </p:txBody>
      </p:sp>
      <p:sp>
        <p:nvSpPr>
          <p:cNvPr id="9" name="Text 7"/>
          <p:cNvSpPr/>
          <p:nvPr/>
        </p:nvSpPr>
        <p:spPr>
          <a:xfrm>
            <a:off x="3702050" y="259189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842"/>
                </a:solidFill>
                <a:latin typeface="IBM Plex Sans" pitchFamily="34" charset="0"/>
                <a:ea typeface="IBM Plex Sans" pitchFamily="34" charset="-122"/>
                <a:cs typeface="IBM Plex Sans" pitchFamily="34" charset="-120"/>
              </a:rPr>
              <a:t>Golden sets</a:t>
            </a:r>
            <a:endParaRPr lang="en-US" sz="1600" dirty="0"/>
          </a:p>
        </p:txBody>
      </p:sp>
      <p:sp>
        <p:nvSpPr>
          <p:cNvPr id="10" name="Text 8"/>
          <p:cNvSpPr/>
          <p:nvPr/>
        </p:nvSpPr>
        <p:spPr>
          <a:xfrm>
            <a:off x="3702050" y="2924572"/>
            <a:ext cx="217144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Assign an owner per component, curate the 30 golden datasets and stand up the harness.</a:t>
            </a:r>
            <a:endParaRPr lang="en-US" sz="1200" dirty="0"/>
          </a:p>
        </p:txBody>
      </p:sp>
      <p:sp>
        <p:nvSpPr>
          <p:cNvPr id="11" name="Shape 9"/>
          <p:cNvSpPr/>
          <p:nvPr/>
        </p:nvSpPr>
        <p:spPr>
          <a:xfrm>
            <a:off x="6175375" y="2065536"/>
            <a:ext cx="2520950" cy="1987252"/>
          </a:xfrm>
          <a:prstGeom prst="roundRect">
            <a:avLst>
              <a:gd name="adj" fmla="val 4953"/>
            </a:avLst>
          </a:prstGeom>
          <a:solidFill>
            <a:srgbClr val="FCFCFE"/>
          </a:solidFill>
          <a:ln w="6350">
            <a:solidFill>
              <a:srgbClr val="DDD9EE"/>
            </a:solidFill>
            <a:prstDash val="solid"/>
          </a:ln>
        </p:spPr>
      </p:sp>
      <p:sp>
        <p:nvSpPr>
          <p:cNvPr id="12" name="Text 10"/>
          <p:cNvSpPr/>
          <p:nvPr/>
        </p:nvSpPr>
        <p:spPr>
          <a:xfrm>
            <a:off x="6381750" y="2271911"/>
            <a:ext cx="217144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D4AE0"/>
                </a:solidFill>
                <a:latin typeface="JetBrains Mono" pitchFamily="34" charset="0"/>
                <a:ea typeface="JetBrains Mono" pitchFamily="34" charset="-122"/>
                <a:cs typeface="JetBrains Mono" pitchFamily="34" charset="-120"/>
              </a:rPr>
              <a:t>Months 2–3</a:t>
            </a:r>
            <a:endParaRPr lang="en-US" sz="1300" dirty="0"/>
          </a:p>
        </p:txBody>
      </p:sp>
      <p:sp>
        <p:nvSpPr>
          <p:cNvPr id="13" name="Text 11"/>
          <p:cNvSpPr/>
          <p:nvPr/>
        </p:nvSpPr>
        <p:spPr>
          <a:xfrm>
            <a:off x="6381750" y="259189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842"/>
                </a:solidFill>
                <a:latin typeface="IBM Plex Sans" pitchFamily="34" charset="0"/>
                <a:ea typeface="IBM Plex Sans" pitchFamily="34" charset="-122"/>
                <a:cs typeface="IBM Plex Sans" pitchFamily="34" charset="-120"/>
              </a:rPr>
              <a:t>Round 1 benchmark</a:t>
            </a:r>
            <a:endParaRPr lang="en-US" sz="1600" dirty="0"/>
          </a:p>
        </p:txBody>
      </p:sp>
      <p:sp>
        <p:nvSpPr>
          <p:cNvPr id="14" name="Text 12"/>
          <p:cNvSpPr/>
          <p:nvPr/>
        </p:nvSpPr>
        <p:spPr>
          <a:xfrm>
            <a:off x="6381750" y="2924572"/>
            <a:ext cx="217144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868"/>
                </a:solidFill>
                <a:latin typeface="IBM Plex Sans" pitchFamily="34" charset="0"/>
                <a:ea typeface="IBM Plex Sans" pitchFamily="34" charset="-122"/>
                <a:cs typeface="IBM Plex Sans" pitchFamily="34" charset="-120"/>
              </a:rPr>
              <a:t>Score every in-flight solution from grp1, grp2 and grp3; publish tiers and rankings.</a:t>
            </a:r>
            <a:endParaRPr lang="en-US" sz="1200" dirty="0"/>
          </a:p>
        </p:txBody>
      </p:sp>
      <p:sp>
        <p:nvSpPr>
          <p:cNvPr id="15" name="Shape 13"/>
          <p:cNvSpPr/>
          <p:nvPr/>
        </p:nvSpPr>
        <p:spPr>
          <a:xfrm>
            <a:off x="8851900" y="2062361"/>
            <a:ext cx="2527300" cy="1993602"/>
          </a:xfrm>
          <a:prstGeom prst="roundRect">
            <a:avLst>
              <a:gd name="adj" fmla="val 5096"/>
            </a:avLst>
          </a:prstGeom>
          <a:solidFill>
            <a:srgbClr val="1C1842"/>
          </a:solidFill>
          <a:ln/>
        </p:spPr>
      </p:sp>
      <p:sp>
        <p:nvSpPr>
          <p:cNvPr id="16" name="Shape 14"/>
          <p:cNvSpPr/>
          <p:nvPr/>
        </p:nvSpPr>
        <p:spPr>
          <a:xfrm>
            <a:off x="8851900" y="2087761"/>
            <a:ext cx="2527300" cy="0"/>
          </a:xfrm>
          <a:prstGeom prst="line">
            <a:avLst/>
          </a:prstGeom>
          <a:noFill/>
          <a:ln w="50800">
            <a:solidFill>
              <a:srgbClr val="B9A8FF"/>
            </a:solidFill>
            <a:prstDash val="solid"/>
          </a:ln>
        </p:spPr>
      </p:sp>
      <p:sp>
        <p:nvSpPr>
          <p:cNvPr id="17" name="Text 15"/>
          <p:cNvSpPr/>
          <p:nvPr/>
        </p:nvSpPr>
        <p:spPr>
          <a:xfrm>
            <a:off x="9055100" y="2316361"/>
            <a:ext cx="218452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9A8FF"/>
                </a:solidFill>
                <a:latin typeface="JetBrains Mono" pitchFamily="34" charset="0"/>
                <a:ea typeface="JetBrains Mono" pitchFamily="34" charset="-122"/>
                <a:cs typeface="JetBrains Mono" pitchFamily="34" charset="-120"/>
              </a:rPr>
              <a:t>Month 4 onward</a:t>
            </a:r>
            <a:endParaRPr lang="en-US" sz="1300" dirty="0"/>
          </a:p>
        </p:txBody>
      </p:sp>
      <p:sp>
        <p:nvSpPr>
          <p:cNvPr id="18" name="Text 16"/>
          <p:cNvSpPr/>
          <p:nvPr/>
        </p:nvSpPr>
        <p:spPr>
          <a:xfrm>
            <a:off x="9055100" y="2636341"/>
            <a:ext cx="2184527"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FA"/>
                </a:solidFill>
                <a:latin typeface="IBM Plex Sans" pitchFamily="34" charset="0"/>
                <a:ea typeface="IBM Plex Sans" pitchFamily="34" charset="-122"/>
                <a:cs typeface="IBM Plex Sans" pitchFamily="34" charset="-120"/>
              </a:rPr>
              <a:t>Adopt &amp; re-benchmark</a:t>
            </a:r>
            <a:endParaRPr lang="en-US" sz="1600" dirty="0"/>
          </a:p>
        </p:txBody>
      </p:sp>
      <p:sp>
        <p:nvSpPr>
          <p:cNvPr id="19" name="Text 17"/>
          <p:cNvSpPr/>
          <p:nvPr/>
        </p:nvSpPr>
        <p:spPr>
          <a:xfrm>
            <a:off x="9055100" y="3212802"/>
            <a:ext cx="218452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4E6"/>
                </a:solidFill>
                <a:latin typeface="IBM Plex Sans" pitchFamily="34" charset="0"/>
                <a:ea typeface="IBM Plex Sans" pitchFamily="34" charset="-122"/>
                <a:cs typeface="IBM Plex Sans" pitchFamily="34" charset="-120"/>
              </a:rPr>
              <a:t>Tier-1 reuse becomes mandatory; champion vs challenger every quarter.</a:t>
            </a:r>
            <a:endParaRPr lang="en-US" sz="1200" dirty="0"/>
          </a:p>
        </p:txBody>
      </p:sp>
      <p:sp>
        <p:nvSpPr>
          <p:cNvPr id="20" name="Text 1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Timing is a proposal for leaders to confirm</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E"/>
        </a:solidFill>
      </p:bgPr>
    </p:bg>
    <p:spTree>
      <p:nvGrpSpPr>
        <p:cNvPr id="1" name=""/>
        <p:cNvGrpSpPr/>
        <p:nvPr/>
      </p:nvGrpSpPr>
      <p:grpSpPr>
        <a:xfrm>
          <a:off x="0" y="0"/>
          <a:ext cx="0" cy="0"/>
          <a:chOff x="0" y="0"/>
          <a:chExt cx="0" cy="0"/>
        </a:xfrm>
      </p:grpSpPr>
      <p:sp>
        <p:nvSpPr>
          <p:cNvPr id="2" name="Text 0"/>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1842"/>
                </a:solidFill>
                <a:latin typeface="IBM Plex Sans" pitchFamily="34" charset="0"/>
                <a:ea typeface="IBM Plex Sans" pitchFamily="34" charset="-122"/>
                <a:cs typeface="IBM Plex Sans" pitchFamily="34" charset="-120"/>
              </a:rPr>
              <a:t>Who owns what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564580"/>
          <a:ext cx="10566400" cy="2386707"/>
        </p:xfrm>
        <a:graphic>
          <a:graphicData uri="http://schemas.openxmlformats.org/drawingml/2006/table">
            <a:tbl>
              <a:tblPr/>
              <a:tblGrid>
                <a:gridCol w="3381248"/>
                <a:gridCol w="7185152"/>
              </a:tblGrid>
              <a:tr h="359271">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Role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c>
                  <a:txBody>
                    <a:bodyPr/>
                    <a:lstStyle/>
                    <a:p>
                      <a:pPr indent="0" marL="0">
                        <a:lnSpc>
                          <a:spcPts val="1820"/>
                        </a:lnSpc>
                        <a:buNone/>
                      </a:pPr>
                      <a:r>
                        <a:rPr lang="en-US" sz="1300" b="1" dirty="0">
                          <a:solidFill>
                            <a:srgbClr val="1C1842"/>
                          </a:solidFill>
                          <a:latin typeface="IBM Plex Sans" pitchFamily="34" charset="0"/>
                          <a:ea typeface="IBM Plex Sans" pitchFamily="34" charset="-122"/>
                          <a:cs typeface="IBM Plex Sans" pitchFamily="34" charset="-120"/>
                        </a:rPr>
                        <a:t>Responsibility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solidFill>
                      <a:srgbClr val="EAEAEF"/>
                    </a:solidFill>
                  </a:tcPr>
                </a:tc>
              </a:tr>
              <a:tr h="590352">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Cross-group review board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grp1, grp2, grp3 leads, AI champions and the Zion architect. Owns thresholds, validates evidence, assigns tiers.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Group leaders &amp; managers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Require registration before any L3 build; stop duplicate work; adopt Tier-1 solutions.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Component owners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Keep the I/O contract, documentation and support SLA for their certified component.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Golden-set owners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Curate, label and version the benchmark dataset for each component.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Zion platform team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c>
                  <a:txBody>
                    <a:bodyPr/>
                    <a:lstStyle/>
                    <a:p>
                      <a:pPr indent="0" marL="0">
                        <a:lnSpc>
                          <a:spcPts val="1820"/>
                        </a:lnSpc>
                        <a:buNone/>
                      </a:pPr>
                      <a:r>
                        <a:rPr lang="en-US" sz="1300" dirty="0">
                          <a:solidFill>
                            <a:srgbClr val="1C1842"/>
                          </a:solidFill>
                          <a:latin typeface="IBM Plex Sans" pitchFamily="34" charset="0"/>
                          <a:ea typeface="IBM Plex Sans" pitchFamily="34" charset="-122"/>
                          <a:cs typeface="IBM Plex Sans" pitchFamily="34" charset="-120"/>
                        </a:rPr>
                        <a:t>Runs the Capability Registry, benchmark harness and the ten shared services.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D5"/>
                      </a:solidFill>
                      <a:prstDash val="solid"/>
                      <a:round/>
                      <a:headEnd type="none" w="med" len="med"/>
                      <a:tailEnd type="none" w="med" len="med"/>
                    </a:lnL>
                    <a:lnR w="12700" cap="flat" cmpd="sng" algn="ctr">
                      <a:solidFill>
                        <a:srgbClr val="CBCAD5"/>
                      </a:solidFill>
                      <a:prstDash val="solid"/>
                      <a:round/>
                      <a:headEnd type="none" w="med" len="med"/>
                      <a:tailEnd type="none" w="med" len="med"/>
                    </a:lnR>
                    <a:lnT w="12700" cap="flat" cmpd="sng" algn="ctr">
                      <a:solidFill>
                        <a:srgbClr val="CBCAD5"/>
                      </a:solidFill>
                      <a:prstDash val="solid"/>
                      <a:round/>
                      <a:headEnd type="none" w="med" len="med"/>
                      <a:tailEnd type="none" w="med" len="med"/>
                    </a:lnT>
                    <a:lnB w="12700" cap="flat" cmpd="sng" algn="ctr">
                      <a:solidFill>
                        <a:srgbClr val="CBCAD5"/>
                      </a:solidFill>
                      <a:prstDash val="solid"/>
                      <a:round/>
                      <a:headEnd type="none" w="med" len="med"/>
                      <a:tailEnd type="none" w="med" len="med"/>
                    </a:lnB>
                  </a:tcPr>
                </a:tc>
              </a:tr>
            </a:tbl>
          </a:graphicData>
        </a:graphic>
      </p:graphicFrame>
      <p:sp>
        <p:nvSpPr>
          <p:cNvPr id="4" name="Text 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Zion Quality Platform · L3 Agent benchmark KPIs</a:t>
            </a:r>
            <a:endParaRPr lang="en-US" sz="1200" dirty="0"/>
          </a:p>
        </p:txBody>
      </p:sp>
      <p:sp>
        <p:nvSpPr>
          <p:cNvPr id="5" name="Text 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796"/>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A2F86"/>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3A2F86"/>
              </a:gs>
              <a:gs pos="60000">
                <a:srgbClr val="1C1842"/>
              </a:gs>
            </a:gsLst>
            <a:path path="circle">
              <a:fillToRect l="15000" t="85000" r="85000" b="15000"/>
            </a:path>
          </a:gradFill>
          <a:ln/>
        </p:spPr>
      </p:sp>
      <p:sp>
        <p:nvSpPr>
          <p:cNvPr id="3" name="Text 1"/>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5F4FA"/>
                </a:solidFill>
                <a:latin typeface="IBM Plex Sans" pitchFamily="34" charset="0"/>
                <a:ea typeface="IBM Plex Sans" pitchFamily="34" charset="-122"/>
                <a:cs typeface="IBM Plex Sans" pitchFamily="34" charset="-120"/>
              </a:rPr>
              <a:t>Four decisions we need today</a:t>
            </a:r>
            <a:endParaRPr lang="en-US" sz="3200" dirty="0"/>
          </a:p>
        </p:txBody>
      </p:sp>
      <p:sp>
        <p:nvSpPr>
          <p:cNvPr id="4" name="Shape 2"/>
          <p:cNvSpPr/>
          <p:nvPr/>
        </p:nvSpPr>
        <p:spPr>
          <a:xfrm>
            <a:off x="812800" y="2151955"/>
            <a:ext cx="10566400" cy="0"/>
          </a:xfrm>
          <a:prstGeom prst="line">
            <a:avLst/>
          </a:prstGeom>
          <a:noFill/>
          <a:ln w="6350">
            <a:solidFill>
              <a:srgbClr val="3F3A70"/>
            </a:solidFill>
            <a:prstDash val="solid"/>
          </a:ln>
        </p:spPr>
      </p:sp>
      <p:pic>
        <p:nvPicPr>
          <p:cNvPr id="5" name="Image 0" descr="CheckCircle">    </p:cNvPr>
          <p:cNvPicPr>
            <a:picLocks noChangeAspect="1"/>
          </p:cNvPicPr>
          <p:nvPr/>
        </p:nvPicPr>
        <p:blipFill>
          <a:blip r:embed="rId1"/>
          <a:srcRect l="0" r="0" t="0" b="0"/>
          <a:stretch/>
        </p:blipFill>
        <p:spPr>
          <a:xfrm>
            <a:off x="812800" y="1615380"/>
            <a:ext cx="355600" cy="355600"/>
          </a:xfrm>
          <a:prstGeom prst="rect">
            <a:avLst/>
          </a:prstGeom>
        </p:spPr>
      </p:pic>
      <p:sp>
        <p:nvSpPr>
          <p:cNvPr id="6" name="Text 3"/>
          <p:cNvSpPr/>
          <p:nvPr/>
        </p:nvSpPr>
        <p:spPr>
          <a:xfrm>
            <a:off x="1346200" y="1638895"/>
            <a:ext cx="1033399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5F4FA"/>
                </a:solidFill>
                <a:latin typeface="IBM Plex Sans" pitchFamily="34" charset="0"/>
                <a:ea typeface="IBM Plex Sans" pitchFamily="34" charset="-122"/>
                <a:cs typeface="IBM Plex Sans" pitchFamily="34" charset="-120"/>
              </a:rPr>
              <a:t>Approve the six dimensions, weights, gates and KPI thresholds as benchmark v1.0</a:t>
            </a:r>
            <a:endParaRPr lang="en-US" sz="1800" dirty="0"/>
          </a:p>
        </p:txBody>
      </p:sp>
      <p:sp>
        <p:nvSpPr>
          <p:cNvPr id="7" name="Shape 4"/>
          <p:cNvSpPr/>
          <p:nvPr/>
        </p:nvSpPr>
        <p:spPr>
          <a:xfrm>
            <a:off x="812800" y="2869505"/>
            <a:ext cx="10566400" cy="0"/>
          </a:xfrm>
          <a:prstGeom prst="line">
            <a:avLst/>
          </a:prstGeom>
          <a:noFill/>
          <a:ln w="6350">
            <a:solidFill>
              <a:srgbClr val="3F3A70"/>
            </a:solidFill>
            <a:prstDash val="solid"/>
          </a:ln>
        </p:spPr>
      </p:sp>
      <p:pic>
        <p:nvPicPr>
          <p:cNvPr id="8" name="Image 1" descr="CheckCircle">    </p:cNvPr>
          <p:cNvPicPr>
            <a:picLocks noChangeAspect="1"/>
          </p:cNvPicPr>
          <p:nvPr/>
        </p:nvPicPr>
        <p:blipFill>
          <a:blip r:embed="rId2"/>
          <a:srcRect l="0" r="0" t="0" b="0"/>
          <a:stretch/>
        </p:blipFill>
        <p:spPr>
          <a:xfrm>
            <a:off x="812800" y="2332930"/>
            <a:ext cx="355600" cy="355600"/>
          </a:xfrm>
          <a:prstGeom prst="rect">
            <a:avLst/>
          </a:prstGeom>
        </p:spPr>
      </p:pic>
      <p:sp>
        <p:nvSpPr>
          <p:cNvPr id="9" name="Text 5"/>
          <p:cNvSpPr/>
          <p:nvPr/>
        </p:nvSpPr>
        <p:spPr>
          <a:xfrm>
            <a:off x="1346200" y="2356445"/>
            <a:ext cx="1033399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5F4FA"/>
                </a:solidFill>
                <a:latin typeface="IBM Plex Sans" pitchFamily="34" charset="0"/>
                <a:ea typeface="IBM Plex Sans" pitchFamily="34" charset="-122"/>
                <a:cs typeface="IBM Plex Sans" pitchFamily="34" charset="-120"/>
              </a:rPr>
              <a:t>Nominate review board members from grp1, grp2 and grp3: [names]</a:t>
            </a:r>
            <a:endParaRPr lang="en-US" sz="1800" dirty="0"/>
          </a:p>
        </p:txBody>
      </p:sp>
      <p:sp>
        <p:nvSpPr>
          <p:cNvPr id="10" name="Shape 6"/>
          <p:cNvSpPr/>
          <p:nvPr/>
        </p:nvSpPr>
        <p:spPr>
          <a:xfrm>
            <a:off x="812800" y="3587055"/>
            <a:ext cx="10566400" cy="0"/>
          </a:xfrm>
          <a:prstGeom prst="line">
            <a:avLst/>
          </a:prstGeom>
          <a:noFill/>
          <a:ln w="6350">
            <a:solidFill>
              <a:srgbClr val="3F3A70"/>
            </a:solidFill>
            <a:prstDash val="solid"/>
          </a:ln>
        </p:spPr>
      </p:sp>
      <p:pic>
        <p:nvPicPr>
          <p:cNvPr id="11" name="Image 2" descr="CheckCircle">    </p:cNvPr>
          <p:cNvPicPr>
            <a:picLocks noChangeAspect="1"/>
          </p:cNvPicPr>
          <p:nvPr/>
        </p:nvPicPr>
        <p:blipFill>
          <a:blip r:embed="rId3"/>
          <a:srcRect l="0" r="0" t="0" b="0"/>
          <a:stretch/>
        </p:blipFill>
        <p:spPr>
          <a:xfrm>
            <a:off x="812800" y="3050480"/>
            <a:ext cx="355600" cy="355600"/>
          </a:xfrm>
          <a:prstGeom prst="rect">
            <a:avLst/>
          </a:prstGeom>
        </p:spPr>
      </p:pic>
      <p:sp>
        <p:nvSpPr>
          <p:cNvPr id="12" name="Text 7"/>
          <p:cNvSpPr/>
          <p:nvPr/>
        </p:nvSpPr>
        <p:spPr>
          <a:xfrm>
            <a:off x="1346200" y="3073995"/>
            <a:ext cx="1033399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5F4FA"/>
                </a:solidFill>
                <a:latin typeface="IBM Plex Sans" pitchFamily="34" charset="0"/>
                <a:ea typeface="IBM Plex Sans" pitchFamily="34" charset="-122"/>
                <a:cs typeface="IBM Plex Sans" pitchFamily="34" charset="-120"/>
              </a:rPr>
              <a:t>Assign golden-set owners for the 30 L3 components: [names]</a:t>
            </a:r>
            <a:endParaRPr lang="en-US" sz="1800" dirty="0"/>
          </a:p>
        </p:txBody>
      </p:sp>
      <p:pic>
        <p:nvPicPr>
          <p:cNvPr id="13" name="Image 3" descr="CheckCircle">    </p:cNvPr>
          <p:cNvPicPr>
            <a:picLocks noChangeAspect="1"/>
          </p:cNvPicPr>
          <p:nvPr/>
        </p:nvPicPr>
        <p:blipFill>
          <a:blip r:embed="rId4"/>
          <a:srcRect l="0" r="0" t="0" b="0"/>
          <a:stretch/>
        </p:blipFill>
        <p:spPr>
          <a:xfrm>
            <a:off x="812800" y="3768030"/>
            <a:ext cx="355600" cy="355600"/>
          </a:xfrm>
          <a:prstGeom prst="rect">
            <a:avLst/>
          </a:prstGeom>
        </p:spPr>
      </p:pic>
      <p:sp>
        <p:nvSpPr>
          <p:cNvPr id="14" name="Text 8"/>
          <p:cNvSpPr/>
          <p:nvPr/>
        </p:nvSpPr>
        <p:spPr>
          <a:xfrm>
            <a:off x="1346200" y="3791545"/>
            <a:ext cx="1033399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5F4FA"/>
                </a:solidFill>
                <a:latin typeface="IBM Plex Sans" pitchFamily="34" charset="0"/>
                <a:ea typeface="IBM Plex Sans" pitchFamily="34" charset="-122"/>
                <a:cs typeface="IBM Plex Sans" pitchFamily="34" charset="-120"/>
              </a:rPr>
              <a:t>Require registration before any new L3 build, effective [date]</a:t>
            </a:r>
            <a:endParaRPr lang="en-US" sz="1800" dirty="0"/>
          </a:p>
        </p:txBody>
      </p:sp>
      <p:sp>
        <p:nvSpPr>
          <p:cNvPr id="15"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97C2"/>
                </a:solidFill>
                <a:latin typeface="IBM Plex Sans" pitchFamily="34" charset="0"/>
                <a:ea typeface="IBM Plex Sans" pitchFamily="34" charset="-122"/>
                <a:cs typeface="IBM Plex Sans" pitchFamily="34" charset="-120"/>
              </a:rPr>
              <a:t>Reference: wf2c L3 Agent KPI benchmark page</a:t>
            </a:r>
            <a:endParaRPr lang="en-US" sz="1200" dirty="0"/>
          </a:p>
        </p:txBody>
      </p:sp>
      <p:sp>
        <p:nvSpPr>
          <p:cNvPr id="16"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C97C2"/>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L3 Agent Benchmark KPIs</dc:title>
  <dc:subject>PptxGenJS Presentation</dc:subject>
  <dc:creator>PptxGenJS</dc:creator>
  <cp:lastModifiedBy>PptxGenJS</cp:lastModifiedBy>
  <cp:revision>1</cp:revision>
  <dcterms:created xsi:type="dcterms:W3CDTF">2026-09-22T03:59:35Z</dcterms:created>
  <dcterms:modified xsi:type="dcterms:W3CDTF">2026-09-22T03:59:35Z</dcterms:modified>
</cp:coreProperties>
</file>