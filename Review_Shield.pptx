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Hours/PR</c:v>
                </c:pt>
              </c:strCache>
            </c:strRef>
          </c:tx>
          <c:spPr>
            <a:solidFill>
              <a:srgbClr val="E0913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1AB-4DBC-9E4C-051CCBBAE96F}"/>
              </c:ext>
            </c:extLst>
          </c:dPt>
          <c:dPt>
            <c:idx val="1"/>
            <c:invertIfNegative val="0"/>
            <c:bubble3D val="0"/>
            <c:spPr>
              <a:solidFill>
                <a:srgbClr val="2FB67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1AB-4DBC-9E4C-051CCBBAE96F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A223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Human</c:v>
                </c:pt>
                <c:pt idx="1">
                  <c:v>AI (Review Shield)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1AB-4DBC-9E4C-051CCBBAE9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2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4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186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16.png"/><Relationship Id="rId9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45720"/>
          </a:xfrm>
          <a:prstGeom prst="rect">
            <a:avLst/>
          </a:prstGeom>
          <a:solidFill>
            <a:srgbClr val="1FB6C9"/>
          </a:solidFill>
          <a:ln/>
        </p:spPr>
      </p:sp>
      <p:sp>
        <p:nvSpPr>
          <p:cNvPr id="4" name="Shape 2"/>
          <p:cNvSpPr/>
          <p:nvPr/>
        </p:nvSpPr>
        <p:spPr>
          <a:xfrm>
            <a:off x="8732520" y="1371600"/>
            <a:ext cx="2743200" cy="2743200"/>
          </a:xfrm>
          <a:prstGeom prst="ellipse">
            <a:avLst/>
          </a:prstGeom>
          <a:solidFill>
            <a:srgbClr val="16264C"/>
          </a:solidFill>
          <a:ln w="15875">
            <a:solidFill>
              <a:srgbClr val="2F6F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98280" y="1737360"/>
            <a:ext cx="2011680" cy="2011680"/>
          </a:xfrm>
          <a:prstGeom prst="ellipse">
            <a:avLst/>
          </a:prstGeom>
          <a:solidFill>
            <a:srgbClr val="11203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2139696"/>
            <a:ext cx="1188720" cy="12070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FB6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 CODE  QUALITY  PLATFORM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178308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Shield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822960" y="2971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CFE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Code Review, Org-Wide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822960" y="36118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faster.  Build better.  Ship with confidence.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46177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16264C"/>
          </a:solidFill>
          <a:ln w="12700">
            <a:solidFill>
              <a:srgbClr val="2A3D6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77316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53312" y="461772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035808" y="46177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16264C"/>
          </a:solidFill>
          <a:ln w="12700">
            <a:solidFill>
              <a:srgbClr val="2A3D63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6976" y="477316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66160" y="461772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248656" y="46177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16264C"/>
          </a:solidFill>
          <a:ln w="12700">
            <a:solidFill>
              <a:srgbClr val="2A3D63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9824" y="4773168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779008" y="461772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2296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Leadership  •  Organization-wide rollout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F6F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review is critical — and a bottleneck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time does your team spend on code reviews every week? Reviews protect quality, but at scale they slow delivery and strain engineers.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606040" cy="3246120"/>
          </a:xfrm>
          <a:prstGeom prst="rect">
            <a:avLst/>
          </a:prstGeom>
          <a:solidFill>
            <a:srgbClr val="F3F7FD"/>
          </a:solidFill>
          <a:ln w="12700">
            <a:solidFill>
              <a:srgbClr val="D7E2F1"/>
            </a:solidFill>
            <a:prstDash val="solid"/>
          </a:ln>
          <a:effectLst>
            <a:outerShdw blurRad="88900" dist="25400" dir="5400000" algn="bl" rotWithShape="0">
              <a:srgbClr val="1A223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423160"/>
            <a:ext cx="2606040" cy="82296"/>
          </a:xfrm>
          <a:prstGeom prst="rect">
            <a:avLst/>
          </a:prstGeom>
          <a:solidFill>
            <a:srgbClr val="D85C57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807208"/>
            <a:ext cx="868680" cy="868680"/>
          </a:xfrm>
          <a:prstGeom prst="ellipse">
            <a:avLst/>
          </a:prstGeom>
          <a:solidFill>
            <a:srgbClr val="FBE7E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3054096"/>
            <a:ext cx="374904" cy="374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384048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Delayed reviews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96112" y="434340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wait in queues for an available reviewer, stretching cycle time and time-to-merge.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29584" y="2423160"/>
            <a:ext cx="2606040" cy="3246120"/>
          </a:xfrm>
          <a:prstGeom prst="rect">
            <a:avLst/>
          </a:prstGeom>
          <a:solidFill>
            <a:srgbClr val="F3F7FD"/>
          </a:solidFill>
          <a:ln w="12700">
            <a:solidFill>
              <a:srgbClr val="D7E2F1"/>
            </a:solidFill>
            <a:prstDash val="solid"/>
          </a:ln>
          <a:effectLst>
            <a:outerShdw blurRad="88900" dist="25400" dir="5400000" algn="bl" rotWithShape="0">
              <a:srgbClr val="1A2238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29584" y="2423160"/>
            <a:ext cx="2606040" cy="82296"/>
          </a:xfrm>
          <a:prstGeom prst="rect">
            <a:avLst/>
          </a:prstGeom>
          <a:solidFill>
            <a:srgbClr val="D85C57"/>
          </a:solidFill>
          <a:ln/>
        </p:spPr>
      </p:sp>
      <p:sp>
        <p:nvSpPr>
          <p:cNvPr id="13" name="Shape 10"/>
          <p:cNvSpPr/>
          <p:nvPr/>
        </p:nvSpPr>
        <p:spPr>
          <a:xfrm>
            <a:off x="3803904" y="2807208"/>
            <a:ext cx="868680" cy="868680"/>
          </a:xfrm>
          <a:prstGeom prst="ellipse">
            <a:avLst/>
          </a:prstGeom>
          <a:solidFill>
            <a:srgbClr val="FBE7E6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054096"/>
            <a:ext cx="374904" cy="3749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85616" y="384048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Reviewer fatigue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3785616" y="434340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attention drifts on long or repetitive diffs — real issues slip through to production.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19088" y="2423160"/>
            <a:ext cx="2606040" cy="3246120"/>
          </a:xfrm>
          <a:prstGeom prst="rect">
            <a:avLst/>
          </a:prstGeom>
          <a:solidFill>
            <a:srgbClr val="F3F7FD"/>
          </a:solidFill>
          <a:ln w="12700">
            <a:solidFill>
              <a:srgbClr val="D7E2F1"/>
            </a:solidFill>
            <a:prstDash val="solid"/>
          </a:ln>
          <a:effectLst>
            <a:outerShdw blurRad="88900" dist="25400" dir="5400000" algn="bl" rotWithShape="0">
              <a:srgbClr val="1A2238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19088" y="2423160"/>
            <a:ext cx="2606040" cy="82296"/>
          </a:xfrm>
          <a:prstGeom prst="rect">
            <a:avLst/>
          </a:prstGeom>
          <a:solidFill>
            <a:srgbClr val="D85C57"/>
          </a:solidFill>
          <a:ln/>
        </p:spPr>
      </p:sp>
      <p:sp>
        <p:nvSpPr>
          <p:cNvPr id="19" name="Shape 15"/>
          <p:cNvSpPr/>
          <p:nvPr/>
        </p:nvSpPr>
        <p:spPr>
          <a:xfrm>
            <a:off x="6693408" y="2807208"/>
            <a:ext cx="868680" cy="868680"/>
          </a:xfrm>
          <a:prstGeom prst="ellipse">
            <a:avLst/>
          </a:prstGeom>
          <a:solidFill>
            <a:srgbClr val="FBE7E6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296" y="3054096"/>
            <a:ext cx="374904" cy="37490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75120" y="384048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Inconsistent standards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6675120" y="434340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varies by reviewer and repo, creating friction and uneven enforcement.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308592" y="2423160"/>
            <a:ext cx="2606040" cy="3246120"/>
          </a:xfrm>
          <a:prstGeom prst="rect">
            <a:avLst/>
          </a:prstGeom>
          <a:solidFill>
            <a:srgbClr val="F3F7FD"/>
          </a:solidFill>
          <a:ln w="12700">
            <a:solidFill>
              <a:srgbClr val="D7E2F1"/>
            </a:solidFill>
            <a:prstDash val="solid"/>
          </a:ln>
          <a:effectLst>
            <a:outerShdw blurRad="88900" dist="25400" dir="5400000" algn="bl" rotWithShape="0">
              <a:srgbClr val="1A2238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308592" y="2423160"/>
            <a:ext cx="2606040" cy="82296"/>
          </a:xfrm>
          <a:prstGeom prst="rect">
            <a:avLst/>
          </a:prstGeom>
          <a:solidFill>
            <a:srgbClr val="D85C57"/>
          </a:solidFill>
          <a:ln/>
        </p:spPr>
      </p:sp>
      <p:sp>
        <p:nvSpPr>
          <p:cNvPr id="25" name="Shape 20"/>
          <p:cNvSpPr/>
          <p:nvPr/>
        </p:nvSpPr>
        <p:spPr>
          <a:xfrm>
            <a:off x="9582912" y="2807208"/>
            <a:ext cx="868680" cy="868680"/>
          </a:xfrm>
          <a:prstGeom prst="ellipse">
            <a:avLst/>
          </a:prstGeom>
          <a:solidFill>
            <a:srgbClr val="FBE7E6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3054096"/>
            <a:ext cx="374904" cy="3749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564624" y="384048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Fragmented tooling</a:t>
            </a:r>
            <a:endParaRPr lang="en-US" sz="1650" dirty="0"/>
          </a:p>
        </p:txBody>
      </p:sp>
      <p:sp>
        <p:nvSpPr>
          <p:cNvPr id="28" name="Text 22"/>
          <p:cNvSpPr/>
          <p:nvPr/>
        </p:nvSpPr>
        <p:spPr>
          <a:xfrm>
            <a:off x="9564624" y="434340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processes are scattered across GitLab, BitBucket and GitHub with no shared view.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F6F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CHANGE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peer review vs. AI peer review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160520"/>
          </a:xfrm>
          <a:prstGeom prst="rect">
            <a:avLst/>
          </a:prstGeom>
          <a:solidFill>
            <a:srgbClr val="FBF3EA"/>
          </a:solidFill>
          <a:ln w="12700">
            <a:solidFill>
              <a:srgbClr val="F0DCC2"/>
            </a:solidFill>
            <a:prstDash val="solid"/>
          </a:ln>
          <a:effectLst>
            <a:outerShdw blurRad="88900" dist="25400" dir="5400000" algn="bl" rotWithShape="0">
              <a:srgbClr val="1A223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5349240" cy="749808"/>
          </a:xfrm>
          <a:prstGeom prst="rect">
            <a:avLst/>
          </a:prstGeom>
          <a:solidFill>
            <a:srgbClr val="E0913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0253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78308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Peer Review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537960" y="1783080"/>
            <a:ext cx="5349240" cy="4160520"/>
          </a:xfrm>
          <a:prstGeom prst="rect">
            <a:avLst/>
          </a:prstGeom>
          <a:solidFill>
            <a:srgbClr val="EAF3FB"/>
          </a:solidFill>
          <a:ln w="12700">
            <a:solidFill>
              <a:srgbClr val="C9E0F4"/>
            </a:solidFill>
            <a:prstDash val="solid"/>
          </a:ln>
          <a:effectLst>
            <a:outerShdw blurRad="88900" dist="25400" dir="5400000" algn="bl" rotWithShape="0">
              <a:srgbClr val="1A2238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783080"/>
            <a:ext cx="5349240" cy="749808"/>
          </a:xfrm>
          <a:prstGeom prst="rect">
            <a:avLst/>
          </a:prstGeom>
          <a:solidFill>
            <a:srgbClr val="2F6FE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002536"/>
            <a:ext cx="329184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51192" y="178308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Peer Review  —  Review Shield</a:t>
            </a:r>
            <a:endParaRPr lang="en-US" sz="18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277063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53312" y="2697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in hours or days</a:t>
            </a:r>
            <a:endParaRPr lang="en-US" sz="13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568" y="277063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51192" y="2697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3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 the moment a PR opens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914400" y="3200400"/>
            <a:ext cx="4800600" cy="0"/>
          </a:xfrm>
          <a:prstGeom prst="line">
            <a:avLst/>
          </a:prstGeom>
          <a:noFill/>
          <a:ln w="9525">
            <a:solidFill>
              <a:srgbClr val="EEDCC4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812280" y="3200400"/>
            <a:ext cx="4800600" cy="0"/>
          </a:xfrm>
          <a:prstGeom prst="line">
            <a:avLst/>
          </a:prstGeom>
          <a:noFill/>
          <a:ln w="9525">
            <a:solidFill>
              <a:srgbClr val="D5E6F6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374136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53312" y="33009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varies by reviewer &amp; mood</a:t>
            </a:r>
            <a:endParaRPr lang="en-US" sz="13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568" y="3374136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251192" y="33009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3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standards across every repo</a:t>
            </a:r>
            <a:endParaRPr lang="en-US" sz="1350" dirty="0"/>
          </a:p>
        </p:txBody>
      </p:sp>
      <p:sp>
        <p:nvSpPr>
          <p:cNvPr id="22" name="Shape 14"/>
          <p:cNvSpPr/>
          <p:nvPr/>
        </p:nvSpPr>
        <p:spPr>
          <a:xfrm>
            <a:off x="914400" y="3803904"/>
            <a:ext cx="4800600" cy="0"/>
          </a:xfrm>
          <a:prstGeom prst="line">
            <a:avLst/>
          </a:prstGeom>
          <a:noFill/>
          <a:ln w="9525">
            <a:solidFill>
              <a:srgbClr val="EEDCC4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6812280" y="3803904"/>
            <a:ext cx="4800600" cy="0"/>
          </a:xfrm>
          <a:prstGeom prst="line">
            <a:avLst/>
          </a:prstGeom>
          <a:noFill/>
          <a:ln w="9525">
            <a:solidFill>
              <a:srgbClr val="D5E6F6"/>
            </a:solidFill>
            <a:prstDash val="solid"/>
          </a:ln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977640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353312" y="39044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working hours</a:t>
            </a:r>
            <a:endParaRPr lang="en-US" sz="13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568" y="3977640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251192" y="39044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3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24/7, never fatigued</a:t>
            </a:r>
            <a:endParaRPr lang="en-US" sz="1350" dirty="0"/>
          </a:p>
        </p:txBody>
      </p:sp>
      <p:sp>
        <p:nvSpPr>
          <p:cNvPr id="28" name="Shape 18"/>
          <p:cNvSpPr/>
          <p:nvPr/>
        </p:nvSpPr>
        <p:spPr>
          <a:xfrm>
            <a:off x="914400" y="4407408"/>
            <a:ext cx="4800600" cy="0"/>
          </a:xfrm>
          <a:prstGeom prst="line">
            <a:avLst/>
          </a:prstGeom>
          <a:noFill/>
          <a:ln w="9525">
            <a:solidFill>
              <a:srgbClr val="EEDCC4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6812280" y="4407408"/>
            <a:ext cx="4800600" cy="0"/>
          </a:xfrm>
          <a:prstGeom prst="line">
            <a:avLst/>
          </a:prstGeom>
          <a:noFill/>
          <a:ln w="9525">
            <a:solidFill>
              <a:srgbClr val="D5E6F6"/>
            </a:solidFill>
            <a:prstDash val="solid"/>
          </a:ln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581144"/>
            <a:ext cx="274320" cy="27432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353312" y="45079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reads files in isolation</a:t>
            </a:r>
            <a:endParaRPr lang="en-US" sz="135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568" y="4581144"/>
            <a:ext cx="274320" cy="27432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7251192" y="45079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3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Whole-codebase context via Graph RAG</a:t>
            </a:r>
            <a:endParaRPr lang="en-US" sz="1350" dirty="0"/>
          </a:p>
        </p:txBody>
      </p:sp>
      <p:sp>
        <p:nvSpPr>
          <p:cNvPr id="34" name="Shape 22"/>
          <p:cNvSpPr/>
          <p:nvPr/>
        </p:nvSpPr>
        <p:spPr>
          <a:xfrm>
            <a:off x="914400" y="5010912"/>
            <a:ext cx="4800600" cy="0"/>
          </a:xfrm>
          <a:prstGeom prst="line">
            <a:avLst/>
          </a:prstGeom>
          <a:noFill/>
          <a:ln w="9525">
            <a:solidFill>
              <a:srgbClr val="EEDCC4"/>
            </a:solidFill>
            <a:prstDash val="solid"/>
          </a:ln>
        </p:spPr>
      </p:sp>
      <p:sp>
        <p:nvSpPr>
          <p:cNvPr id="35" name="Shape 23"/>
          <p:cNvSpPr/>
          <p:nvPr/>
        </p:nvSpPr>
        <p:spPr>
          <a:xfrm>
            <a:off x="6812280" y="5010912"/>
            <a:ext cx="4800600" cy="0"/>
          </a:xfrm>
          <a:prstGeom prst="line">
            <a:avLst/>
          </a:prstGeom>
          <a:noFill/>
          <a:ln w="9525">
            <a:solidFill>
              <a:srgbClr val="D5E6F6"/>
            </a:solidFill>
            <a:prstDash val="solid"/>
          </a:ln>
        </p:spPr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184648"/>
            <a:ext cx="274320" cy="27432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1353312" y="51114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scales linearly with PR volume</a:t>
            </a:r>
            <a:endParaRPr lang="en-US" sz="1350" dirty="0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568" y="5184648"/>
            <a:ext cx="274320" cy="274320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7251192" y="51114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3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1000s of PRs at low marginal cost</a:t>
            </a:r>
            <a:endParaRPr lang="en-US" sz="1350" dirty="0"/>
          </a:p>
        </p:txBody>
      </p:sp>
      <p:sp>
        <p:nvSpPr>
          <p:cNvPr id="40" name="Text 26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B6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Shield brings it all together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centralized, AI-powered platform replacing fragmented review processes — with intelligent automation and real-time visibility across the whole organization.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606040" cy="3154680"/>
          </a:xfrm>
          <a:prstGeom prst="rect">
            <a:avLst/>
          </a:prstGeom>
          <a:solidFill>
            <a:srgbClr val="16264C"/>
          </a:solidFill>
          <a:ln w="12700">
            <a:solidFill>
              <a:srgbClr val="27375C"/>
            </a:solidFill>
            <a:prstDash val="solid"/>
          </a:ln>
          <a:effectLst>
            <a:outerShdw blurRad="114300" dist="38100" dir="5400000" algn="bl" rotWithShape="0">
              <a:srgbClr val="0A142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468880"/>
            <a:ext cx="91440" cy="315468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2834640"/>
            <a:ext cx="868680" cy="868680"/>
          </a:xfrm>
          <a:prstGeom prst="ellipse">
            <a:avLst/>
          </a:prstGeom>
          <a:solidFill>
            <a:srgbClr val="2F6FE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3081528"/>
            <a:ext cx="374904" cy="374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840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Reviews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4480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intelligent feedback that catches issues before they reach production.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29584" y="2468880"/>
            <a:ext cx="2606040" cy="3154680"/>
          </a:xfrm>
          <a:prstGeom prst="rect">
            <a:avLst/>
          </a:prstGeom>
          <a:solidFill>
            <a:srgbClr val="16264C"/>
          </a:solidFill>
          <a:ln w="12700">
            <a:solidFill>
              <a:srgbClr val="27375C"/>
            </a:solidFill>
            <a:prstDash val="solid"/>
          </a:ln>
          <a:effectLst>
            <a:outerShdw blurRad="114300" dist="38100" dir="5400000" algn="bl" rotWithShape="0">
              <a:srgbClr val="0A1428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29584" y="2468880"/>
            <a:ext cx="91440" cy="3154680"/>
          </a:xfrm>
          <a:prstGeom prst="rect">
            <a:avLst/>
          </a:prstGeom>
          <a:solidFill>
            <a:srgbClr val="1FB6C9"/>
          </a:solidFill>
          <a:ln/>
        </p:spPr>
      </p:sp>
      <p:sp>
        <p:nvSpPr>
          <p:cNvPr id="13" name="Shape 10"/>
          <p:cNvSpPr/>
          <p:nvPr/>
        </p:nvSpPr>
        <p:spPr>
          <a:xfrm>
            <a:off x="3822192" y="2834640"/>
            <a:ext cx="868680" cy="868680"/>
          </a:xfrm>
          <a:prstGeom prst="ellipse">
            <a:avLst/>
          </a:prstGeom>
          <a:solidFill>
            <a:srgbClr val="1FB6C9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3081528"/>
            <a:ext cx="374904" cy="3749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03904" y="3840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Multi-VCS Support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803904" y="4480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seamlessly across GitLab, BitBucket, GitHub — and more.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19088" y="2468880"/>
            <a:ext cx="2606040" cy="3154680"/>
          </a:xfrm>
          <a:prstGeom prst="rect">
            <a:avLst/>
          </a:prstGeom>
          <a:solidFill>
            <a:srgbClr val="16264C"/>
          </a:solidFill>
          <a:ln w="12700">
            <a:solidFill>
              <a:srgbClr val="27375C"/>
            </a:solidFill>
            <a:prstDash val="solid"/>
          </a:ln>
          <a:effectLst>
            <a:outerShdw blurRad="114300" dist="38100" dir="5400000" algn="bl" rotWithShape="0">
              <a:srgbClr val="0A1428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19088" y="2468880"/>
            <a:ext cx="91440" cy="3154680"/>
          </a:xfrm>
          <a:prstGeom prst="rect">
            <a:avLst/>
          </a:prstGeom>
          <a:solidFill>
            <a:srgbClr val="2FB67D"/>
          </a:solidFill>
          <a:ln/>
        </p:spPr>
      </p:sp>
      <p:sp>
        <p:nvSpPr>
          <p:cNvPr id="19" name="Shape 15"/>
          <p:cNvSpPr/>
          <p:nvPr/>
        </p:nvSpPr>
        <p:spPr>
          <a:xfrm>
            <a:off x="6711696" y="2834640"/>
            <a:ext cx="868680" cy="868680"/>
          </a:xfrm>
          <a:prstGeom prst="ellipse">
            <a:avLst/>
          </a:prstGeom>
          <a:solidFill>
            <a:srgbClr val="2FB67D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8584" y="3081528"/>
            <a:ext cx="374904" cy="37490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93408" y="3840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Comprehensive Dashboards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693408" y="4480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adoption, activity and impact across every team and repo.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308592" y="2468880"/>
            <a:ext cx="2606040" cy="3154680"/>
          </a:xfrm>
          <a:prstGeom prst="rect">
            <a:avLst/>
          </a:prstGeom>
          <a:solidFill>
            <a:srgbClr val="16264C"/>
          </a:solidFill>
          <a:ln w="12700">
            <a:solidFill>
              <a:srgbClr val="27375C"/>
            </a:solidFill>
            <a:prstDash val="solid"/>
          </a:ln>
          <a:effectLst>
            <a:outerShdw blurRad="114300" dist="38100" dir="5400000" algn="bl" rotWithShape="0">
              <a:srgbClr val="0A1428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308592" y="2468880"/>
            <a:ext cx="91440" cy="3154680"/>
          </a:xfrm>
          <a:prstGeom prst="rect">
            <a:avLst/>
          </a:prstGeom>
          <a:solidFill>
            <a:srgbClr val="E0913A"/>
          </a:solidFill>
          <a:ln/>
        </p:spPr>
      </p:sp>
      <p:sp>
        <p:nvSpPr>
          <p:cNvPr id="25" name="Shape 20"/>
          <p:cNvSpPr/>
          <p:nvPr/>
        </p:nvSpPr>
        <p:spPr>
          <a:xfrm>
            <a:off x="9601200" y="2834640"/>
            <a:ext cx="868680" cy="868680"/>
          </a:xfrm>
          <a:prstGeom prst="ellipse">
            <a:avLst/>
          </a:prstGeom>
          <a:solidFill>
            <a:srgbClr val="E0913A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8088" y="3081528"/>
            <a:ext cx="374904" cy="3749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582912" y="3840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Actionable Metrics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9582912" y="4480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saved, issues found, acceptance ratios — all at your fingertips.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F6F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end-to-end review flow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14400" y="1856232"/>
            <a:ext cx="0" cy="4272077"/>
          </a:xfrm>
          <a:prstGeom prst="line">
            <a:avLst/>
          </a:prstGeom>
          <a:noFill/>
          <a:ln w="25400">
            <a:solidFill>
              <a:srgbClr val="D7E2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627632"/>
            <a:ext cx="493776" cy="493776"/>
          </a:xfrm>
          <a:prstGeom prst="ellipse">
            <a:avLst/>
          </a:prstGeom>
          <a:solidFill>
            <a:srgbClr val="2F6F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276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8249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1572768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webhooks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206240" y="1563624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Core Review &amp; Merge webhooks per repo (name + URL) in GitLab, BitBucket or GitHub.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667512" y="2324405"/>
            <a:ext cx="493776" cy="493776"/>
          </a:xfrm>
          <a:prstGeom prst="ellipse">
            <a:avLst/>
          </a:prstGeom>
          <a:solidFill>
            <a:srgbClr val="2F6F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" y="2324405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379269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20240" y="2269541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 via Jenkins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206240" y="2260397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URL hits the Jenkins URL, launching an AI peer review for each PR / MR.</a:t>
            </a:r>
            <a:endParaRPr lang="en-US" sz="1130" dirty="0"/>
          </a:p>
        </p:txBody>
      </p:sp>
      <p:sp>
        <p:nvSpPr>
          <p:cNvPr id="15" name="Shape 11"/>
          <p:cNvSpPr/>
          <p:nvPr/>
        </p:nvSpPr>
        <p:spPr>
          <a:xfrm>
            <a:off x="667512" y="3021178"/>
            <a:ext cx="493776" cy="493776"/>
          </a:xfrm>
          <a:prstGeom prst="ellipse">
            <a:avLst/>
          </a:prstGeom>
          <a:solidFill>
            <a:srgbClr val="1FB6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7512" y="302117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07604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20240" y="296631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Clone &amp; build Graph RAG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4206240" y="2957170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 is cloned and indexed into a code Graph RAG of files, symbols &amp; dependencies.</a:t>
            </a:r>
            <a:endParaRPr lang="en-US" sz="1130" dirty="0"/>
          </a:p>
        </p:txBody>
      </p:sp>
      <p:sp>
        <p:nvSpPr>
          <p:cNvPr id="20" name="Shape 15"/>
          <p:cNvSpPr/>
          <p:nvPr/>
        </p:nvSpPr>
        <p:spPr>
          <a:xfrm>
            <a:off x="667512" y="3717950"/>
            <a:ext cx="493776" cy="493776"/>
          </a:xfrm>
          <a:prstGeom prst="ellipse">
            <a:avLst/>
          </a:prstGeom>
          <a:solidFill>
            <a:srgbClr val="1FB6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67512" y="371795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3772814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20240" y="366308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 + retrieve context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4206240" y="3653942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PR / MR diff, then pull the connected context for it from the Graph RAG.</a:t>
            </a:r>
            <a:endParaRPr lang="en-US" sz="1130" dirty="0"/>
          </a:p>
        </p:txBody>
      </p:sp>
      <p:sp>
        <p:nvSpPr>
          <p:cNvPr id="25" name="Shape 19"/>
          <p:cNvSpPr/>
          <p:nvPr/>
        </p:nvSpPr>
        <p:spPr>
          <a:xfrm>
            <a:off x="667512" y="4414723"/>
            <a:ext cx="493776" cy="493776"/>
          </a:xfrm>
          <a:prstGeom prst="ellipse">
            <a:avLst/>
          </a:prstGeom>
          <a:solidFill>
            <a:srgbClr val="2F6F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67512" y="4414723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4469587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920240" y="4359859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with the LLM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206240" y="4350715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change to the LLM together with its Graph RAG context for a deep review.</a:t>
            </a:r>
            <a:endParaRPr lang="en-US" sz="1130" dirty="0"/>
          </a:p>
        </p:txBody>
      </p:sp>
      <p:sp>
        <p:nvSpPr>
          <p:cNvPr id="30" name="Shape 23"/>
          <p:cNvSpPr/>
          <p:nvPr/>
        </p:nvSpPr>
        <p:spPr>
          <a:xfrm>
            <a:off x="667512" y="5111496"/>
            <a:ext cx="493776" cy="493776"/>
          </a:xfrm>
          <a:prstGeom prst="ellipse">
            <a:avLst/>
          </a:prstGeom>
          <a:solidFill>
            <a:srgbClr val="2FB67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667512" y="51114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5166360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920240" y="505663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Comments &amp; summary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4206240" y="5047488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inline review comments and a concise PR summary back on the PR / MR.</a:t>
            </a:r>
            <a:endParaRPr lang="en-US" sz="1130" dirty="0"/>
          </a:p>
        </p:txBody>
      </p:sp>
      <p:sp>
        <p:nvSpPr>
          <p:cNvPr id="35" name="Shape 27"/>
          <p:cNvSpPr/>
          <p:nvPr/>
        </p:nvSpPr>
        <p:spPr>
          <a:xfrm>
            <a:off x="667512" y="5808269"/>
            <a:ext cx="493776" cy="493776"/>
          </a:xfrm>
          <a:prstGeom prst="ellipse">
            <a:avLst/>
          </a:prstGeom>
          <a:solidFill>
            <a:srgbClr val="2FB67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667512" y="5808269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" y="5863133"/>
            <a:ext cx="384048" cy="38404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920240" y="5753405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 check → dashboard</a:t>
            </a:r>
            <a:endParaRPr lang="en-US" sz="1450" dirty="0"/>
          </a:p>
        </p:txBody>
      </p:sp>
      <p:sp>
        <p:nvSpPr>
          <p:cNvPr id="39" name="Text 30"/>
          <p:cNvSpPr/>
          <p:nvPr/>
        </p:nvSpPr>
        <p:spPr>
          <a:xfrm>
            <a:off x="4206240" y="5744261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Merge webhook verifies fixes and streams the data to the Review Shield dashboard.</a:t>
            </a:r>
            <a:endParaRPr lang="en-US" sz="1130" dirty="0"/>
          </a:p>
        </p:txBody>
      </p:sp>
      <p:sp>
        <p:nvSpPr>
          <p:cNvPr id="40" name="Shape 31"/>
          <p:cNvSpPr/>
          <p:nvPr/>
        </p:nvSpPr>
        <p:spPr>
          <a:xfrm>
            <a:off x="8229600" y="1627632"/>
            <a:ext cx="3520440" cy="4892040"/>
          </a:xfrm>
          <a:prstGeom prst="rect">
            <a:avLst/>
          </a:prstGeom>
          <a:solidFill>
            <a:srgbClr val="0E1A33"/>
          </a:solidFill>
          <a:ln/>
          <a:effectLst>
            <a:outerShdw blurRad="114300" dist="38100" dir="5400000" algn="bl" rotWithShape="0">
              <a:srgbClr val="0A1428">
                <a:alpha val="16000"/>
              </a:srgbClr>
            </a:outerShdw>
          </a:effectLst>
        </p:spPr>
      </p:sp>
      <p:sp>
        <p:nvSpPr>
          <p:cNvPr id="41" name="Text 32"/>
          <p:cNvSpPr/>
          <p:nvPr/>
        </p:nvSpPr>
        <p:spPr>
          <a:xfrm>
            <a:off x="8503920" y="18288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B6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AT A GLANCE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8503920" y="2340864"/>
            <a:ext cx="2971800" cy="548640"/>
          </a:xfrm>
          <a:prstGeom prst="roundRect">
            <a:avLst>
              <a:gd name="adj" fmla="val 11667"/>
            </a:avLst>
          </a:prstGeom>
          <a:solidFill>
            <a:srgbClr val="16264C"/>
          </a:solidFill>
          <a:ln w="9525">
            <a:solidFill>
              <a:srgbClr val="2A3D63"/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8512" y="2478024"/>
            <a:ext cx="274320" cy="27432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052560" y="234086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 Webhook</a:t>
            </a:r>
            <a:endParaRPr lang="en-US" sz="1250" dirty="0"/>
          </a:p>
        </p:txBody>
      </p:sp>
      <p:sp>
        <p:nvSpPr>
          <p:cNvPr id="45" name="Text 35"/>
          <p:cNvSpPr/>
          <p:nvPr/>
        </p:nvSpPr>
        <p:spPr>
          <a:xfrm>
            <a:off x="8503920" y="2871216"/>
            <a:ext cx="29718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B6D8"/>
                </a:solidFill>
              </a:rPr>
              <a:t>▼</a:t>
            </a:r>
            <a:endParaRPr lang="en-US" sz="800" dirty="0"/>
          </a:p>
        </p:txBody>
      </p:sp>
      <p:sp>
        <p:nvSpPr>
          <p:cNvPr id="46" name="Shape 36"/>
          <p:cNvSpPr/>
          <p:nvPr/>
        </p:nvSpPr>
        <p:spPr>
          <a:xfrm>
            <a:off x="8503920" y="3012948"/>
            <a:ext cx="2971800" cy="548640"/>
          </a:xfrm>
          <a:prstGeom prst="roundRect">
            <a:avLst>
              <a:gd name="adj" fmla="val 11667"/>
            </a:avLst>
          </a:prstGeom>
          <a:solidFill>
            <a:srgbClr val="16264C"/>
          </a:solidFill>
          <a:ln w="9525">
            <a:solidFill>
              <a:srgbClr val="2A3D63"/>
            </a:solidFill>
            <a:prstDash val="solid"/>
          </a:ln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8512" y="3150108"/>
            <a:ext cx="274320" cy="27432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9052560" y="30129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Trigger</a:t>
            </a:r>
            <a:endParaRPr lang="en-US" sz="1250" dirty="0"/>
          </a:p>
        </p:txBody>
      </p:sp>
      <p:sp>
        <p:nvSpPr>
          <p:cNvPr id="49" name="Text 38"/>
          <p:cNvSpPr/>
          <p:nvPr/>
        </p:nvSpPr>
        <p:spPr>
          <a:xfrm>
            <a:off x="8503920" y="3543300"/>
            <a:ext cx="29718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B6D8"/>
                </a:solidFill>
              </a:rPr>
              <a:t>▼</a:t>
            </a:r>
            <a:endParaRPr lang="en-US" sz="800" dirty="0"/>
          </a:p>
        </p:txBody>
      </p:sp>
      <p:sp>
        <p:nvSpPr>
          <p:cNvPr id="50" name="Shape 39"/>
          <p:cNvSpPr/>
          <p:nvPr/>
        </p:nvSpPr>
        <p:spPr>
          <a:xfrm>
            <a:off x="8503920" y="3685032"/>
            <a:ext cx="2971800" cy="548640"/>
          </a:xfrm>
          <a:prstGeom prst="roundRect">
            <a:avLst>
              <a:gd name="adj" fmla="val 11667"/>
            </a:avLst>
          </a:prstGeom>
          <a:solidFill>
            <a:srgbClr val="16264C"/>
          </a:solidFill>
          <a:ln w="9525">
            <a:solidFill>
              <a:srgbClr val="2A3D63"/>
            </a:solidFill>
            <a:prstDash val="solid"/>
          </a:ln>
        </p:spPr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68512" y="3822192"/>
            <a:ext cx="274320" cy="274320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9052560" y="36850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+ Graph RAG</a:t>
            </a:r>
            <a:endParaRPr lang="en-US" sz="1250" dirty="0"/>
          </a:p>
        </p:txBody>
      </p:sp>
      <p:sp>
        <p:nvSpPr>
          <p:cNvPr id="53" name="Text 41"/>
          <p:cNvSpPr/>
          <p:nvPr/>
        </p:nvSpPr>
        <p:spPr>
          <a:xfrm>
            <a:off x="8503920" y="4215384"/>
            <a:ext cx="29718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B6D8"/>
                </a:solidFill>
              </a:rPr>
              <a:t>▼</a:t>
            </a:r>
            <a:endParaRPr lang="en-US" sz="800" dirty="0"/>
          </a:p>
        </p:txBody>
      </p:sp>
      <p:sp>
        <p:nvSpPr>
          <p:cNvPr id="54" name="Shape 42"/>
          <p:cNvSpPr/>
          <p:nvPr/>
        </p:nvSpPr>
        <p:spPr>
          <a:xfrm>
            <a:off x="8503920" y="4357116"/>
            <a:ext cx="2971800" cy="548640"/>
          </a:xfrm>
          <a:prstGeom prst="roundRect">
            <a:avLst>
              <a:gd name="adj" fmla="val 11667"/>
            </a:avLst>
          </a:prstGeom>
          <a:solidFill>
            <a:srgbClr val="16264C"/>
          </a:solidFill>
          <a:ln w="9525">
            <a:solidFill>
              <a:srgbClr val="2A3D63"/>
            </a:solidFill>
            <a:prstDash val="solid"/>
          </a:ln>
        </p:spPr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68512" y="4494276"/>
            <a:ext cx="274320" cy="274320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9052560" y="435711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Review</a:t>
            </a:r>
            <a:endParaRPr lang="en-US" sz="1250" dirty="0"/>
          </a:p>
        </p:txBody>
      </p:sp>
      <p:sp>
        <p:nvSpPr>
          <p:cNvPr id="57" name="Text 44"/>
          <p:cNvSpPr/>
          <p:nvPr/>
        </p:nvSpPr>
        <p:spPr>
          <a:xfrm>
            <a:off x="8503920" y="4887468"/>
            <a:ext cx="29718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B6D8"/>
                </a:solidFill>
              </a:rPr>
              <a:t>▼</a:t>
            </a:r>
            <a:endParaRPr lang="en-US" sz="800" dirty="0"/>
          </a:p>
        </p:txBody>
      </p:sp>
      <p:sp>
        <p:nvSpPr>
          <p:cNvPr id="58" name="Shape 45"/>
          <p:cNvSpPr/>
          <p:nvPr/>
        </p:nvSpPr>
        <p:spPr>
          <a:xfrm>
            <a:off x="8503920" y="5029200"/>
            <a:ext cx="2971800" cy="548640"/>
          </a:xfrm>
          <a:prstGeom prst="roundRect">
            <a:avLst>
              <a:gd name="adj" fmla="val 11667"/>
            </a:avLst>
          </a:prstGeom>
          <a:solidFill>
            <a:srgbClr val="16264C"/>
          </a:solidFill>
          <a:ln w="9525">
            <a:solidFill>
              <a:srgbClr val="2A3D63"/>
            </a:solidFill>
            <a:prstDash val="solid"/>
          </a:ln>
        </p:spPr>
      </p:sp>
      <p:pic>
        <p:nvPicPr>
          <p:cNvPr id="59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68512" y="5166360"/>
            <a:ext cx="274320" cy="274320"/>
          </a:xfrm>
          <a:prstGeom prst="rect">
            <a:avLst/>
          </a:prstGeom>
        </p:spPr>
      </p:pic>
      <p:sp>
        <p:nvSpPr>
          <p:cNvPr id="60" name="Text 46"/>
          <p:cNvSpPr/>
          <p:nvPr/>
        </p:nvSpPr>
        <p:spPr>
          <a:xfrm>
            <a:off x="9052560" y="5029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+ Summary</a:t>
            </a:r>
            <a:endParaRPr lang="en-US" sz="1250" dirty="0"/>
          </a:p>
        </p:txBody>
      </p:sp>
      <p:sp>
        <p:nvSpPr>
          <p:cNvPr id="61" name="Text 47"/>
          <p:cNvSpPr/>
          <p:nvPr/>
        </p:nvSpPr>
        <p:spPr>
          <a:xfrm>
            <a:off x="8503920" y="5559552"/>
            <a:ext cx="29718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B6D8"/>
                </a:solidFill>
              </a:rPr>
              <a:t>▼</a:t>
            </a:r>
            <a:endParaRPr lang="en-US" sz="800" dirty="0"/>
          </a:p>
        </p:txBody>
      </p:sp>
      <p:sp>
        <p:nvSpPr>
          <p:cNvPr id="62" name="Shape 48"/>
          <p:cNvSpPr/>
          <p:nvPr/>
        </p:nvSpPr>
        <p:spPr>
          <a:xfrm>
            <a:off x="8503920" y="5701284"/>
            <a:ext cx="2971800" cy="548640"/>
          </a:xfrm>
          <a:prstGeom prst="roundRect">
            <a:avLst>
              <a:gd name="adj" fmla="val 11667"/>
            </a:avLst>
          </a:prstGeom>
          <a:solidFill>
            <a:srgbClr val="16264C"/>
          </a:solidFill>
          <a:ln w="9525">
            <a:solidFill>
              <a:srgbClr val="2A3D63"/>
            </a:solidFill>
            <a:prstDash val="solid"/>
          </a:ln>
        </p:spPr>
      </p:sp>
      <p:pic>
        <p:nvPicPr>
          <p:cNvPr id="63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68512" y="5838444"/>
            <a:ext cx="274320" cy="274320"/>
          </a:xfrm>
          <a:prstGeom prst="rect">
            <a:avLst/>
          </a:prstGeom>
        </p:spPr>
      </p:pic>
      <p:sp>
        <p:nvSpPr>
          <p:cNvPr id="64" name="Text 49"/>
          <p:cNvSpPr/>
          <p:nvPr/>
        </p:nvSpPr>
        <p:spPr>
          <a:xfrm>
            <a:off x="9052560" y="570128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Shield Dashboard</a:t>
            </a:r>
            <a:endParaRPr lang="en-US" sz="1250" dirty="0"/>
          </a:p>
        </p:txBody>
      </p:sp>
      <p:sp>
        <p:nvSpPr>
          <p:cNvPr id="65" name="Text 5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B6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Context-aware reviews with code Graph RAG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review a diff in isolation. Review Shield indexes the whole codebase as a graph — functions, classes, imports, call paths — then retrieves the change’s connected context before the LLM ever sees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349240" cy="3566160"/>
          </a:xfrm>
          <a:prstGeom prst="rect">
            <a:avLst/>
          </a:prstGeom>
          <a:solidFill>
            <a:srgbClr val="16264C"/>
          </a:solidFill>
          <a:ln w="12700">
            <a:solidFill>
              <a:srgbClr val="2737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514600"/>
            <a:ext cx="5349240" cy="640080"/>
          </a:xfrm>
          <a:prstGeom prst="rect">
            <a:avLst/>
          </a:prstGeom>
          <a:solidFill>
            <a:srgbClr val="3A233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974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5146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C5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Diff-only review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40156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332841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only the changed lines, blind to the rest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05993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16736" y="398678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cross-file and downstream breakage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1830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16736" y="464515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judge intent or architectural fit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5376672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16736" y="5303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noisy, low-context comments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537960" y="2514600"/>
            <a:ext cx="5349240" cy="3566160"/>
          </a:xfrm>
          <a:prstGeom prst="rect">
            <a:avLst/>
          </a:prstGeom>
          <a:solidFill>
            <a:srgbClr val="12283F"/>
          </a:solidFill>
          <a:ln w="15875">
            <a:solidFill>
              <a:srgbClr val="2FB67D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6537960" y="2514600"/>
            <a:ext cx="5349240" cy="640080"/>
          </a:xfrm>
          <a:prstGeom prst="rect">
            <a:avLst/>
          </a:prstGeom>
          <a:solidFill>
            <a:srgbClr val="16332B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2697480"/>
            <a:ext cx="310896" cy="2926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251192" y="25146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EB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RAG context-aware review</a:t>
            </a:r>
            <a:endParaRPr lang="en-US" sz="16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568" y="3401568"/>
            <a:ext cx="256032" cy="25603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214616" y="332841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callers, callees &amp; related modules for the change</a:t>
            </a:r>
            <a:endParaRPr lang="en-US" sz="12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568" y="4059936"/>
            <a:ext cx="256032" cy="25603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214616" y="398678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cross-file regressions and broken contracts</a:t>
            </a:r>
            <a:endParaRPr lang="en-US" sz="125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568" y="4718304"/>
            <a:ext cx="256032" cy="256032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214616" y="464515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against real architecture &amp; conventions</a:t>
            </a:r>
            <a:endParaRPr lang="en-US" sz="125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568" y="5376672"/>
            <a:ext cx="256032" cy="256032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7214616" y="5303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false positives, sharper, actionable comments</a:t>
            </a:r>
            <a:endParaRPr lang="en-US" sz="1250" dirty="0"/>
          </a:p>
        </p:txBody>
      </p:sp>
      <p:sp>
        <p:nvSpPr>
          <p:cNvPr id="29" name="Text 17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F6F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leadership needs to see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02152" cy="1783080"/>
          </a:xfrm>
          <a:prstGeom prst="rect">
            <a:avLst/>
          </a:prstGeom>
          <a:solidFill>
            <a:srgbClr val="F3F7FD"/>
          </a:solidFill>
          <a:ln w="12700">
            <a:solidFill>
              <a:srgbClr val="D7E2F1"/>
            </a:solidFill>
            <a:prstDash val="solid"/>
          </a:ln>
          <a:effectLst>
            <a:outerShdw blurRad="88900" dist="25400" dir="5400000" algn="bl" rotWithShape="0">
              <a:srgbClr val="1A223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21408"/>
            <a:ext cx="749808" cy="749808"/>
          </a:xfrm>
          <a:prstGeom prst="ellipse">
            <a:avLst/>
          </a:prstGeom>
          <a:solidFill>
            <a:srgbClr val="2F6FE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34086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2103120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Review Activity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907792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review trends and volume over time, by team and repo.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4416552" y="1828800"/>
            <a:ext cx="3502152" cy="1783080"/>
          </a:xfrm>
          <a:prstGeom prst="rect">
            <a:avLst/>
          </a:prstGeom>
          <a:solidFill>
            <a:srgbClr val="F3F7FD"/>
          </a:solidFill>
          <a:ln w="12700">
            <a:solidFill>
              <a:srgbClr val="D7E2F1"/>
            </a:solidFill>
            <a:prstDash val="solid"/>
          </a:ln>
          <a:effectLst>
            <a:outerShdw blurRad="88900" dist="25400" dir="5400000" algn="bl" rotWithShape="0">
              <a:srgbClr val="1A2238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72584" y="2121408"/>
            <a:ext cx="749808" cy="749808"/>
          </a:xfrm>
          <a:prstGeom prst="ellipse">
            <a:avLst/>
          </a:prstGeom>
          <a:solidFill>
            <a:srgbClr val="1FB6C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34086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2103120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 vs. Human Effort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90872" y="2907792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where AI creates leverage versus manual effort.</a:t>
            </a:r>
            <a:endParaRPr lang="en-US" sz="1180" dirty="0"/>
          </a:p>
        </p:txBody>
      </p:sp>
      <p:sp>
        <p:nvSpPr>
          <p:cNvPr id="14" name="Shape 10"/>
          <p:cNvSpPr/>
          <p:nvPr/>
        </p:nvSpPr>
        <p:spPr>
          <a:xfrm>
            <a:off x="8193024" y="1828800"/>
            <a:ext cx="3502152" cy="1783080"/>
          </a:xfrm>
          <a:prstGeom prst="rect">
            <a:avLst/>
          </a:prstGeom>
          <a:solidFill>
            <a:srgbClr val="F3F7FD"/>
          </a:solidFill>
          <a:ln w="12700">
            <a:solidFill>
              <a:srgbClr val="D7E2F1"/>
            </a:solidFill>
            <a:prstDash val="solid"/>
          </a:ln>
          <a:effectLst>
            <a:outerShdw blurRad="88900" dist="25400" dir="5400000" algn="bl" rotWithShape="0">
              <a:srgbClr val="1A2238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2121408"/>
            <a:ext cx="749808" cy="749808"/>
          </a:xfrm>
          <a:prstGeom prst="ellipse">
            <a:avLst/>
          </a:prstGeom>
          <a:solidFill>
            <a:srgbClr val="E0913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234086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08592" y="2103120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 Severity &amp; Categories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67344" y="2907792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matters most — by severity and type.</a:t>
            </a:r>
            <a:endParaRPr lang="en-US" sz="1180" dirty="0"/>
          </a:p>
        </p:txBody>
      </p:sp>
      <p:sp>
        <p:nvSpPr>
          <p:cNvPr id="19" name="Shape 14"/>
          <p:cNvSpPr/>
          <p:nvPr/>
        </p:nvSpPr>
        <p:spPr>
          <a:xfrm>
            <a:off x="640080" y="3904488"/>
            <a:ext cx="3502152" cy="1783080"/>
          </a:xfrm>
          <a:prstGeom prst="rect">
            <a:avLst/>
          </a:prstGeom>
          <a:solidFill>
            <a:srgbClr val="F3F7FD"/>
          </a:solidFill>
          <a:ln w="12700">
            <a:solidFill>
              <a:srgbClr val="D7E2F1"/>
            </a:solidFill>
            <a:prstDash val="solid"/>
          </a:ln>
          <a:effectLst>
            <a:outerShdw blurRad="88900" dist="25400" dir="5400000" algn="bl" rotWithShape="0">
              <a:srgbClr val="1A2238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197096"/>
            <a:ext cx="749808" cy="749808"/>
          </a:xfrm>
          <a:prstGeom prst="ellipse">
            <a:avLst/>
          </a:prstGeom>
          <a:solidFill>
            <a:srgbClr val="2FB67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" y="441655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55648" y="417880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&amp; Leaderboards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400" y="4983480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Gamify quality and drive healthy adoption across the org.</a:t>
            </a:r>
            <a:endParaRPr lang="en-US" sz="1180" dirty="0"/>
          </a:p>
        </p:txBody>
      </p:sp>
      <p:sp>
        <p:nvSpPr>
          <p:cNvPr id="24" name="Shape 18"/>
          <p:cNvSpPr/>
          <p:nvPr/>
        </p:nvSpPr>
        <p:spPr>
          <a:xfrm>
            <a:off x="4416552" y="3904488"/>
            <a:ext cx="3502152" cy="1783080"/>
          </a:xfrm>
          <a:prstGeom prst="rect">
            <a:avLst/>
          </a:prstGeom>
          <a:solidFill>
            <a:srgbClr val="F3F7FD"/>
          </a:solidFill>
          <a:ln w="12700">
            <a:solidFill>
              <a:srgbClr val="D7E2F1"/>
            </a:solidFill>
            <a:prstDash val="solid"/>
          </a:ln>
          <a:effectLst>
            <a:outerShdw blurRad="88900" dist="25400" dir="5400000" algn="bl" rotWithShape="0">
              <a:srgbClr val="1A2238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72584" y="4197096"/>
            <a:ext cx="749808" cy="749808"/>
          </a:xfrm>
          <a:prstGeom prst="ellipse">
            <a:avLst/>
          </a:prstGeom>
          <a:solidFill>
            <a:srgbClr val="2F6FE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441655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32120" y="417880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Repositories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90872" y="4983480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hotspots, trends and the most active codebases.</a:t>
            </a:r>
            <a:endParaRPr lang="en-US" sz="1180" dirty="0"/>
          </a:p>
        </p:txBody>
      </p:sp>
      <p:sp>
        <p:nvSpPr>
          <p:cNvPr id="29" name="Shape 22"/>
          <p:cNvSpPr/>
          <p:nvPr/>
        </p:nvSpPr>
        <p:spPr>
          <a:xfrm>
            <a:off x="8193024" y="3904488"/>
            <a:ext cx="3502152" cy="1783080"/>
          </a:xfrm>
          <a:prstGeom prst="rect">
            <a:avLst/>
          </a:prstGeom>
          <a:solidFill>
            <a:srgbClr val="F3F7FD"/>
          </a:solidFill>
          <a:ln w="12700">
            <a:solidFill>
              <a:srgbClr val="D7E2F1"/>
            </a:solidFill>
            <a:prstDash val="solid"/>
          </a:ln>
          <a:effectLst>
            <a:outerShdw blurRad="88900" dist="25400" dir="5400000" algn="bl" rotWithShape="0">
              <a:srgbClr val="1A2238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49056" y="4197096"/>
            <a:ext cx="749808" cy="749808"/>
          </a:xfrm>
          <a:prstGeom prst="ellipse">
            <a:avLst/>
          </a:prstGeom>
          <a:solidFill>
            <a:srgbClr val="1FB6C9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8512" y="4416552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08592" y="417880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Metrics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67344" y="4983480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review time, acceptance ratio and time saved, live.</a:t>
            </a:r>
            <a:endParaRPr lang="en-US" sz="1180" dirty="0"/>
          </a:p>
        </p:txBody>
      </p:sp>
      <p:sp>
        <p:nvSpPr>
          <p:cNvPr id="34" name="Text 26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B6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pilot teams are seeing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606040" cy="2743200"/>
          </a:xfrm>
          <a:prstGeom prst="rect">
            <a:avLst/>
          </a:prstGeom>
          <a:solidFill>
            <a:srgbClr val="16264C"/>
          </a:solidFill>
          <a:ln w="12700">
            <a:solidFill>
              <a:srgbClr val="27375C"/>
            </a:solidFill>
            <a:prstDash val="solid"/>
          </a:ln>
          <a:effectLst>
            <a:outerShdw blurRad="114300" dist="38100" dir="5400000" algn="bl" rotWithShape="0">
              <a:srgbClr val="0A142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9052" y="2606040"/>
            <a:ext cx="768096" cy="768096"/>
          </a:xfrm>
          <a:prstGeom prst="ellipse">
            <a:avLst/>
          </a:prstGeom>
          <a:solidFill>
            <a:srgbClr val="1FB6C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508" y="282549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429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FB6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4370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review cycles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529584" y="2286000"/>
            <a:ext cx="2606040" cy="2743200"/>
          </a:xfrm>
          <a:prstGeom prst="rect">
            <a:avLst/>
          </a:prstGeom>
          <a:solidFill>
            <a:srgbClr val="16264C"/>
          </a:solidFill>
          <a:ln w="12700">
            <a:solidFill>
              <a:srgbClr val="27375C"/>
            </a:solidFill>
            <a:prstDash val="solid"/>
          </a:ln>
          <a:effectLst>
            <a:outerShdw blurRad="114300" dist="38100" dir="5400000" algn="bl" rotWithShape="0">
              <a:srgbClr val="0A1428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48556" y="2606040"/>
            <a:ext cx="768096" cy="768096"/>
          </a:xfrm>
          <a:prstGeom prst="ellipse">
            <a:avLst/>
          </a:prstGeom>
          <a:solidFill>
            <a:srgbClr val="5B9BF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012" y="282549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21024" y="3429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5B9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4600" dirty="0"/>
          </a:p>
        </p:txBody>
      </p:sp>
      <p:sp>
        <p:nvSpPr>
          <p:cNvPr id="13" name="Text 9"/>
          <p:cNvSpPr/>
          <p:nvPr/>
        </p:nvSpPr>
        <p:spPr>
          <a:xfrm>
            <a:off x="3712464" y="4370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coverage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19088" y="2286000"/>
            <a:ext cx="2606040" cy="2743200"/>
          </a:xfrm>
          <a:prstGeom prst="rect">
            <a:avLst/>
          </a:prstGeom>
          <a:solidFill>
            <a:srgbClr val="16264C"/>
          </a:solidFill>
          <a:ln w="12700">
            <a:solidFill>
              <a:srgbClr val="27375C"/>
            </a:solidFill>
            <a:prstDash val="solid"/>
          </a:ln>
          <a:effectLst>
            <a:outerShdw blurRad="114300" dist="38100" dir="5400000" algn="bl" rotWithShape="0">
              <a:srgbClr val="0A1428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38060" y="2606040"/>
            <a:ext cx="768096" cy="768096"/>
          </a:xfrm>
          <a:prstGeom prst="ellipse">
            <a:avLst/>
          </a:prstGeom>
          <a:solidFill>
            <a:srgbClr val="2FB67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7516" y="282549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10528" y="3429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FB6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</a:t>
            </a:r>
            <a:endParaRPr lang="en-US" sz="4600" dirty="0"/>
          </a:p>
        </p:txBody>
      </p:sp>
      <p:sp>
        <p:nvSpPr>
          <p:cNvPr id="18" name="Text 13"/>
          <p:cNvSpPr/>
          <p:nvPr/>
        </p:nvSpPr>
        <p:spPr>
          <a:xfrm>
            <a:off x="6601968" y="4370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FTE-months freed / month*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308592" y="2286000"/>
            <a:ext cx="2606040" cy="2743200"/>
          </a:xfrm>
          <a:prstGeom prst="rect">
            <a:avLst/>
          </a:prstGeom>
          <a:solidFill>
            <a:srgbClr val="16264C"/>
          </a:solidFill>
          <a:ln w="12700">
            <a:solidFill>
              <a:srgbClr val="27375C"/>
            </a:solidFill>
            <a:prstDash val="solid"/>
          </a:ln>
          <a:effectLst>
            <a:outerShdw blurRad="114300" dist="38100" dir="5400000" algn="bl" rotWithShape="0">
              <a:srgbClr val="0A1428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227564" y="2606040"/>
            <a:ext cx="768096" cy="768096"/>
          </a:xfrm>
          <a:prstGeom prst="ellipse">
            <a:avLst/>
          </a:prstGeom>
          <a:solidFill>
            <a:srgbClr val="E0913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7020" y="282549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00032" y="3429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09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600" dirty="0"/>
          </a:p>
        </p:txBody>
      </p:sp>
      <p:sp>
        <p:nvSpPr>
          <p:cNvPr id="23" name="Text 17"/>
          <p:cNvSpPr/>
          <p:nvPr/>
        </p:nvSpPr>
        <p:spPr>
          <a:xfrm>
            <a:off x="9491472" y="4370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PRs reviewed consistently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52578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significant developer time reclaimed, issues caught before production, and uniform standards enforced across every repository.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Modeled at 420 PRs/month, 2.0h human vs 0.05h AI per review — see the savings model on the next slide.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F6F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MATH —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measure human effort saved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saving is auditable: a transparent formula stack turns each reviewed PR into measurable hours — then into dollars.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6720840" cy="1078992"/>
          </a:xfrm>
          <a:prstGeom prst="rect">
            <a:avLst/>
          </a:prstGeom>
          <a:solidFill>
            <a:srgbClr val="F3F7FD"/>
          </a:solidFill>
          <a:ln w="12700">
            <a:solidFill>
              <a:srgbClr val="D7E2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40280"/>
            <a:ext cx="91440" cy="1078992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5000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1 — Per-review savings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6263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Saved_PR  =  T_human  −  T_AI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2999232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atomic unit — the time delta on every single PR.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502152"/>
            <a:ext cx="6720840" cy="1078992"/>
          </a:xfrm>
          <a:prstGeom prst="rect">
            <a:avLst/>
          </a:prstGeom>
          <a:solidFill>
            <a:srgbClr val="F3F7FD"/>
          </a:solidFill>
          <a:ln w="12700">
            <a:solidFill>
              <a:srgbClr val="D7E2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502152"/>
            <a:ext cx="91440" cy="1078992"/>
          </a:xfrm>
          <a:prstGeom prst="rect">
            <a:avLst/>
          </a:prstGeom>
          <a:solidFill>
            <a:srgbClr val="1FB6C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61188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B6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2 — Monthly aggregate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913632"/>
            <a:ext cx="6263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Saved_month  =  Saved_PR × (PRs/day × working_days)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14400" y="4261104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the per-PR delta across real PR throughput.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764024"/>
            <a:ext cx="6720840" cy="1078992"/>
          </a:xfrm>
          <a:prstGeom prst="rect">
            <a:avLst/>
          </a:prstGeom>
          <a:solidFill>
            <a:srgbClr val="F3F7FD"/>
          </a:solidFill>
          <a:ln w="12700">
            <a:solidFill>
              <a:srgbClr val="D7E2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764024"/>
            <a:ext cx="91440" cy="1078992"/>
          </a:xfrm>
          <a:prstGeom prst="rect">
            <a:avLst/>
          </a:prstGeom>
          <a:solidFill>
            <a:srgbClr val="2FB67D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87375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B6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3 — Financial translation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175504"/>
            <a:ext cx="6263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Cost_saved  =  Saved_month × senior_eng_rate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4400" y="5522976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hours into dollars at a fully-loaded rate.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80960" y="2240280"/>
            <a:ext cx="3867912" cy="3822192"/>
          </a:xfrm>
          <a:prstGeom prst="rect">
            <a:avLst/>
          </a:prstGeom>
          <a:solidFill>
            <a:srgbClr val="0E1A33"/>
          </a:solidFill>
          <a:ln/>
          <a:effectLst>
            <a:outerShdw blurRad="114300" dist="38100" dir="5400000" algn="bl" rotWithShape="0">
              <a:srgbClr val="0A1428">
                <a:alpha val="16000"/>
              </a:srgbClr>
            </a:outerShdw>
          </a:effectLst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496312"/>
            <a:ext cx="310896" cy="31089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366760" y="2441448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Deriving T_human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955280" y="2990088"/>
            <a:ext cx="3319272" cy="777240"/>
          </a:xfrm>
          <a:prstGeom prst="rect">
            <a:avLst/>
          </a:prstGeom>
          <a:solidFill>
            <a:srgbClr val="16264C"/>
          </a:solidFill>
          <a:ln w="9525">
            <a:solidFill>
              <a:srgbClr val="2A3D6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92440" y="306324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T_human = T_base(LOC)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FE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× K_complexity × K_familiarity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FE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× K_risk + T_context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955280" y="3931920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B6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K_complexity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955280" y="413308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Cyclomatic complexity of the change</a:t>
            </a:r>
            <a:endParaRPr lang="en-US" sz="1030" dirty="0"/>
          </a:p>
        </p:txBody>
      </p:sp>
      <p:sp>
        <p:nvSpPr>
          <p:cNvPr id="27" name="Text 24"/>
          <p:cNvSpPr/>
          <p:nvPr/>
        </p:nvSpPr>
        <p:spPr>
          <a:xfrm>
            <a:off x="7955280" y="4457700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B6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K_familiarity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955280" y="465886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ownership — up to 2× if unfamiliar</a:t>
            </a:r>
            <a:endParaRPr lang="en-US" sz="1030" dirty="0"/>
          </a:p>
        </p:txBody>
      </p:sp>
      <p:sp>
        <p:nvSpPr>
          <p:cNvPr id="29" name="Text 26"/>
          <p:cNvSpPr/>
          <p:nvPr/>
        </p:nvSpPr>
        <p:spPr>
          <a:xfrm>
            <a:off x="7955280" y="4983480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B6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K_risk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955280" y="518464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Scrutiny tier: /payments, /auth demand more</a:t>
            </a:r>
            <a:endParaRPr lang="en-US" sz="1030" dirty="0"/>
          </a:p>
        </p:txBody>
      </p:sp>
      <p:sp>
        <p:nvSpPr>
          <p:cNvPr id="31" name="Text 28"/>
          <p:cNvSpPr/>
          <p:nvPr/>
        </p:nvSpPr>
        <p:spPr>
          <a:xfrm>
            <a:off x="7955280" y="5509260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B6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T_context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955280" y="571042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per-PR overhead (5–15 min)</a:t>
            </a:r>
            <a:endParaRPr lang="en-US" sz="1030" dirty="0"/>
          </a:p>
        </p:txBody>
      </p:sp>
      <p:sp>
        <p:nvSpPr>
          <p:cNvPr id="33" name="Text 3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B6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MATH —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means in dollars &amp; FTE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143000"/>
          </a:xfrm>
          <a:prstGeom prst="rect">
            <a:avLst/>
          </a:prstGeom>
          <a:solidFill>
            <a:srgbClr val="16264C"/>
          </a:solidFill>
          <a:ln w="12700">
            <a:solidFill>
              <a:srgbClr val="273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965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5B9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420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49808" y="2441448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reviewed / month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29584" y="1691640"/>
            <a:ext cx="2606040" cy="1143000"/>
          </a:xfrm>
          <a:prstGeom prst="rect">
            <a:avLst/>
          </a:prstGeom>
          <a:solidFill>
            <a:srgbClr val="16264C"/>
          </a:solidFill>
          <a:ln w="12700">
            <a:solidFill>
              <a:srgbClr val="2737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66744" y="181965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FB6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1.95 h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3639312" y="2441448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PR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19088" y="1691640"/>
            <a:ext cx="2606040" cy="1143000"/>
          </a:xfrm>
          <a:prstGeom prst="rect">
            <a:avLst/>
          </a:prstGeom>
          <a:solidFill>
            <a:srgbClr val="16264C"/>
          </a:solidFill>
          <a:ln w="12700">
            <a:solidFill>
              <a:srgbClr val="2737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181965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2FB6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~820 h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6528816" y="2441448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 per month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308592" y="1691640"/>
            <a:ext cx="2606040" cy="1143000"/>
          </a:xfrm>
          <a:prstGeom prst="rect">
            <a:avLst/>
          </a:prstGeom>
          <a:solidFill>
            <a:srgbClr val="16264C"/>
          </a:solidFill>
          <a:ln w="12700">
            <a:solidFill>
              <a:srgbClr val="2737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45752" y="181965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E09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~5.1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9418320" y="2441448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FTE-months / month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5532120" cy="548640"/>
          </a:xfrm>
          <a:prstGeom prst="roundRect">
            <a:avLst>
              <a:gd name="adj" fmla="val 10000"/>
            </a:avLst>
          </a:prstGeom>
          <a:solidFill>
            <a:srgbClr val="12283F"/>
          </a:solidFill>
          <a:ln w="12700">
            <a:solidFill>
              <a:srgbClr val="2FB6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10896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FEB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FTE_months  =  Monthly_hours_saved  ÷  160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5532120" cy="2148840"/>
          </a:xfrm>
          <a:prstGeom prst="rect">
            <a:avLst/>
          </a:prstGeom>
          <a:solidFill>
            <a:srgbClr val="2FB67D"/>
          </a:solidFill>
          <a:ln/>
          <a:effectLst>
            <a:outerShdw blurRad="114300" dist="38100" dir="5400000" algn="bl" rotWithShape="0">
              <a:srgbClr val="0A1428">
                <a:alpha val="16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14800"/>
            <a:ext cx="365760" cy="457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" y="4224528"/>
            <a:ext cx="5532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~$98K</a:t>
            </a:r>
            <a:endParaRPr lang="en-US" sz="5800" dirty="0"/>
          </a:p>
        </p:txBody>
      </p:sp>
      <p:sp>
        <p:nvSpPr>
          <p:cNvPr id="21" name="Text 18"/>
          <p:cNvSpPr/>
          <p:nvPr/>
        </p:nvSpPr>
        <p:spPr>
          <a:xfrm>
            <a:off x="640080" y="5230368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A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labor saved per month  —  ~$1.18M / year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40080" y="559612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F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a $120/hr fully-loaded senior-engineer rate.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46520" y="3108960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E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time per PR (hours)</a:t>
            </a:r>
            <a:endParaRPr lang="en-US" sz="13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6446520" y="3383280"/>
          <a:ext cx="5285232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Text 21"/>
          <p:cNvSpPr/>
          <p:nvPr/>
        </p:nvSpPr>
        <p:spPr>
          <a:xfrm>
            <a:off x="6446520" y="48646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B6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guardrails reported alongside savings:</a:t>
            </a:r>
            <a:endParaRPr lang="en-US" sz="12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5212080"/>
            <a:ext cx="219456" cy="21945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775704" y="5148072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escape rate — defects that slip past review</a:t>
            </a:r>
            <a:endParaRPr lang="en-US" sz="115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5550408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75704" y="5486400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 — AI comments dismissed</a:t>
            </a:r>
            <a:endParaRPr lang="en-US" sz="115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5888736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775704" y="5824728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parity — languages &amp; rules vs. baseline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F6F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Review Shield is heading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02152" cy="3977640"/>
          </a:xfrm>
          <a:prstGeom prst="rect">
            <a:avLst/>
          </a:prstGeom>
          <a:solidFill>
            <a:srgbClr val="F3F7FD"/>
          </a:solidFill>
          <a:ln w="12700">
            <a:solidFill>
              <a:srgbClr val="D7E2F1"/>
            </a:solidFill>
            <a:prstDash val="solid"/>
          </a:ln>
          <a:effectLst>
            <a:outerShdw blurRad="88900" dist="25400" dir="5400000" algn="bl" rotWithShape="0">
              <a:srgbClr val="1A223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65960"/>
            <a:ext cx="3502152" cy="91440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350008"/>
            <a:ext cx="914400" cy="914400"/>
          </a:xfrm>
          <a:prstGeom prst="ellipse">
            <a:avLst/>
          </a:prstGeom>
          <a:solidFill>
            <a:srgbClr val="2F6FE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261518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42900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Auto-correct, fix &amp; merge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32688" y="4114800"/>
            <a:ext cx="29535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suggestions can auto-apply safe fixes</a:t>
            </a:r>
            <a:endParaRPr lang="en-US" sz="123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PRs can be merged automatically</a:t>
            </a:r>
            <a:endParaRPr lang="en-US" sz="123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stay in the loop for higher-risk changes</a:t>
            </a:r>
            <a:endParaRPr lang="en-US" sz="1230" dirty="0"/>
          </a:p>
        </p:txBody>
      </p:sp>
      <p:sp>
        <p:nvSpPr>
          <p:cNvPr id="10" name="Shape 7"/>
          <p:cNvSpPr/>
          <p:nvPr/>
        </p:nvSpPr>
        <p:spPr>
          <a:xfrm>
            <a:off x="4517136" y="1965960"/>
            <a:ext cx="3502152" cy="3977640"/>
          </a:xfrm>
          <a:prstGeom prst="rect">
            <a:avLst/>
          </a:prstGeom>
          <a:solidFill>
            <a:srgbClr val="F3F7FD"/>
          </a:solidFill>
          <a:ln w="12700">
            <a:solidFill>
              <a:srgbClr val="D7E2F1"/>
            </a:solidFill>
            <a:prstDash val="solid"/>
          </a:ln>
          <a:effectLst>
            <a:outerShdw blurRad="88900" dist="25400" dir="5400000" algn="bl" rotWithShape="0">
              <a:srgbClr val="1A2238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17136" y="1965960"/>
            <a:ext cx="3502152" cy="91440"/>
          </a:xfrm>
          <a:prstGeom prst="rect">
            <a:avLst/>
          </a:prstGeom>
          <a:solidFill>
            <a:srgbClr val="1FB6C9"/>
          </a:solidFill>
          <a:ln/>
        </p:spPr>
      </p:sp>
      <p:sp>
        <p:nvSpPr>
          <p:cNvPr id="12" name="Shape 9"/>
          <p:cNvSpPr/>
          <p:nvPr/>
        </p:nvSpPr>
        <p:spPr>
          <a:xfrm>
            <a:off x="4809744" y="2350008"/>
            <a:ext cx="914400" cy="914400"/>
          </a:xfrm>
          <a:prstGeom prst="ellipse">
            <a:avLst/>
          </a:prstGeom>
          <a:solidFill>
            <a:srgbClr val="1FB6C9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615184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91456" y="342900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5 → 1000 repos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809744" y="4114800"/>
            <a:ext cx="29535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Queue-based ingestion &amp; parallel Jenkins agents</a:t>
            </a:r>
            <a:endParaRPr lang="en-US" sz="123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cached multi-tenant Graph RAG indexes</a:t>
            </a:r>
            <a:endParaRPr lang="en-US" sz="123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token budgets &amp; rate-limit management</a:t>
            </a:r>
            <a:endParaRPr lang="en-US" sz="1230" dirty="0"/>
          </a:p>
        </p:txBody>
      </p:sp>
      <p:sp>
        <p:nvSpPr>
          <p:cNvPr id="16" name="Shape 12"/>
          <p:cNvSpPr/>
          <p:nvPr/>
        </p:nvSpPr>
        <p:spPr>
          <a:xfrm>
            <a:off x="8394192" y="1965960"/>
            <a:ext cx="3502152" cy="3977640"/>
          </a:xfrm>
          <a:prstGeom prst="rect">
            <a:avLst/>
          </a:prstGeom>
          <a:solidFill>
            <a:srgbClr val="F3F7FD"/>
          </a:solidFill>
          <a:ln w="12700">
            <a:solidFill>
              <a:srgbClr val="D7E2F1"/>
            </a:solidFill>
            <a:prstDash val="solid"/>
          </a:ln>
          <a:effectLst>
            <a:outerShdw blurRad="88900" dist="25400" dir="5400000" algn="bl" rotWithShape="0">
              <a:srgbClr val="1A2238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94192" y="1965960"/>
            <a:ext cx="3502152" cy="91440"/>
          </a:xfrm>
          <a:prstGeom prst="rect">
            <a:avLst/>
          </a:prstGeom>
          <a:solidFill>
            <a:srgbClr val="2FB67D"/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0" y="2350008"/>
            <a:ext cx="914400" cy="914400"/>
          </a:xfrm>
          <a:prstGeom prst="ellipse">
            <a:avLst/>
          </a:prstGeom>
          <a:solidFill>
            <a:srgbClr val="2FB67D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1976" y="2615184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68512" y="342900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 fallback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686800" y="4114800"/>
            <a:ext cx="29535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Jenkins / LLM fails or token limits are hit…</a:t>
            </a:r>
            <a:endParaRPr lang="en-US" sz="123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…teams fall back to human peer review seamlessly</a:t>
            </a:r>
            <a:endParaRPr lang="en-US" sz="123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 dependency — merges are never blocked</a:t>
            </a:r>
            <a:endParaRPr lang="en-US" sz="1230" dirty="0"/>
          </a:p>
        </p:txBody>
      </p:sp>
      <p:sp>
        <p:nvSpPr>
          <p:cNvPr id="22" name="Text 17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F6F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 a new repo in minutes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68680" y="2029968"/>
            <a:ext cx="0" cy="3410712"/>
          </a:xfrm>
          <a:prstGeom prst="line">
            <a:avLst/>
          </a:prstGeom>
          <a:noFill/>
          <a:ln w="25400">
            <a:solidFill>
              <a:srgbClr val="D7E2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783080"/>
            <a:ext cx="530352" cy="530352"/>
          </a:xfrm>
          <a:prstGeom prst="ellipse">
            <a:avLst/>
          </a:prstGeom>
          <a:solidFill>
            <a:srgbClr val="2F6F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783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185623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173736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 the repo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120640" y="173736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Configure portal and add the repository — name + URL.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03504" y="2624328"/>
            <a:ext cx="530352" cy="530352"/>
          </a:xfrm>
          <a:prstGeom prst="ellipse">
            <a:avLst/>
          </a:prstGeom>
          <a:solidFill>
            <a:srgbClr val="2F6F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26243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608" y="269748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65960" y="257860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the Core Review webhook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120640" y="2578608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PR / MR open &amp; update events to the Jenkins trigger URL.</a:t>
            </a:r>
            <a:endParaRPr lang="en-US" sz="1180" dirty="0"/>
          </a:p>
        </p:txBody>
      </p:sp>
      <p:sp>
        <p:nvSpPr>
          <p:cNvPr id="15" name="Shape 11"/>
          <p:cNvSpPr/>
          <p:nvPr/>
        </p:nvSpPr>
        <p:spPr>
          <a:xfrm>
            <a:off x="603504" y="3465576"/>
            <a:ext cx="530352" cy="530352"/>
          </a:xfrm>
          <a:prstGeom prst="ellipse">
            <a:avLst/>
          </a:prstGeom>
          <a:solidFill>
            <a:srgbClr val="2F6F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3504" y="34655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5608" y="353872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65960" y="341985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the Merge webhook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120640" y="3419856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merge events to Review Shield so fixes &amp; metrics are captured.</a:t>
            </a:r>
            <a:endParaRPr lang="en-US" sz="1180" dirty="0"/>
          </a:p>
        </p:txBody>
      </p:sp>
      <p:sp>
        <p:nvSpPr>
          <p:cNvPr id="20" name="Shape 15"/>
          <p:cNvSpPr/>
          <p:nvPr/>
        </p:nvSpPr>
        <p:spPr>
          <a:xfrm>
            <a:off x="603504" y="4306824"/>
            <a:ext cx="530352" cy="530352"/>
          </a:xfrm>
          <a:prstGeom prst="ellipse">
            <a:avLst/>
          </a:prstGeom>
          <a:solidFill>
            <a:srgbClr val="2F6F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03504" y="4306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608" y="437997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65960" y="426110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a test PR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120640" y="4261104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sample PR and confirm an AI review and summary post back.</a:t>
            </a:r>
            <a:endParaRPr lang="en-US" sz="1180" dirty="0"/>
          </a:p>
        </p:txBody>
      </p:sp>
      <p:sp>
        <p:nvSpPr>
          <p:cNvPr id="25" name="Shape 19"/>
          <p:cNvSpPr/>
          <p:nvPr/>
        </p:nvSpPr>
        <p:spPr>
          <a:xfrm>
            <a:off x="603504" y="5148072"/>
            <a:ext cx="530352" cy="530352"/>
          </a:xfrm>
          <a:prstGeom prst="ellipse">
            <a:avLst/>
          </a:prstGeom>
          <a:solidFill>
            <a:srgbClr val="2F6F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03504" y="5148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7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608" y="5221224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965960" y="510235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dashboards on Zion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5120640" y="510235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A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adoption, activity and impact on the Zion internal portal.</a:t>
            </a:r>
            <a:endParaRPr lang="en-US" sz="1180" dirty="0"/>
          </a:p>
        </p:txBody>
      </p:sp>
      <p:sp>
        <p:nvSpPr>
          <p:cNvPr id="30" name="Shape 23"/>
          <p:cNvSpPr/>
          <p:nvPr/>
        </p:nvSpPr>
        <p:spPr>
          <a:xfrm>
            <a:off x="8275320" y="1783080"/>
            <a:ext cx="3456432" cy="4160520"/>
          </a:xfrm>
          <a:prstGeom prst="rect">
            <a:avLst/>
          </a:prstGeom>
          <a:solidFill>
            <a:srgbClr val="0E1A33"/>
          </a:solidFill>
          <a:ln/>
          <a:effectLst>
            <a:outerShdw blurRad="114300" dist="38100" dir="5400000" algn="bl" rotWithShape="0">
              <a:srgbClr val="0A1428">
                <a:alpha val="16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8549640" y="201168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B6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WEBHOOKS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8549640" y="2441448"/>
            <a:ext cx="2907792" cy="1325880"/>
          </a:xfrm>
          <a:prstGeom prst="rect">
            <a:avLst/>
          </a:prstGeom>
          <a:solidFill>
            <a:srgbClr val="16264C"/>
          </a:solidFill>
          <a:ln w="9525">
            <a:solidFill>
              <a:srgbClr val="2A3D63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2520" y="2606040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098280" y="256032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webhook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8732520" y="2953512"/>
            <a:ext cx="2724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+ URL  →  Jenkins URL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per PR / MR to trigger the AI peer review.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8549640" y="3931920"/>
            <a:ext cx="2907792" cy="1325880"/>
          </a:xfrm>
          <a:prstGeom prst="rect">
            <a:avLst/>
          </a:prstGeom>
          <a:solidFill>
            <a:srgbClr val="16264C"/>
          </a:solidFill>
          <a:ln w="9525">
            <a:solidFill>
              <a:srgbClr val="2A3D63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2520" y="4096512"/>
            <a:ext cx="274320" cy="27432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098280" y="405079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 webhook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8732520" y="4443984"/>
            <a:ext cx="2724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event  →  Review Shield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fixes and feeds the dashboards.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8549640" y="539496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once per repo, in GitLab, BitBucket or GitHub.</a:t>
            </a:r>
            <a:endParaRPr lang="en-US" sz="1050" dirty="0"/>
          </a:p>
        </p:txBody>
      </p:sp>
      <p:sp>
        <p:nvSpPr>
          <p:cNvPr id="41" name="Text 32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FE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45720"/>
          </a:xfrm>
          <a:prstGeom prst="rect">
            <a:avLst/>
          </a:prstGeom>
          <a:solidFill>
            <a:srgbClr val="1FB6C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928" y="1188720"/>
            <a:ext cx="1005840" cy="10241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37744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Let’s elevate code quality — organization-wide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463040" y="3429000"/>
            <a:ext cx="9265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F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isn’t just about code. It’s about empowering teams to move faster, build better, and ship with confidence.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981048" y="443484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2F6FE0"/>
          </a:solidFill>
          <a:ln/>
          <a:effectLst>
            <a:outerShdw blurRad="114300" dist="38100" dir="5400000" algn="bl" rotWithShape="0">
              <a:srgbClr val="0A1428">
                <a:alpha val="16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3968" y="47274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86888" y="44348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 your repository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DCE9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up webhooks in no time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370168" y="443484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2FB67D"/>
          </a:solidFill>
          <a:ln/>
          <a:effectLst>
            <a:outerShdw blurRad="114300" dist="38100" dir="5400000" algn="bl" rotWithShape="0">
              <a:srgbClr val="0A1428">
                <a:alpha val="16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3088" y="472744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76008" y="44348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 the Zion portal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E3F7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Dashboards &amp; metrics, org-wide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0" y="60350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Shield  •  Enterprise AI Code Review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1362</Words>
  <Application>Microsoft Office PowerPoint</Application>
  <PresentationFormat>Widescreen</PresentationFormat>
  <Paragraphs>231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Shield — Enterprise AI Code Review</dc:title>
  <dc:subject>PptxGenJS Presentation</dc:subject>
  <dc:creator>Review Shield</dc:creator>
  <cp:lastModifiedBy>Satish Atmakuri</cp:lastModifiedBy>
  <cp:revision>1</cp:revision>
  <dcterms:created xsi:type="dcterms:W3CDTF">2026-05-20T18:42:39Z</dcterms:created>
  <dcterms:modified xsi:type="dcterms:W3CDTF">2026-05-21T08:52:07Z</dcterms:modified>
</cp:coreProperties>
</file>